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418320" y="685800"/>
            <a:ext cx="2011680" cy="2011680"/>
          </a:xfrm>
          <a:prstGeom prst="arc">
            <a:avLst/>
          </a:prstGeom>
          <a:noFill/>
          <a:ln w="19050">
            <a:solidFill>
              <a:srgbClr val="315EAE">
                <a:alpha val="65000"/>
              </a:srgbClr>
            </a:solidFill>
            <a:prstDash val="solid"/>
          </a:ln>
        </p:spPr>
      </p:sp>
      <p:sp>
        <p:nvSpPr>
          <p:cNvPr id="3" name="Shape 1"/>
          <p:cNvSpPr/>
          <p:nvPr/>
        </p:nvSpPr>
        <p:spPr>
          <a:xfrm>
            <a:off x="9738360" y="4480560"/>
            <a:ext cx="1645920" cy="1645920"/>
          </a:xfrm>
          <a:prstGeom prst="arc">
            <a:avLst/>
          </a:prstGeom>
          <a:noFill/>
          <a:ln w="15240">
            <a:solidFill>
              <a:srgbClr val="60A5FA">
                <a:alpha val="55000"/>
              </a:srgbClr>
            </a:solidFill>
            <a:prstDash val="solid"/>
          </a:ln>
        </p:spPr>
      </p:sp>
      <p:sp>
        <p:nvSpPr>
          <p:cNvPr id="4" name="Text 2"/>
          <p:cNvSpPr/>
          <p:nvPr/>
        </p:nvSpPr>
        <p:spPr>
          <a:xfrm>
            <a:off x="685800" y="1645920"/>
            <a:ext cx="768096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AI-Assisted Document-to-Video Platform</a:t>
            </a:r>
            <a:endParaRPr lang="en-US" sz="3600" dirty="0"/>
          </a:p>
        </p:txBody>
      </p:sp>
      <p:sp>
        <p:nvSpPr>
          <p:cNvPr id="5" name="Text 3"/>
          <p:cNvSpPr/>
          <p:nvPr/>
        </p:nvSpPr>
        <p:spPr>
          <a:xfrm>
            <a:off x="713232" y="2743200"/>
            <a:ext cx="7132320" cy="384048"/>
          </a:xfrm>
          <a:prstGeom prst="rect">
            <a:avLst/>
          </a:prstGeom>
          <a:noFill/>
          <a:ln/>
        </p:spPr>
        <p:txBody>
          <a:bodyPr wrap="square" lIns="0" tIns="0" rIns="0" bIns="0" rtlCol="0" anchor="ctr"/>
          <a:lstStyle/>
          <a:p>
            <a:pPr indent="0" marL="0">
              <a:buNone/>
            </a:pPr>
            <a:r>
              <a:rPr lang="en-US" sz="1700" dirty="0">
                <a:solidFill>
                  <a:srgbClr val="D9E8FF"/>
                </a:solidFill>
              </a:rPr>
              <a:t>Architecture proposal for a secure, human-in-the-loop enterprise workflow</a:t>
            </a:r>
            <a:endParaRPr lang="en-US" sz="1700" dirty="0"/>
          </a:p>
        </p:txBody>
      </p:sp>
      <p:sp>
        <p:nvSpPr>
          <p:cNvPr id="6" name="Shape 4"/>
          <p:cNvSpPr/>
          <p:nvPr/>
        </p:nvSpPr>
        <p:spPr>
          <a:xfrm>
            <a:off x="731520" y="3886200"/>
            <a:ext cx="2057400" cy="548640"/>
          </a:xfrm>
          <a:prstGeom prst="roundRect">
            <a:avLst>
              <a:gd name="adj" fmla="val 10000"/>
            </a:avLst>
          </a:prstGeom>
          <a:solidFill>
            <a:srgbClr val="1E3A8A"/>
          </a:solidFill>
          <a:ln w="12700">
            <a:solidFill>
              <a:srgbClr val="4B8BFF"/>
            </a:solidFill>
            <a:prstDash val="solid"/>
          </a:ln>
        </p:spPr>
      </p:sp>
      <p:sp>
        <p:nvSpPr>
          <p:cNvPr id="7" name="Text 5"/>
          <p:cNvSpPr/>
          <p:nvPr/>
        </p:nvSpPr>
        <p:spPr>
          <a:xfrm>
            <a:off x="804672" y="3959352"/>
            <a:ext cx="1911096" cy="40233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LangGraph workflow</a:t>
            </a:r>
            <a:endParaRPr lang="en-US" sz="1100" dirty="0"/>
          </a:p>
        </p:txBody>
      </p:sp>
      <p:sp>
        <p:nvSpPr>
          <p:cNvPr id="8" name="Shape 6"/>
          <p:cNvSpPr/>
          <p:nvPr/>
        </p:nvSpPr>
        <p:spPr>
          <a:xfrm>
            <a:off x="2971800" y="3886200"/>
            <a:ext cx="2057400" cy="548640"/>
          </a:xfrm>
          <a:prstGeom prst="roundRect">
            <a:avLst>
              <a:gd name="adj" fmla="val 10000"/>
            </a:avLst>
          </a:prstGeom>
          <a:solidFill>
            <a:srgbClr val="1E40AF"/>
          </a:solidFill>
          <a:ln w="12700">
            <a:solidFill>
              <a:srgbClr val="4B8BFF"/>
            </a:solidFill>
            <a:prstDash val="solid"/>
          </a:ln>
        </p:spPr>
      </p:sp>
      <p:sp>
        <p:nvSpPr>
          <p:cNvPr id="9" name="Text 7"/>
          <p:cNvSpPr/>
          <p:nvPr/>
        </p:nvSpPr>
        <p:spPr>
          <a:xfrm>
            <a:off x="3044952" y="3959352"/>
            <a:ext cx="1911096" cy="40233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Microsoft Foundry</a:t>
            </a:r>
            <a:endParaRPr lang="en-US" sz="1100" dirty="0"/>
          </a:p>
        </p:txBody>
      </p:sp>
      <p:sp>
        <p:nvSpPr>
          <p:cNvPr id="10" name="Shape 8"/>
          <p:cNvSpPr/>
          <p:nvPr/>
        </p:nvSpPr>
        <p:spPr>
          <a:xfrm>
            <a:off x="5212080" y="3886200"/>
            <a:ext cx="2148840" cy="548640"/>
          </a:xfrm>
          <a:prstGeom prst="roundRect">
            <a:avLst>
              <a:gd name="adj" fmla="val 10000"/>
            </a:avLst>
          </a:prstGeom>
          <a:solidFill>
            <a:srgbClr val="1D4ED8"/>
          </a:solidFill>
          <a:ln w="12700">
            <a:solidFill>
              <a:srgbClr val="93C5FD"/>
            </a:solidFill>
            <a:prstDash val="solid"/>
          </a:ln>
        </p:spPr>
      </p:sp>
      <p:sp>
        <p:nvSpPr>
          <p:cNvPr id="11" name="Text 9"/>
          <p:cNvSpPr/>
          <p:nvPr/>
        </p:nvSpPr>
        <p:spPr>
          <a:xfrm>
            <a:off x="5285232" y="3959352"/>
            <a:ext cx="2002536" cy="40233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Azure media workers</a:t>
            </a:r>
            <a:endParaRPr lang="en-US" sz="1100" dirty="0"/>
          </a:p>
        </p:txBody>
      </p:sp>
      <p:sp>
        <p:nvSpPr>
          <p:cNvPr id="12" name="Shape 10"/>
          <p:cNvSpPr/>
          <p:nvPr/>
        </p:nvSpPr>
        <p:spPr>
          <a:xfrm>
            <a:off x="7543800" y="3886200"/>
            <a:ext cx="2240280" cy="548640"/>
          </a:xfrm>
          <a:prstGeom prst="roundRect">
            <a:avLst>
              <a:gd name="adj" fmla="val 10000"/>
            </a:avLst>
          </a:prstGeom>
          <a:solidFill>
            <a:srgbClr val="2563EB"/>
          </a:solidFill>
          <a:ln w="12700">
            <a:solidFill>
              <a:srgbClr val="BFDBFE"/>
            </a:solidFill>
            <a:prstDash val="solid"/>
          </a:ln>
        </p:spPr>
      </p:sp>
      <p:sp>
        <p:nvSpPr>
          <p:cNvPr id="13" name="Text 11"/>
          <p:cNvSpPr/>
          <p:nvPr/>
        </p:nvSpPr>
        <p:spPr>
          <a:xfrm>
            <a:off x="7616952" y="3959352"/>
            <a:ext cx="2093976" cy="402336"/>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Scene-level versioning</a:t>
            </a:r>
            <a:endParaRPr lang="en-US" sz="1100" dirty="0"/>
          </a:p>
        </p:txBody>
      </p:sp>
      <p:sp>
        <p:nvSpPr>
          <p:cNvPr id="14" name="Text 12"/>
          <p:cNvSpPr/>
          <p:nvPr/>
        </p:nvSpPr>
        <p:spPr>
          <a:xfrm>
            <a:off x="731520" y="5074920"/>
            <a:ext cx="7315200" cy="292608"/>
          </a:xfrm>
          <a:prstGeom prst="rect">
            <a:avLst/>
          </a:prstGeom>
          <a:noFill/>
          <a:ln/>
        </p:spPr>
        <p:txBody>
          <a:bodyPr wrap="square" lIns="0" tIns="0" rIns="0" bIns="0" rtlCol="0" anchor="ctr"/>
          <a:lstStyle/>
          <a:p>
            <a:pPr indent="0" marL="0">
              <a:buNone/>
            </a:pPr>
            <a:r>
              <a:rPr lang="en-US" sz="1300" dirty="0">
                <a:solidFill>
                  <a:srgbClr val="BDD7FF"/>
                </a:solidFill>
              </a:rPr>
              <a:t>20 videos/month · 10–15 minutes each · confidential source documents</a:t>
            </a:r>
            <a:endParaRPr lang="en-US" sz="1300" dirty="0"/>
          </a:p>
        </p:txBody>
      </p:sp>
      <p:sp>
        <p:nvSpPr>
          <p:cNvPr id="15" name="Text 13"/>
          <p:cNvSpPr/>
          <p:nvPr/>
        </p:nvSpPr>
        <p:spPr>
          <a:xfrm>
            <a:off x="11448288" y="6492240"/>
            <a:ext cx="347472" cy="164592"/>
          </a:xfrm>
          <a:prstGeom prst="rect">
            <a:avLst/>
          </a:prstGeom>
          <a:noFill/>
          <a:ln/>
        </p:spPr>
        <p:txBody>
          <a:bodyPr wrap="square" lIns="0" tIns="0" rIns="0" bIns="0" rtlCol="0" anchor="ctr"/>
          <a:lstStyle/>
          <a:p>
            <a:pPr algn="r" indent="0" marL="0">
              <a:buNone/>
            </a:pPr>
            <a:r>
              <a:rPr lang="en-US" sz="800" dirty="0">
                <a:solidFill>
                  <a:srgbClr val="495466"/>
                </a:solidFill>
              </a:rPr>
              <a:t>01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563EB"/>
          </a:solidFill>
          <a:ln w="12700">
            <a:solidFill>
              <a:srgbClr val="2563EB"/>
            </a:solidFill>
            <a:prstDash val="solid"/>
          </a:ln>
        </p:spPr>
      </p:sp>
      <p:sp>
        <p:nvSpPr>
          <p:cNvPr id="3" name="Text 1"/>
          <p:cNvSpPr/>
          <p:nvPr/>
        </p:nvSpPr>
        <p:spPr>
          <a:xfrm>
            <a:off x="502920" y="292608"/>
            <a:ext cx="3474720" cy="201168"/>
          </a:xfrm>
          <a:prstGeom prst="rect">
            <a:avLst/>
          </a:prstGeom>
          <a:noFill/>
          <a:ln/>
        </p:spPr>
        <p:txBody>
          <a:bodyPr wrap="square" lIns="0" tIns="0" rIns="0" bIns="0" rtlCol="0" anchor="ctr"/>
          <a:lstStyle/>
          <a:p>
            <a:pPr indent="0" marL="0">
              <a:buNone/>
            </a:pPr>
            <a:r>
              <a:rPr lang="en-US" sz="850" b="1" dirty="0">
                <a:solidFill>
                  <a:srgbClr val="2563EB"/>
                </a:solidFill>
              </a:rPr>
              <a:t>WHY THIS ARCHITECTURE</a:t>
            </a:r>
            <a:endParaRPr lang="en-US" sz="850" dirty="0"/>
          </a:p>
        </p:txBody>
      </p:sp>
      <p:sp>
        <p:nvSpPr>
          <p:cNvPr id="4" name="Text 2"/>
          <p:cNvSpPr/>
          <p:nvPr/>
        </p:nvSpPr>
        <p:spPr>
          <a:xfrm>
            <a:off x="502920" y="548640"/>
            <a:ext cx="7772400" cy="384048"/>
          </a:xfrm>
          <a:prstGeom prst="rect">
            <a:avLst/>
          </a:prstGeom>
          <a:noFill/>
          <a:ln/>
        </p:spPr>
        <p:txBody>
          <a:bodyPr wrap="square" lIns="0" tIns="0" rIns="0" bIns="0" rtlCol="0" anchor="ctr"/>
          <a:lstStyle/>
          <a:p>
            <a:pPr indent="0" marL="0">
              <a:buNone/>
            </a:pPr>
            <a:r>
              <a:rPr lang="en-US" sz="2400" b="1" dirty="0">
                <a:solidFill>
                  <a:srgbClr val="0B1F3A"/>
                </a:solidFill>
              </a:rPr>
              <a:t>Business problem and target outcome</a:t>
            </a:r>
            <a:endParaRPr lang="en-US" sz="2400" dirty="0"/>
          </a:p>
        </p:txBody>
      </p:sp>
      <p:sp>
        <p:nvSpPr>
          <p:cNvPr id="5" name="Text 3"/>
          <p:cNvSpPr/>
          <p:nvPr/>
        </p:nvSpPr>
        <p:spPr>
          <a:xfrm>
            <a:off x="8503920" y="594360"/>
            <a:ext cx="3108960" cy="228600"/>
          </a:xfrm>
          <a:prstGeom prst="rect">
            <a:avLst/>
          </a:prstGeom>
          <a:noFill/>
          <a:ln/>
        </p:spPr>
        <p:txBody>
          <a:bodyPr wrap="square" lIns="0" tIns="0" rIns="0" bIns="0" rtlCol="0" anchor="ctr"/>
          <a:lstStyle/>
          <a:p>
            <a:pPr algn="r" indent="0" marL="0">
              <a:buNone/>
            </a:pPr>
            <a:r>
              <a:rPr lang="en-US" sz="900" dirty="0">
                <a:solidFill>
                  <a:srgbClr val="495466"/>
                </a:solidFill>
              </a:rPr>
              <a:t>Document-to-Approved-Video Platform</a:t>
            </a:r>
            <a:endParaRPr lang="en-US" sz="900" dirty="0"/>
          </a:p>
        </p:txBody>
      </p:sp>
      <p:sp>
        <p:nvSpPr>
          <p:cNvPr id="6" name="Shape 4"/>
          <p:cNvSpPr/>
          <p:nvPr/>
        </p:nvSpPr>
        <p:spPr>
          <a:xfrm>
            <a:off x="685800" y="1417320"/>
            <a:ext cx="2377440" cy="594360"/>
          </a:xfrm>
          <a:prstGeom prst="roundRect">
            <a:avLst>
              <a:gd name="adj" fmla="val 9231"/>
            </a:avLst>
          </a:prstGeom>
          <a:solidFill>
            <a:srgbClr val="EAF2FF"/>
          </a:solidFill>
          <a:ln w="12700">
            <a:solidFill>
              <a:srgbClr val="2563EB"/>
            </a:solidFill>
            <a:prstDash val="solid"/>
          </a:ln>
        </p:spPr>
      </p:sp>
      <p:sp>
        <p:nvSpPr>
          <p:cNvPr id="7" name="Text 5"/>
          <p:cNvSpPr/>
          <p:nvPr/>
        </p:nvSpPr>
        <p:spPr>
          <a:xfrm>
            <a:off x="758952" y="1490472"/>
            <a:ext cx="2231136" cy="448056"/>
          </a:xfrm>
          <a:prstGeom prst="rect">
            <a:avLst/>
          </a:prstGeom>
          <a:noFill/>
          <a:ln/>
        </p:spPr>
        <p:txBody>
          <a:bodyPr wrap="square" lIns="0" tIns="0" rIns="0" bIns="0" rtlCol="0" anchor="ctr">
            <a:normAutofit/>
          </a:bodyPr>
          <a:lstStyle/>
          <a:p>
            <a:pPr algn="ctr" indent="0" marL="0">
              <a:buNone/>
            </a:pPr>
            <a:r>
              <a:rPr lang="en-US" sz="1400" b="1" dirty="0">
                <a:solidFill>
                  <a:srgbClr val="0B1F3A"/>
                </a:solidFill>
              </a:rPr>
              <a:t>Current need</a:t>
            </a:r>
            <a:endParaRPr lang="en-US" sz="1400" dirty="0"/>
          </a:p>
        </p:txBody>
      </p:sp>
      <p:sp>
        <p:nvSpPr>
          <p:cNvPr id="8" name="Text 6"/>
          <p:cNvSpPr/>
          <p:nvPr/>
        </p:nvSpPr>
        <p:spPr>
          <a:xfrm>
            <a:off x="731520" y="2148840"/>
            <a:ext cx="3200400" cy="2286000"/>
          </a:xfrm>
          <a:prstGeom prst="rect">
            <a:avLst/>
          </a:prstGeom>
          <a:noFill/>
          <a:ln/>
        </p:spPr>
        <p:txBody>
          <a:bodyPr wrap="square" lIns="1016" tIns="1016" rIns="1016" bIns="1016" rtlCol="0" anchor="ctr">
            <a:normAutofit/>
          </a:bodyPr>
          <a:lstStyle/>
          <a:p>
            <a:r>
              <a:rPr lang="en-US" sz="1400" dirty="0">
                <a:solidFill>
                  <a:srgbClr val="111827"/>
                </a:solidFill>
              </a:rPr>
              <a:t>Convert internal documents into approved videos</a:t>
            </a:r>
            <a:endParaRPr lang="en-US" sz="1400" dirty="0"/>
          </a:p>
          <a:p>
            <a:r>
              <a:rPr lang="en-US" sz="1400" dirty="0">
                <a:solidFill>
                  <a:srgbClr val="111827"/>
                </a:solidFill>
              </a:rPr>
              <a:t>Maintain confidentiality, branding and traceability</a:t>
            </a:r>
            <a:endParaRPr lang="en-US" sz="1400" dirty="0"/>
          </a:p>
          <a:p>
            <a:r>
              <a:rPr lang="en-US" sz="1400" dirty="0">
                <a:solidFill>
                  <a:srgbClr val="111827"/>
                </a:solidFill>
              </a:rPr>
              <a:t>Support multilingual narration and subtitles</a:t>
            </a:r>
            <a:endParaRPr lang="en-US" sz="1400" dirty="0"/>
          </a:p>
        </p:txBody>
      </p:sp>
      <p:sp>
        <p:nvSpPr>
          <p:cNvPr id="9" name="Shape 7"/>
          <p:cNvSpPr/>
          <p:nvPr/>
        </p:nvSpPr>
        <p:spPr>
          <a:xfrm>
            <a:off x="4343400" y="1417320"/>
            <a:ext cx="2377440" cy="594360"/>
          </a:xfrm>
          <a:prstGeom prst="roundRect">
            <a:avLst>
              <a:gd name="adj" fmla="val 9231"/>
            </a:avLst>
          </a:prstGeom>
          <a:solidFill>
            <a:srgbClr val="FFF0D6"/>
          </a:solidFill>
          <a:ln w="12700">
            <a:solidFill>
              <a:srgbClr val="D99B2B"/>
            </a:solidFill>
            <a:prstDash val="solid"/>
          </a:ln>
        </p:spPr>
      </p:sp>
      <p:sp>
        <p:nvSpPr>
          <p:cNvPr id="10" name="Text 8"/>
          <p:cNvSpPr/>
          <p:nvPr/>
        </p:nvSpPr>
        <p:spPr>
          <a:xfrm>
            <a:off x="4416552" y="1490472"/>
            <a:ext cx="2231136" cy="448056"/>
          </a:xfrm>
          <a:prstGeom prst="rect">
            <a:avLst/>
          </a:prstGeom>
          <a:noFill/>
          <a:ln/>
        </p:spPr>
        <p:txBody>
          <a:bodyPr wrap="square" lIns="0" tIns="0" rIns="0" bIns="0" rtlCol="0" anchor="ctr">
            <a:normAutofit/>
          </a:bodyPr>
          <a:lstStyle/>
          <a:p>
            <a:pPr algn="ctr" indent="0" marL="0">
              <a:buNone/>
            </a:pPr>
            <a:r>
              <a:rPr lang="en-US" sz="1400" b="1" dirty="0">
                <a:solidFill>
                  <a:srgbClr val="0B1F3A"/>
                </a:solidFill>
              </a:rPr>
              <a:t>Architectural risk</a:t>
            </a:r>
            <a:endParaRPr lang="en-US" sz="1400" dirty="0"/>
          </a:p>
        </p:txBody>
      </p:sp>
      <p:sp>
        <p:nvSpPr>
          <p:cNvPr id="11" name="Text 9"/>
          <p:cNvSpPr/>
          <p:nvPr/>
        </p:nvSpPr>
        <p:spPr>
          <a:xfrm>
            <a:off x="4389120" y="2148840"/>
            <a:ext cx="3200400" cy="2468880"/>
          </a:xfrm>
          <a:prstGeom prst="rect">
            <a:avLst/>
          </a:prstGeom>
          <a:noFill/>
          <a:ln/>
        </p:spPr>
        <p:txBody>
          <a:bodyPr wrap="square" lIns="1016" tIns="1016" rIns="1016" bIns="1016" rtlCol="0" anchor="ctr">
            <a:normAutofit/>
          </a:bodyPr>
          <a:lstStyle/>
          <a:p>
            <a:r>
              <a:rPr lang="en-US" sz="1400" dirty="0">
                <a:solidFill>
                  <a:srgbClr val="111827"/>
                </a:solidFill>
              </a:rPr>
              <a:t>Free-running agents can hallucinate visual and factual claims</a:t>
            </a:r>
            <a:endParaRPr lang="en-US" sz="1400" dirty="0"/>
          </a:p>
          <a:p>
            <a:r>
              <a:rPr lang="en-US" sz="1400" dirty="0">
                <a:solidFill>
                  <a:srgbClr val="111827"/>
                </a:solidFill>
              </a:rPr>
              <a:t>Rendering must be deterministic, not LLM-driven</a:t>
            </a:r>
            <a:endParaRPr lang="en-US" sz="1400" dirty="0"/>
          </a:p>
          <a:p>
            <a:r>
              <a:rPr lang="en-US" sz="1400" dirty="0">
                <a:solidFill>
                  <a:srgbClr val="111827"/>
                </a:solidFill>
              </a:rPr>
              <a:t>Approval must pause and resume safely</a:t>
            </a:r>
            <a:endParaRPr lang="en-US" sz="1400" dirty="0"/>
          </a:p>
        </p:txBody>
      </p:sp>
      <p:sp>
        <p:nvSpPr>
          <p:cNvPr id="12" name="Shape 10"/>
          <p:cNvSpPr/>
          <p:nvPr/>
        </p:nvSpPr>
        <p:spPr>
          <a:xfrm>
            <a:off x="8001000" y="1417320"/>
            <a:ext cx="2377440" cy="594360"/>
          </a:xfrm>
          <a:prstGeom prst="roundRect">
            <a:avLst>
              <a:gd name="adj" fmla="val 9231"/>
            </a:avLst>
          </a:prstGeom>
          <a:solidFill>
            <a:srgbClr val="DFF4EA"/>
          </a:solidFill>
          <a:ln w="12700">
            <a:solidFill>
              <a:srgbClr val="43A472"/>
            </a:solidFill>
            <a:prstDash val="solid"/>
          </a:ln>
        </p:spPr>
      </p:sp>
      <p:sp>
        <p:nvSpPr>
          <p:cNvPr id="13" name="Text 11"/>
          <p:cNvSpPr/>
          <p:nvPr/>
        </p:nvSpPr>
        <p:spPr>
          <a:xfrm>
            <a:off x="8074152" y="1490472"/>
            <a:ext cx="2231136" cy="448056"/>
          </a:xfrm>
          <a:prstGeom prst="rect">
            <a:avLst/>
          </a:prstGeom>
          <a:noFill/>
          <a:ln/>
        </p:spPr>
        <p:txBody>
          <a:bodyPr wrap="square" lIns="0" tIns="0" rIns="0" bIns="0" rtlCol="0" anchor="ctr">
            <a:normAutofit/>
          </a:bodyPr>
          <a:lstStyle/>
          <a:p>
            <a:pPr algn="ctr" indent="0" marL="0">
              <a:buNone/>
            </a:pPr>
            <a:r>
              <a:rPr lang="en-US" sz="1400" b="1" dirty="0">
                <a:solidFill>
                  <a:srgbClr val="0B1F3A"/>
                </a:solidFill>
              </a:rPr>
              <a:t>Target outcome</a:t>
            </a:r>
            <a:endParaRPr lang="en-US" sz="1400" dirty="0"/>
          </a:p>
        </p:txBody>
      </p:sp>
      <p:sp>
        <p:nvSpPr>
          <p:cNvPr id="14" name="Text 12"/>
          <p:cNvSpPr/>
          <p:nvPr/>
        </p:nvSpPr>
        <p:spPr>
          <a:xfrm>
            <a:off x="8046720" y="2148840"/>
            <a:ext cx="3246120" cy="2286000"/>
          </a:xfrm>
          <a:prstGeom prst="rect">
            <a:avLst/>
          </a:prstGeom>
          <a:noFill/>
          <a:ln/>
        </p:spPr>
        <p:txBody>
          <a:bodyPr wrap="square" lIns="1016" tIns="1016" rIns="1016" bIns="1016" rtlCol="0" anchor="ctr">
            <a:normAutofit/>
          </a:bodyPr>
          <a:lstStyle/>
          <a:p>
            <a:r>
              <a:rPr lang="en-US" sz="1400" dirty="0">
                <a:solidFill>
                  <a:srgbClr val="111827"/>
                </a:solidFill>
              </a:rPr>
              <a:t>A controlled document-to-approved-video platform</a:t>
            </a:r>
            <a:endParaRPr lang="en-US" sz="1400" dirty="0"/>
          </a:p>
          <a:p>
            <a:r>
              <a:rPr lang="en-US" sz="1400" dirty="0">
                <a:solidFill>
                  <a:srgbClr val="111827"/>
                </a:solidFill>
              </a:rPr>
              <a:t>Every scene and artifact independently versioned</a:t>
            </a:r>
            <a:endParaRPr lang="en-US" sz="1400" dirty="0"/>
          </a:p>
          <a:p>
            <a:r>
              <a:rPr lang="en-US" sz="1400" dirty="0">
                <a:solidFill>
                  <a:srgbClr val="111827"/>
                </a:solidFill>
              </a:rPr>
              <a:t>Feedback regenerates only affected parts</a:t>
            </a:r>
            <a:endParaRPr lang="en-US" sz="1400" dirty="0"/>
          </a:p>
        </p:txBody>
      </p:sp>
      <p:sp>
        <p:nvSpPr>
          <p:cNvPr id="15" name="Shape 13"/>
          <p:cNvSpPr/>
          <p:nvPr/>
        </p:nvSpPr>
        <p:spPr>
          <a:xfrm>
            <a:off x="3246120" y="1709928"/>
            <a:ext cx="914400" cy="0"/>
          </a:xfrm>
          <a:prstGeom prst="line">
            <a:avLst/>
          </a:prstGeom>
          <a:noFill/>
          <a:ln w="17780">
            <a:solidFill>
              <a:srgbClr val="2563EB"/>
            </a:solidFill>
            <a:prstDash val="solid"/>
            <a:headEnd type="none"/>
            <a:tailEnd type="triangle"/>
          </a:ln>
        </p:spPr>
      </p:sp>
      <p:sp>
        <p:nvSpPr>
          <p:cNvPr id="16" name="Shape 14"/>
          <p:cNvSpPr/>
          <p:nvPr/>
        </p:nvSpPr>
        <p:spPr>
          <a:xfrm>
            <a:off x="6903720" y="1709928"/>
            <a:ext cx="914400" cy="0"/>
          </a:xfrm>
          <a:prstGeom prst="line">
            <a:avLst/>
          </a:prstGeom>
          <a:noFill/>
          <a:ln w="17780">
            <a:solidFill>
              <a:srgbClr val="2563EB"/>
            </a:solidFill>
            <a:prstDash val="solid"/>
            <a:headEnd type="none"/>
            <a:tailEnd type="triangle"/>
          </a:ln>
        </p:spPr>
      </p:sp>
      <p:sp>
        <p:nvSpPr>
          <p:cNvPr id="17" name="Text 15"/>
          <p:cNvSpPr/>
          <p:nvPr/>
        </p:nvSpPr>
        <p:spPr>
          <a:xfrm>
            <a:off x="11448288" y="6492240"/>
            <a:ext cx="347472" cy="164592"/>
          </a:xfrm>
          <a:prstGeom prst="rect">
            <a:avLst/>
          </a:prstGeom>
          <a:noFill/>
          <a:ln/>
        </p:spPr>
        <p:txBody>
          <a:bodyPr wrap="square" lIns="0" tIns="0" rIns="0" bIns="0" rtlCol="0" anchor="ctr"/>
          <a:lstStyle/>
          <a:p>
            <a:pPr algn="r" indent="0" marL="0">
              <a:buNone/>
            </a:pPr>
            <a:r>
              <a:rPr lang="en-US" sz="800" dirty="0">
                <a:solidFill>
                  <a:srgbClr val="495466"/>
                </a:solidFill>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563EB"/>
          </a:solidFill>
          <a:ln w="12700">
            <a:solidFill>
              <a:srgbClr val="2563EB"/>
            </a:solidFill>
            <a:prstDash val="solid"/>
          </a:ln>
        </p:spPr>
      </p:sp>
      <p:sp>
        <p:nvSpPr>
          <p:cNvPr id="3" name="Text 1"/>
          <p:cNvSpPr/>
          <p:nvPr/>
        </p:nvSpPr>
        <p:spPr>
          <a:xfrm>
            <a:off x="502920" y="292608"/>
            <a:ext cx="3474720" cy="201168"/>
          </a:xfrm>
          <a:prstGeom prst="rect">
            <a:avLst/>
          </a:prstGeom>
          <a:noFill/>
          <a:ln/>
        </p:spPr>
        <p:txBody>
          <a:bodyPr wrap="square" lIns="0" tIns="0" rIns="0" bIns="0" rtlCol="0" anchor="ctr"/>
          <a:lstStyle/>
          <a:p>
            <a:pPr indent="0" marL="0">
              <a:buNone/>
            </a:pPr>
            <a:r>
              <a:rPr lang="en-US" sz="850" b="1" dirty="0">
                <a:solidFill>
                  <a:srgbClr val="2563EB"/>
                </a:solidFill>
              </a:rPr>
              <a:t>POSITIONING</a:t>
            </a:r>
            <a:endParaRPr lang="en-US" sz="850" dirty="0"/>
          </a:p>
        </p:txBody>
      </p:sp>
      <p:sp>
        <p:nvSpPr>
          <p:cNvPr id="4" name="Text 2"/>
          <p:cNvSpPr/>
          <p:nvPr/>
        </p:nvSpPr>
        <p:spPr>
          <a:xfrm>
            <a:off x="502920" y="548640"/>
            <a:ext cx="7772400" cy="384048"/>
          </a:xfrm>
          <a:prstGeom prst="rect">
            <a:avLst/>
          </a:prstGeom>
          <a:noFill/>
          <a:ln/>
        </p:spPr>
        <p:txBody>
          <a:bodyPr wrap="square" lIns="0" tIns="0" rIns="0" bIns="0" rtlCol="0" anchor="ctr"/>
          <a:lstStyle/>
          <a:p>
            <a:pPr indent="0" marL="0">
              <a:buNone/>
            </a:pPr>
            <a:r>
              <a:rPr lang="en-US" sz="2400" b="1" dirty="0">
                <a:solidFill>
                  <a:srgbClr val="0B1F3A"/>
                </a:solidFill>
              </a:rPr>
              <a:t>Key architecture decision</a:t>
            </a:r>
            <a:endParaRPr lang="en-US" sz="2400" dirty="0"/>
          </a:p>
        </p:txBody>
      </p:sp>
      <p:sp>
        <p:nvSpPr>
          <p:cNvPr id="5" name="Text 3"/>
          <p:cNvSpPr/>
          <p:nvPr/>
        </p:nvSpPr>
        <p:spPr>
          <a:xfrm>
            <a:off x="8503920" y="594360"/>
            <a:ext cx="3108960" cy="228600"/>
          </a:xfrm>
          <a:prstGeom prst="rect">
            <a:avLst/>
          </a:prstGeom>
          <a:noFill/>
          <a:ln/>
        </p:spPr>
        <p:txBody>
          <a:bodyPr wrap="square" lIns="0" tIns="0" rIns="0" bIns="0" rtlCol="0" anchor="ctr"/>
          <a:lstStyle/>
          <a:p>
            <a:pPr algn="r" indent="0" marL="0">
              <a:buNone/>
            </a:pPr>
            <a:r>
              <a:rPr lang="en-US" sz="900" dirty="0">
                <a:solidFill>
                  <a:srgbClr val="495466"/>
                </a:solidFill>
              </a:rPr>
              <a:t>Document-to-Approved-Video Platform</a:t>
            </a:r>
            <a:endParaRPr lang="en-US" sz="900" dirty="0"/>
          </a:p>
        </p:txBody>
      </p:sp>
      <p:sp>
        <p:nvSpPr>
          <p:cNvPr id="6" name="Text 4"/>
          <p:cNvSpPr/>
          <p:nvPr/>
        </p:nvSpPr>
        <p:spPr>
          <a:xfrm>
            <a:off x="713232" y="1325880"/>
            <a:ext cx="10515600" cy="320040"/>
          </a:xfrm>
          <a:prstGeom prst="rect">
            <a:avLst/>
          </a:prstGeom>
          <a:noFill/>
          <a:ln/>
        </p:spPr>
        <p:txBody>
          <a:bodyPr wrap="square" lIns="0" tIns="0" rIns="0" bIns="0" rtlCol="0" anchor="ctr"/>
          <a:lstStyle/>
          <a:p>
            <a:pPr indent="0" marL="0">
              <a:buNone/>
            </a:pPr>
            <a:r>
              <a:rPr lang="en-US" sz="2200" b="1" dirty="0">
                <a:solidFill>
                  <a:srgbClr val="0B1F3A"/>
                </a:solidFill>
              </a:rPr>
              <a:t>This is not primarily a video-generation-agent problem.</a:t>
            </a:r>
            <a:endParaRPr lang="en-US" sz="2200" dirty="0"/>
          </a:p>
        </p:txBody>
      </p:sp>
      <p:sp>
        <p:nvSpPr>
          <p:cNvPr id="7" name="Text 5"/>
          <p:cNvSpPr/>
          <p:nvPr/>
        </p:nvSpPr>
        <p:spPr>
          <a:xfrm>
            <a:off x="713232" y="1783080"/>
            <a:ext cx="10515600" cy="329184"/>
          </a:xfrm>
          <a:prstGeom prst="rect">
            <a:avLst/>
          </a:prstGeom>
          <a:noFill/>
          <a:ln/>
        </p:spPr>
        <p:txBody>
          <a:bodyPr wrap="square" lIns="0" tIns="0" rIns="0" bIns="0" rtlCol="0" anchor="ctr"/>
          <a:lstStyle/>
          <a:p>
            <a:pPr indent="0" marL="0">
              <a:buNone/>
            </a:pPr>
            <a:r>
              <a:rPr lang="en-US" sz="1800" b="1" dirty="0">
                <a:solidFill>
                  <a:srgbClr val="2563EB"/>
                </a:solidFill>
              </a:rPr>
              <a:t>It is a document-to-approved-video production workflow with agentic intelligence.</a:t>
            </a:r>
            <a:endParaRPr lang="en-US" sz="1800" dirty="0"/>
          </a:p>
        </p:txBody>
      </p:sp>
      <p:sp>
        <p:nvSpPr>
          <p:cNvPr id="8" name="Shape 6"/>
          <p:cNvSpPr/>
          <p:nvPr/>
        </p:nvSpPr>
        <p:spPr>
          <a:xfrm>
            <a:off x="914400" y="2743200"/>
            <a:ext cx="4297680" cy="502920"/>
          </a:xfrm>
          <a:prstGeom prst="roundRect">
            <a:avLst>
              <a:gd name="adj" fmla="val 10909"/>
            </a:avLst>
          </a:prstGeom>
          <a:solidFill>
            <a:srgbClr val="EFE7FF"/>
          </a:solidFill>
          <a:ln w="12700">
            <a:solidFill>
              <a:srgbClr val="8B5CF6"/>
            </a:solidFill>
            <a:prstDash val="solid"/>
          </a:ln>
        </p:spPr>
      </p:sp>
      <p:sp>
        <p:nvSpPr>
          <p:cNvPr id="9" name="Text 7"/>
          <p:cNvSpPr/>
          <p:nvPr/>
        </p:nvSpPr>
        <p:spPr>
          <a:xfrm>
            <a:off x="987552" y="2816352"/>
            <a:ext cx="4151376" cy="356616"/>
          </a:xfrm>
          <a:prstGeom prst="rect">
            <a:avLst/>
          </a:prstGeom>
          <a:noFill/>
          <a:ln/>
        </p:spPr>
        <p:txBody>
          <a:bodyPr wrap="square" lIns="0" tIns="0" rIns="0" bIns="0" rtlCol="0" anchor="ctr">
            <a:normAutofit/>
          </a:bodyPr>
          <a:lstStyle/>
          <a:p>
            <a:pPr algn="ctr" indent="0" marL="0">
              <a:buNone/>
            </a:pPr>
            <a:r>
              <a:rPr lang="en-US" sz="1400" b="1" dirty="0">
                <a:solidFill>
                  <a:srgbClr val="0B1F3A"/>
                </a:solidFill>
              </a:rPr>
              <a:t>AI should handle</a:t>
            </a:r>
            <a:endParaRPr lang="en-US" sz="1400" dirty="0"/>
          </a:p>
        </p:txBody>
      </p:sp>
      <p:sp>
        <p:nvSpPr>
          <p:cNvPr id="10" name="Text 8"/>
          <p:cNvSpPr/>
          <p:nvPr/>
        </p:nvSpPr>
        <p:spPr>
          <a:xfrm>
            <a:off x="1005840" y="3429000"/>
            <a:ext cx="3840480" cy="2377440"/>
          </a:xfrm>
          <a:prstGeom prst="rect">
            <a:avLst/>
          </a:prstGeom>
          <a:noFill/>
          <a:ln/>
        </p:spPr>
        <p:txBody>
          <a:bodyPr wrap="square" lIns="1016" tIns="1016" rIns="1016" bIns="1016" rtlCol="0" anchor="ctr">
            <a:normAutofit/>
          </a:bodyPr>
          <a:lstStyle/>
          <a:p>
            <a:r>
              <a:rPr lang="en-US" sz="1400" dirty="0">
                <a:solidFill>
                  <a:srgbClr val="111827"/>
                </a:solidFill>
              </a:rPr>
              <a:t>Document understanding</a:t>
            </a:r>
            <a:endParaRPr lang="en-US" sz="1400" dirty="0"/>
          </a:p>
          <a:p>
            <a:r>
              <a:rPr lang="en-US" sz="1400" dirty="0">
                <a:solidFill>
                  <a:srgbClr val="111827"/>
                </a:solidFill>
              </a:rPr>
              <a:t>Script and storyboard planning</a:t>
            </a:r>
            <a:endParaRPr lang="en-US" sz="1400" dirty="0"/>
          </a:p>
          <a:p>
            <a:r>
              <a:rPr lang="en-US" sz="1400" dirty="0">
                <a:solidFill>
                  <a:srgbClr val="111827"/>
                </a:solidFill>
              </a:rPr>
              <a:t>Feedback interpretation</a:t>
            </a:r>
            <a:endParaRPr lang="en-US" sz="1400" dirty="0"/>
          </a:p>
          <a:p>
            <a:r>
              <a:rPr lang="en-US" sz="1400" dirty="0">
                <a:solidFill>
                  <a:srgbClr val="111827"/>
                </a:solidFill>
              </a:rPr>
              <a:t>Translation review</a:t>
            </a:r>
            <a:endParaRPr lang="en-US" sz="1400" dirty="0"/>
          </a:p>
          <a:p>
            <a:r>
              <a:rPr lang="en-US" sz="1400" dirty="0">
                <a:solidFill>
                  <a:srgbClr val="111827"/>
                </a:solidFill>
              </a:rPr>
              <a:t>Quality evaluations</a:t>
            </a:r>
            <a:endParaRPr lang="en-US" sz="1400" dirty="0"/>
          </a:p>
        </p:txBody>
      </p:sp>
      <p:sp>
        <p:nvSpPr>
          <p:cNvPr id="11" name="Shape 9"/>
          <p:cNvSpPr/>
          <p:nvPr/>
        </p:nvSpPr>
        <p:spPr>
          <a:xfrm>
            <a:off x="6492240" y="2743200"/>
            <a:ext cx="4526280" cy="502920"/>
          </a:xfrm>
          <a:prstGeom prst="roundRect">
            <a:avLst>
              <a:gd name="adj" fmla="val 10909"/>
            </a:avLst>
          </a:prstGeom>
          <a:solidFill>
            <a:srgbClr val="EAF2FF"/>
          </a:solidFill>
          <a:ln w="12700">
            <a:solidFill>
              <a:srgbClr val="2563EB"/>
            </a:solidFill>
            <a:prstDash val="solid"/>
          </a:ln>
        </p:spPr>
      </p:sp>
      <p:sp>
        <p:nvSpPr>
          <p:cNvPr id="12" name="Text 10"/>
          <p:cNvSpPr/>
          <p:nvPr/>
        </p:nvSpPr>
        <p:spPr>
          <a:xfrm>
            <a:off x="6565392" y="2816352"/>
            <a:ext cx="4379976" cy="356616"/>
          </a:xfrm>
          <a:prstGeom prst="rect">
            <a:avLst/>
          </a:prstGeom>
          <a:noFill/>
          <a:ln/>
        </p:spPr>
        <p:txBody>
          <a:bodyPr wrap="square" lIns="0" tIns="0" rIns="0" bIns="0" rtlCol="0" anchor="ctr">
            <a:normAutofit/>
          </a:bodyPr>
          <a:lstStyle/>
          <a:p>
            <a:pPr algn="ctr" indent="0" marL="0">
              <a:buNone/>
            </a:pPr>
            <a:r>
              <a:rPr lang="en-US" sz="1400" b="1" dirty="0">
                <a:solidFill>
                  <a:srgbClr val="0B1F3A"/>
                </a:solidFill>
              </a:rPr>
              <a:t>Deterministic software should handle</a:t>
            </a:r>
            <a:endParaRPr lang="en-US" sz="1400" dirty="0"/>
          </a:p>
        </p:txBody>
      </p:sp>
      <p:sp>
        <p:nvSpPr>
          <p:cNvPr id="13" name="Text 11"/>
          <p:cNvSpPr/>
          <p:nvPr/>
        </p:nvSpPr>
        <p:spPr>
          <a:xfrm>
            <a:off x="6583680" y="3429000"/>
            <a:ext cx="3931920" cy="2377440"/>
          </a:xfrm>
          <a:prstGeom prst="rect">
            <a:avLst/>
          </a:prstGeom>
          <a:noFill/>
          <a:ln/>
        </p:spPr>
        <p:txBody>
          <a:bodyPr wrap="square" lIns="1016" tIns="1016" rIns="1016" bIns="1016" rtlCol="0" anchor="ctr">
            <a:normAutofit/>
          </a:bodyPr>
          <a:lstStyle/>
          <a:p>
            <a:r>
              <a:rPr lang="en-US" sz="1400" dirty="0">
                <a:solidFill>
                  <a:srgbClr val="111827"/>
                </a:solidFill>
              </a:rPr>
              <a:t>Versioning and approval states</a:t>
            </a:r>
            <a:endParaRPr lang="en-US" sz="1400" dirty="0"/>
          </a:p>
          <a:p>
            <a:r>
              <a:rPr lang="en-US" sz="1400" dirty="0">
                <a:solidFill>
                  <a:srgbClr val="111827"/>
                </a:solidFill>
              </a:rPr>
              <a:t>Branding, timing and dependencies</a:t>
            </a:r>
            <a:endParaRPr lang="en-US" sz="1400" dirty="0"/>
          </a:p>
          <a:p>
            <a:r>
              <a:rPr lang="en-US" sz="1400" dirty="0">
                <a:solidFill>
                  <a:srgbClr val="111827"/>
                </a:solidFill>
              </a:rPr>
              <a:t>Rendering, encoding and publishing</a:t>
            </a:r>
            <a:endParaRPr lang="en-US" sz="1400" dirty="0"/>
          </a:p>
          <a:p>
            <a:r>
              <a:rPr lang="en-US" sz="1400" dirty="0">
                <a:solidFill>
                  <a:srgbClr val="111827"/>
                </a:solidFill>
              </a:rPr>
              <a:t>Audit and access control</a:t>
            </a:r>
            <a:endParaRPr lang="en-US" sz="1400" dirty="0"/>
          </a:p>
        </p:txBody>
      </p:sp>
      <p:sp>
        <p:nvSpPr>
          <p:cNvPr id="14" name="Shape 12"/>
          <p:cNvSpPr/>
          <p:nvPr/>
        </p:nvSpPr>
        <p:spPr>
          <a:xfrm>
            <a:off x="5349240" y="3931920"/>
            <a:ext cx="914400" cy="0"/>
          </a:xfrm>
          <a:prstGeom prst="line">
            <a:avLst/>
          </a:prstGeom>
          <a:noFill/>
          <a:ln w="17780">
            <a:solidFill>
              <a:srgbClr val="2563EB"/>
            </a:solidFill>
            <a:prstDash val="solid"/>
            <a:headEnd type="none"/>
            <a:tailEnd type="triangle"/>
          </a:ln>
        </p:spPr>
      </p:sp>
      <p:sp>
        <p:nvSpPr>
          <p:cNvPr id="15" name="Text 13"/>
          <p:cNvSpPr/>
          <p:nvPr/>
        </p:nvSpPr>
        <p:spPr>
          <a:xfrm>
            <a:off x="11448288" y="6492240"/>
            <a:ext cx="347472" cy="164592"/>
          </a:xfrm>
          <a:prstGeom prst="rect">
            <a:avLst/>
          </a:prstGeom>
          <a:noFill/>
          <a:ln/>
        </p:spPr>
        <p:txBody>
          <a:bodyPr wrap="square" lIns="0" tIns="0" rIns="0" bIns="0" rtlCol="0" anchor="ctr"/>
          <a:lstStyle/>
          <a:p>
            <a:pPr algn="r" indent="0" marL="0">
              <a:buNone/>
            </a:pPr>
            <a:r>
              <a:rPr lang="en-US" sz="800" dirty="0">
                <a:solidFill>
                  <a:srgbClr val="495466"/>
                </a:solidFill>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563EB"/>
          </a:solidFill>
          <a:ln w="12700">
            <a:solidFill>
              <a:srgbClr val="2563EB"/>
            </a:solidFill>
            <a:prstDash val="solid"/>
          </a:ln>
        </p:spPr>
      </p:sp>
      <p:sp>
        <p:nvSpPr>
          <p:cNvPr id="3" name="Text 1"/>
          <p:cNvSpPr/>
          <p:nvPr/>
        </p:nvSpPr>
        <p:spPr>
          <a:xfrm>
            <a:off x="502920" y="292608"/>
            <a:ext cx="3474720" cy="201168"/>
          </a:xfrm>
          <a:prstGeom prst="rect">
            <a:avLst/>
          </a:prstGeom>
          <a:noFill/>
          <a:ln/>
        </p:spPr>
        <p:txBody>
          <a:bodyPr wrap="square" lIns="0" tIns="0" rIns="0" bIns="0" rtlCol="0" anchor="ctr"/>
          <a:lstStyle/>
          <a:p>
            <a:pPr indent="0" marL="0">
              <a:buNone/>
            </a:pPr>
            <a:r>
              <a:rPr lang="en-US" sz="850" b="1" dirty="0">
                <a:solidFill>
                  <a:srgbClr val="2563EB"/>
                </a:solidFill>
              </a:rPr>
              <a:t>RECOMMENDED AUTHORING WORKFLOW</a:t>
            </a:r>
            <a:endParaRPr lang="en-US" sz="850" dirty="0"/>
          </a:p>
        </p:txBody>
      </p:sp>
      <p:sp>
        <p:nvSpPr>
          <p:cNvPr id="4" name="Text 2"/>
          <p:cNvSpPr/>
          <p:nvPr/>
        </p:nvSpPr>
        <p:spPr>
          <a:xfrm>
            <a:off x="502920" y="548640"/>
            <a:ext cx="7772400" cy="384048"/>
          </a:xfrm>
          <a:prstGeom prst="rect">
            <a:avLst/>
          </a:prstGeom>
          <a:noFill/>
          <a:ln/>
        </p:spPr>
        <p:txBody>
          <a:bodyPr wrap="square" lIns="0" tIns="0" rIns="0" bIns="0" rtlCol="0" anchor="ctr"/>
          <a:lstStyle/>
          <a:p>
            <a:pPr indent="0" marL="0">
              <a:buNone/>
            </a:pPr>
            <a:r>
              <a:rPr lang="en-US" sz="2400" b="1" dirty="0">
                <a:solidFill>
                  <a:srgbClr val="0B1F3A"/>
                </a:solidFill>
              </a:rPr>
              <a:t>Where to build diagrams and the final deck</a:t>
            </a:r>
            <a:endParaRPr lang="en-US" sz="2400" dirty="0"/>
          </a:p>
        </p:txBody>
      </p:sp>
      <p:sp>
        <p:nvSpPr>
          <p:cNvPr id="5" name="Text 3"/>
          <p:cNvSpPr/>
          <p:nvPr/>
        </p:nvSpPr>
        <p:spPr>
          <a:xfrm>
            <a:off x="8503920" y="594360"/>
            <a:ext cx="3108960" cy="228600"/>
          </a:xfrm>
          <a:prstGeom prst="rect">
            <a:avLst/>
          </a:prstGeom>
          <a:noFill/>
          <a:ln/>
        </p:spPr>
        <p:txBody>
          <a:bodyPr wrap="square" lIns="0" tIns="0" rIns="0" bIns="0" rtlCol="0" anchor="ctr"/>
          <a:lstStyle/>
          <a:p>
            <a:pPr algn="r" indent="0" marL="0">
              <a:buNone/>
            </a:pPr>
            <a:r>
              <a:rPr lang="en-US" sz="900" dirty="0">
                <a:solidFill>
                  <a:srgbClr val="495466"/>
                </a:solidFill>
              </a:rPr>
              <a:t>Document-to-Approved-Video Platform</a:t>
            </a:r>
            <a:endParaRPr lang="en-US" sz="900" dirty="0"/>
          </a:p>
        </p:txBody>
      </p:sp>
      <p:sp>
        <p:nvSpPr>
          <p:cNvPr id="6" name="Shape 4"/>
          <p:cNvSpPr/>
          <p:nvPr/>
        </p:nvSpPr>
        <p:spPr>
          <a:xfrm>
            <a:off x="822960" y="1417320"/>
            <a:ext cx="2011680" cy="594360"/>
          </a:xfrm>
          <a:prstGeom prst="roundRect">
            <a:avLst>
              <a:gd name="adj" fmla="val 9231"/>
            </a:avLst>
          </a:prstGeom>
          <a:solidFill>
            <a:srgbClr val="EAF2FF"/>
          </a:solidFill>
          <a:ln w="12700">
            <a:solidFill>
              <a:srgbClr val="2563EB"/>
            </a:solidFill>
            <a:prstDash val="solid"/>
          </a:ln>
        </p:spPr>
      </p:sp>
      <p:sp>
        <p:nvSpPr>
          <p:cNvPr id="7" name="Text 5"/>
          <p:cNvSpPr/>
          <p:nvPr/>
        </p:nvSpPr>
        <p:spPr>
          <a:xfrm>
            <a:off x="896112" y="1490472"/>
            <a:ext cx="1865376" cy="448056"/>
          </a:xfrm>
          <a:prstGeom prst="rect">
            <a:avLst/>
          </a:prstGeom>
          <a:noFill/>
          <a:ln/>
        </p:spPr>
        <p:txBody>
          <a:bodyPr wrap="square" lIns="0" tIns="0" rIns="0" bIns="0" rtlCol="0" anchor="ctr">
            <a:normAutofit/>
          </a:bodyPr>
          <a:lstStyle/>
          <a:p>
            <a:pPr algn="ctr" indent="0" marL="0">
              <a:buNone/>
            </a:pPr>
            <a:r>
              <a:rPr lang="en-US" sz="1500" b="1" dirty="0">
                <a:solidFill>
                  <a:srgbClr val="0B1F3A"/>
                </a:solidFill>
              </a:rPr>
              <a:t>Eraser.io</a:t>
            </a:r>
            <a:endParaRPr lang="en-US" sz="1500" dirty="0"/>
          </a:p>
        </p:txBody>
      </p:sp>
      <p:sp>
        <p:nvSpPr>
          <p:cNvPr id="8" name="Text 6"/>
          <p:cNvSpPr/>
          <p:nvPr/>
        </p:nvSpPr>
        <p:spPr>
          <a:xfrm>
            <a:off x="3154680" y="1444752"/>
            <a:ext cx="2743200" cy="246888"/>
          </a:xfrm>
          <a:prstGeom prst="rect">
            <a:avLst/>
          </a:prstGeom>
          <a:noFill/>
          <a:ln/>
        </p:spPr>
        <p:txBody>
          <a:bodyPr wrap="square" lIns="0" tIns="0" rIns="0" bIns="0" rtlCol="0" anchor="ctr"/>
          <a:lstStyle/>
          <a:p>
            <a:pPr indent="0" marL="0">
              <a:buNone/>
            </a:pPr>
            <a:r>
              <a:rPr lang="en-US" sz="1500" b="1" dirty="0">
                <a:solidFill>
                  <a:srgbClr val="0B1F3A"/>
                </a:solidFill>
              </a:rPr>
              <a:t>Technical architecture diagrams</a:t>
            </a:r>
            <a:endParaRPr lang="en-US" sz="1500" dirty="0"/>
          </a:p>
        </p:txBody>
      </p:sp>
      <p:sp>
        <p:nvSpPr>
          <p:cNvPr id="9" name="Text 7"/>
          <p:cNvSpPr/>
          <p:nvPr/>
        </p:nvSpPr>
        <p:spPr>
          <a:xfrm>
            <a:off x="3154680" y="1755648"/>
            <a:ext cx="6309360" cy="256032"/>
          </a:xfrm>
          <a:prstGeom prst="rect">
            <a:avLst/>
          </a:prstGeom>
          <a:noFill/>
          <a:ln/>
        </p:spPr>
        <p:txBody>
          <a:bodyPr wrap="square" lIns="0" tIns="0" rIns="0" bIns="0" rtlCol="0" anchor="ctr"/>
          <a:lstStyle/>
          <a:p>
            <a:pPr indent="0" marL="0">
              <a:buNone/>
            </a:pPr>
            <a:r>
              <a:rPr lang="en-US" sz="1150" dirty="0">
                <a:solidFill>
                  <a:srgbClr val="495466"/>
                </a:solidFill>
              </a:rPr>
              <a:t>Azure cloud diagrams, diagram-as-code, architecture variants</a:t>
            </a:r>
            <a:endParaRPr lang="en-US" sz="1150" dirty="0"/>
          </a:p>
        </p:txBody>
      </p:sp>
      <p:sp>
        <p:nvSpPr>
          <p:cNvPr id="10" name="Shape 8"/>
          <p:cNvSpPr/>
          <p:nvPr/>
        </p:nvSpPr>
        <p:spPr>
          <a:xfrm>
            <a:off x="1810512" y="2194560"/>
            <a:ext cx="0" cy="320040"/>
          </a:xfrm>
          <a:prstGeom prst="line">
            <a:avLst/>
          </a:prstGeom>
          <a:noFill/>
          <a:ln w="17780">
            <a:solidFill>
              <a:srgbClr val="B7C2D0"/>
            </a:solidFill>
            <a:prstDash val="solid"/>
            <a:headEnd type="none"/>
            <a:tailEnd type="triangle"/>
          </a:ln>
        </p:spPr>
      </p:sp>
      <p:sp>
        <p:nvSpPr>
          <p:cNvPr id="11" name="Shape 9"/>
          <p:cNvSpPr/>
          <p:nvPr/>
        </p:nvSpPr>
        <p:spPr>
          <a:xfrm>
            <a:off x="822960" y="2715768"/>
            <a:ext cx="2011680" cy="594360"/>
          </a:xfrm>
          <a:prstGeom prst="roundRect">
            <a:avLst>
              <a:gd name="adj" fmla="val 9231"/>
            </a:avLst>
          </a:prstGeom>
          <a:solidFill>
            <a:srgbClr val="EFE7FF"/>
          </a:solidFill>
          <a:ln w="12700">
            <a:solidFill>
              <a:srgbClr val="2563EB"/>
            </a:solidFill>
            <a:prstDash val="solid"/>
          </a:ln>
        </p:spPr>
      </p:sp>
      <p:sp>
        <p:nvSpPr>
          <p:cNvPr id="12" name="Text 10"/>
          <p:cNvSpPr/>
          <p:nvPr/>
        </p:nvSpPr>
        <p:spPr>
          <a:xfrm>
            <a:off x="896112" y="2788920"/>
            <a:ext cx="1865376" cy="448056"/>
          </a:xfrm>
          <a:prstGeom prst="rect">
            <a:avLst/>
          </a:prstGeom>
          <a:noFill/>
          <a:ln/>
        </p:spPr>
        <p:txBody>
          <a:bodyPr wrap="square" lIns="0" tIns="0" rIns="0" bIns="0" rtlCol="0" anchor="ctr">
            <a:normAutofit/>
          </a:bodyPr>
          <a:lstStyle/>
          <a:p>
            <a:pPr algn="ctr" indent="0" marL="0">
              <a:buNone/>
            </a:pPr>
            <a:r>
              <a:rPr lang="en-US" sz="1500" b="1" dirty="0">
                <a:solidFill>
                  <a:srgbClr val="0B1F3A"/>
                </a:solidFill>
              </a:rPr>
              <a:t>Lucidchart</a:t>
            </a:r>
            <a:endParaRPr lang="en-US" sz="1500" dirty="0"/>
          </a:p>
        </p:txBody>
      </p:sp>
      <p:sp>
        <p:nvSpPr>
          <p:cNvPr id="13" name="Text 11"/>
          <p:cNvSpPr/>
          <p:nvPr/>
        </p:nvSpPr>
        <p:spPr>
          <a:xfrm>
            <a:off x="3154680" y="2743200"/>
            <a:ext cx="2743200" cy="246888"/>
          </a:xfrm>
          <a:prstGeom prst="rect">
            <a:avLst/>
          </a:prstGeom>
          <a:noFill/>
          <a:ln/>
        </p:spPr>
        <p:txBody>
          <a:bodyPr wrap="square" lIns="0" tIns="0" rIns="0" bIns="0" rtlCol="0" anchor="ctr"/>
          <a:lstStyle/>
          <a:p>
            <a:pPr indent="0" marL="0">
              <a:buNone/>
            </a:pPr>
            <a:r>
              <a:rPr lang="en-US" sz="1500" b="1" dirty="0">
                <a:solidFill>
                  <a:srgbClr val="0B1F3A"/>
                </a:solidFill>
              </a:rPr>
              <a:t>Process and approval flows</a:t>
            </a:r>
            <a:endParaRPr lang="en-US" sz="1500" dirty="0"/>
          </a:p>
        </p:txBody>
      </p:sp>
      <p:sp>
        <p:nvSpPr>
          <p:cNvPr id="14" name="Text 12"/>
          <p:cNvSpPr/>
          <p:nvPr/>
        </p:nvSpPr>
        <p:spPr>
          <a:xfrm>
            <a:off x="3154680" y="3054096"/>
            <a:ext cx="6309360" cy="256032"/>
          </a:xfrm>
          <a:prstGeom prst="rect">
            <a:avLst/>
          </a:prstGeom>
          <a:noFill/>
          <a:ln/>
        </p:spPr>
        <p:txBody>
          <a:bodyPr wrap="square" lIns="0" tIns="0" rIns="0" bIns="0" rtlCol="0" anchor="ctr"/>
          <a:lstStyle/>
          <a:p>
            <a:pPr indent="0" marL="0">
              <a:buNone/>
            </a:pPr>
            <a:r>
              <a:rPr lang="en-US" sz="1150" dirty="0">
                <a:solidFill>
                  <a:srgbClr val="495466"/>
                </a:solidFill>
              </a:rPr>
              <a:t>Swimlanes, stakeholder-friendly review branches, decision logic</a:t>
            </a:r>
            <a:endParaRPr lang="en-US" sz="1150" dirty="0"/>
          </a:p>
        </p:txBody>
      </p:sp>
      <p:sp>
        <p:nvSpPr>
          <p:cNvPr id="15" name="Shape 13"/>
          <p:cNvSpPr/>
          <p:nvPr/>
        </p:nvSpPr>
        <p:spPr>
          <a:xfrm>
            <a:off x="1810512" y="3493008"/>
            <a:ext cx="0" cy="320040"/>
          </a:xfrm>
          <a:prstGeom prst="line">
            <a:avLst/>
          </a:prstGeom>
          <a:noFill/>
          <a:ln w="17780">
            <a:solidFill>
              <a:srgbClr val="B7C2D0"/>
            </a:solidFill>
            <a:prstDash val="solid"/>
            <a:headEnd type="none"/>
            <a:tailEnd type="triangle"/>
          </a:ln>
        </p:spPr>
      </p:sp>
      <p:sp>
        <p:nvSpPr>
          <p:cNvPr id="16" name="Shape 14"/>
          <p:cNvSpPr/>
          <p:nvPr/>
        </p:nvSpPr>
        <p:spPr>
          <a:xfrm>
            <a:off x="822960" y="4014216"/>
            <a:ext cx="2011680" cy="594360"/>
          </a:xfrm>
          <a:prstGeom prst="roundRect">
            <a:avLst>
              <a:gd name="adj" fmla="val 9231"/>
            </a:avLst>
          </a:prstGeom>
          <a:solidFill>
            <a:srgbClr val="DFF4EA"/>
          </a:solidFill>
          <a:ln w="12700">
            <a:solidFill>
              <a:srgbClr val="2563EB"/>
            </a:solidFill>
            <a:prstDash val="solid"/>
          </a:ln>
        </p:spPr>
      </p:sp>
      <p:sp>
        <p:nvSpPr>
          <p:cNvPr id="17" name="Text 15"/>
          <p:cNvSpPr/>
          <p:nvPr/>
        </p:nvSpPr>
        <p:spPr>
          <a:xfrm>
            <a:off x="896112" y="4087368"/>
            <a:ext cx="1865376" cy="448056"/>
          </a:xfrm>
          <a:prstGeom prst="rect">
            <a:avLst/>
          </a:prstGeom>
          <a:noFill/>
          <a:ln/>
        </p:spPr>
        <p:txBody>
          <a:bodyPr wrap="square" lIns="0" tIns="0" rIns="0" bIns="0" rtlCol="0" anchor="ctr">
            <a:normAutofit/>
          </a:bodyPr>
          <a:lstStyle/>
          <a:p>
            <a:pPr algn="ctr" indent="0" marL="0">
              <a:buNone/>
            </a:pPr>
            <a:r>
              <a:rPr lang="en-US" sz="1500" b="1" dirty="0">
                <a:solidFill>
                  <a:srgbClr val="0B1F3A"/>
                </a:solidFill>
              </a:rPr>
              <a:t>PowerPoint</a:t>
            </a:r>
            <a:endParaRPr lang="en-US" sz="1500" dirty="0"/>
          </a:p>
        </p:txBody>
      </p:sp>
      <p:sp>
        <p:nvSpPr>
          <p:cNvPr id="18" name="Text 16"/>
          <p:cNvSpPr/>
          <p:nvPr/>
        </p:nvSpPr>
        <p:spPr>
          <a:xfrm>
            <a:off x="3154680" y="4041648"/>
            <a:ext cx="2743200" cy="246888"/>
          </a:xfrm>
          <a:prstGeom prst="rect">
            <a:avLst/>
          </a:prstGeom>
          <a:noFill/>
          <a:ln/>
        </p:spPr>
        <p:txBody>
          <a:bodyPr wrap="square" lIns="0" tIns="0" rIns="0" bIns="0" rtlCol="0" anchor="ctr"/>
          <a:lstStyle/>
          <a:p>
            <a:pPr indent="0" marL="0">
              <a:buNone/>
            </a:pPr>
            <a:r>
              <a:rPr lang="en-US" sz="1500" b="1" dirty="0">
                <a:solidFill>
                  <a:srgbClr val="0B1F3A"/>
                </a:solidFill>
              </a:rPr>
              <a:t>Final presentation</a:t>
            </a:r>
            <a:endParaRPr lang="en-US" sz="1500" dirty="0"/>
          </a:p>
        </p:txBody>
      </p:sp>
      <p:sp>
        <p:nvSpPr>
          <p:cNvPr id="19" name="Text 17"/>
          <p:cNvSpPr/>
          <p:nvPr/>
        </p:nvSpPr>
        <p:spPr>
          <a:xfrm>
            <a:off x="3154680" y="4352544"/>
            <a:ext cx="6309360" cy="256032"/>
          </a:xfrm>
          <a:prstGeom prst="rect">
            <a:avLst/>
          </a:prstGeom>
          <a:noFill/>
          <a:ln/>
        </p:spPr>
        <p:txBody>
          <a:bodyPr wrap="square" lIns="0" tIns="0" rIns="0" bIns="0" rtlCol="0" anchor="ctr"/>
          <a:lstStyle/>
          <a:p>
            <a:pPr indent="0" marL="0">
              <a:buNone/>
            </a:pPr>
            <a:r>
              <a:rPr lang="en-US" sz="1150" dirty="0">
                <a:solidFill>
                  <a:srgbClr val="495466"/>
                </a:solidFill>
              </a:rPr>
              <a:t>Client-ready story, corporate theme, exportable proposal deck</a:t>
            </a:r>
            <a:endParaRPr lang="en-US" sz="1150" dirty="0"/>
          </a:p>
        </p:txBody>
      </p:sp>
      <p:sp>
        <p:nvSpPr>
          <p:cNvPr id="20" name="Shape 18"/>
          <p:cNvSpPr/>
          <p:nvPr/>
        </p:nvSpPr>
        <p:spPr>
          <a:xfrm>
            <a:off x="822960" y="5623560"/>
            <a:ext cx="9966960" cy="502920"/>
          </a:xfrm>
          <a:prstGeom prst="rect">
            <a:avLst/>
          </a:prstGeom>
          <a:solidFill>
            <a:srgbClr val="F8FAFC"/>
          </a:solidFill>
          <a:ln w="12700">
            <a:solidFill>
              <a:srgbClr val="CBD5E1"/>
            </a:solidFill>
            <a:prstDash val="solid"/>
          </a:ln>
        </p:spPr>
      </p:sp>
      <p:sp>
        <p:nvSpPr>
          <p:cNvPr id="21" name="Text 19"/>
          <p:cNvSpPr/>
          <p:nvPr/>
        </p:nvSpPr>
        <p:spPr>
          <a:xfrm>
            <a:off x="1005840" y="5769864"/>
            <a:ext cx="9692640" cy="164592"/>
          </a:xfrm>
          <a:prstGeom prst="rect">
            <a:avLst/>
          </a:prstGeom>
          <a:noFill/>
          <a:ln/>
        </p:spPr>
        <p:txBody>
          <a:bodyPr wrap="square" lIns="0" tIns="0" rIns="0" bIns="0" rtlCol="0" anchor="ctr"/>
          <a:lstStyle/>
          <a:p>
            <a:pPr indent="0" marL="0">
              <a:buNone/>
            </a:pPr>
            <a:r>
              <a:rPr lang="en-US" sz="1200" b="1" dirty="0">
                <a:solidFill>
                  <a:srgbClr val="0B1F3A"/>
                </a:solidFill>
              </a:rPr>
              <a:t>Practical sequence: create diagrams → export SVG → insert into PowerPoint → add business callouts.</a:t>
            </a:r>
            <a:endParaRPr lang="en-US" sz="1200" dirty="0"/>
          </a:p>
        </p:txBody>
      </p:sp>
      <p:sp>
        <p:nvSpPr>
          <p:cNvPr id="22" name="Text 20"/>
          <p:cNvSpPr/>
          <p:nvPr/>
        </p:nvSpPr>
        <p:spPr>
          <a:xfrm>
            <a:off x="11448288" y="6492240"/>
            <a:ext cx="347472" cy="164592"/>
          </a:xfrm>
          <a:prstGeom prst="rect">
            <a:avLst/>
          </a:prstGeom>
          <a:noFill/>
          <a:ln/>
        </p:spPr>
        <p:txBody>
          <a:bodyPr wrap="square" lIns="0" tIns="0" rIns="0" bIns="0" rtlCol="0" anchor="ctr"/>
          <a:lstStyle/>
          <a:p>
            <a:pPr algn="r" indent="0" marL="0">
              <a:buNone/>
            </a:pPr>
            <a:r>
              <a:rPr lang="en-US" sz="800" dirty="0">
                <a:solidFill>
                  <a:srgbClr val="495466"/>
                </a:solidFill>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563EB"/>
          </a:solidFill>
          <a:ln w="12700">
            <a:solidFill>
              <a:srgbClr val="2563EB"/>
            </a:solidFill>
            <a:prstDash val="solid"/>
          </a:ln>
        </p:spPr>
      </p:sp>
      <p:sp>
        <p:nvSpPr>
          <p:cNvPr id="3" name="Text 1"/>
          <p:cNvSpPr/>
          <p:nvPr/>
        </p:nvSpPr>
        <p:spPr>
          <a:xfrm>
            <a:off x="502920" y="292608"/>
            <a:ext cx="3474720" cy="201168"/>
          </a:xfrm>
          <a:prstGeom prst="rect">
            <a:avLst/>
          </a:prstGeom>
          <a:noFill/>
          <a:ln/>
        </p:spPr>
        <p:txBody>
          <a:bodyPr wrap="square" lIns="0" tIns="0" rIns="0" bIns="0" rtlCol="0" anchor="ctr"/>
          <a:lstStyle/>
          <a:p>
            <a:pPr indent="0" marL="0">
              <a:buNone/>
            </a:pPr>
            <a:r>
              <a:rPr lang="en-US" sz="850" b="1" dirty="0">
                <a:solidFill>
                  <a:srgbClr val="2563EB"/>
                </a:solidFill>
              </a:rPr>
              <a:t>ERASER DIAGRAM TARGET</a:t>
            </a:r>
            <a:endParaRPr lang="en-US" sz="850" dirty="0"/>
          </a:p>
        </p:txBody>
      </p:sp>
      <p:sp>
        <p:nvSpPr>
          <p:cNvPr id="4" name="Text 2"/>
          <p:cNvSpPr/>
          <p:nvPr/>
        </p:nvSpPr>
        <p:spPr>
          <a:xfrm>
            <a:off x="502920" y="548640"/>
            <a:ext cx="7772400" cy="384048"/>
          </a:xfrm>
          <a:prstGeom prst="rect">
            <a:avLst/>
          </a:prstGeom>
          <a:noFill/>
          <a:ln/>
        </p:spPr>
        <p:txBody>
          <a:bodyPr wrap="square" lIns="0" tIns="0" rIns="0" bIns="0" rtlCol="0" anchor="ctr"/>
          <a:lstStyle/>
          <a:p>
            <a:pPr indent="0" marL="0">
              <a:buNone/>
            </a:pPr>
            <a:r>
              <a:rPr lang="en-US" sz="2400" b="1" dirty="0">
                <a:solidFill>
                  <a:srgbClr val="0B1F3A"/>
                </a:solidFill>
              </a:rPr>
              <a:t>High-level solution architecture</a:t>
            </a:r>
            <a:endParaRPr lang="en-US" sz="2400" dirty="0"/>
          </a:p>
        </p:txBody>
      </p:sp>
      <p:sp>
        <p:nvSpPr>
          <p:cNvPr id="5" name="Text 3"/>
          <p:cNvSpPr/>
          <p:nvPr/>
        </p:nvSpPr>
        <p:spPr>
          <a:xfrm>
            <a:off x="8503920" y="594360"/>
            <a:ext cx="3108960" cy="228600"/>
          </a:xfrm>
          <a:prstGeom prst="rect">
            <a:avLst/>
          </a:prstGeom>
          <a:noFill/>
          <a:ln/>
        </p:spPr>
        <p:txBody>
          <a:bodyPr wrap="square" lIns="0" tIns="0" rIns="0" bIns="0" rtlCol="0" anchor="ctr"/>
          <a:lstStyle/>
          <a:p>
            <a:pPr algn="r" indent="0" marL="0">
              <a:buNone/>
            </a:pPr>
            <a:r>
              <a:rPr lang="en-US" sz="900" dirty="0">
                <a:solidFill>
                  <a:srgbClr val="495466"/>
                </a:solidFill>
              </a:rPr>
              <a:t>Document-to-Approved-Video Platform</a:t>
            </a:r>
            <a:endParaRPr lang="en-US" sz="900" dirty="0"/>
          </a:p>
        </p:txBody>
      </p:sp>
      <p:sp>
        <p:nvSpPr>
          <p:cNvPr id="6" name="Shape 4"/>
          <p:cNvSpPr/>
          <p:nvPr/>
        </p:nvSpPr>
        <p:spPr>
          <a:xfrm>
            <a:off x="502920" y="1417320"/>
            <a:ext cx="1645920" cy="777240"/>
          </a:xfrm>
          <a:prstGeom prst="roundRect">
            <a:avLst>
              <a:gd name="adj" fmla="val 7059"/>
            </a:avLst>
          </a:prstGeom>
          <a:solidFill>
            <a:srgbClr val="F3F5F8"/>
          </a:solidFill>
          <a:ln w="12700">
            <a:solidFill>
              <a:srgbClr val="B7C2D0"/>
            </a:solidFill>
            <a:prstDash val="solid"/>
          </a:ln>
        </p:spPr>
      </p:sp>
      <p:sp>
        <p:nvSpPr>
          <p:cNvPr id="7" name="Text 5"/>
          <p:cNvSpPr/>
          <p:nvPr/>
        </p:nvSpPr>
        <p:spPr>
          <a:xfrm>
            <a:off x="576072" y="1490472"/>
            <a:ext cx="1499616" cy="630936"/>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Users</a:t>
            </a:r>
            <a:endParaRPr lang="en-US" sz="950" dirty="0"/>
          </a:p>
          <a:p>
            <a:pPr algn="ctr" indent="0" marL="0">
              <a:buNone/>
            </a:pPr>
            <a:r>
              <a:rPr lang="en-US" sz="950" b="1" dirty="0">
                <a:solidFill>
                  <a:srgbClr val="0B1F3A"/>
                </a:solidFill>
              </a:rPr>
              <a:t>Creators · Reviewers · Approvers</a:t>
            </a:r>
            <a:endParaRPr lang="en-US" sz="950" dirty="0"/>
          </a:p>
        </p:txBody>
      </p:sp>
      <p:sp>
        <p:nvSpPr>
          <p:cNvPr id="8" name="Shape 6"/>
          <p:cNvSpPr/>
          <p:nvPr/>
        </p:nvSpPr>
        <p:spPr>
          <a:xfrm>
            <a:off x="2331720" y="1417320"/>
            <a:ext cx="1417320" cy="777240"/>
          </a:xfrm>
          <a:prstGeom prst="roundRect">
            <a:avLst>
              <a:gd name="adj" fmla="val 7059"/>
            </a:avLst>
          </a:prstGeom>
          <a:solidFill>
            <a:srgbClr val="EAF2FF"/>
          </a:solidFill>
          <a:ln w="12700">
            <a:solidFill>
              <a:srgbClr val="B7C2D0"/>
            </a:solidFill>
            <a:prstDash val="solid"/>
          </a:ln>
        </p:spPr>
      </p:sp>
      <p:sp>
        <p:nvSpPr>
          <p:cNvPr id="9" name="Text 7"/>
          <p:cNvSpPr/>
          <p:nvPr/>
        </p:nvSpPr>
        <p:spPr>
          <a:xfrm>
            <a:off x="2404872" y="1490472"/>
            <a:ext cx="1271016" cy="630936"/>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Azure Front Door</a:t>
            </a:r>
            <a:endParaRPr lang="en-US" sz="950" dirty="0"/>
          </a:p>
          <a:p>
            <a:pPr algn="ctr" indent="0" marL="0">
              <a:buNone/>
            </a:pPr>
            <a:r>
              <a:rPr lang="en-US" sz="950" b="1" dirty="0">
                <a:solidFill>
                  <a:srgbClr val="0B1F3A"/>
                </a:solidFill>
              </a:rPr>
              <a:t>+ WAF</a:t>
            </a:r>
            <a:endParaRPr lang="en-US" sz="950" dirty="0"/>
          </a:p>
        </p:txBody>
      </p:sp>
      <p:sp>
        <p:nvSpPr>
          <p:cNvPr id="10" name="Shape 8"/>
          <p:cNvSpPr/>
          <p:nvPr/>
        </p:nvSpPr>
        <p:spPr>
          <a:xfrm>
            <a:off x="3977640" y="1417320"/>
            <a:ext cx="1508760" cy="777240"/>
          </a:xfrm>
          <a:prstGeom prst="roundRect">
            <a:avLst>
              <a:gd name="adj" fmla="val 7059"/>
            </a:avLst>
          </a:prstGeom>
          <a:solidFill>
            <a:srgbClr val="EAF2FF"/>
          </a:solidFill>
          <a:ln w="12700">
            <a:solidFill>
              <a:srgbClr val="B7C2D0"/>
            </a:solidFill>
            <a:prstDash val="solid"/>
          </a:ln>
        </p:spPr>
      </p:sp>
      <p:sp>
        <p:nvSpPr>
          <p:cNvPr id="11" name="Text 9"/>
          <p:cNvSpPr/>
          <p:nvPr/>
        </p:nvSpPr>
        <p:spPr>
          <a:xfrm>
            <a:off x="4050792" y="1490472"/>
            <a:ext cx="1362456" cy="630936"/>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Next.js Portal</a:t>
            </a:r>
            <a:endParaRPr lang="en-US" sz="950" dirty="0"/>
          </a:p>
          <a:p>
            <a:pPr algn="ctr" indent="0" marL="0">
              <a:buNone/>
            </a:pPr>
            <a:r>
              <a:rPr lang="en-US" sz="950" b="1" dirty="0">
                <a:solidFill>
                  <a:srgbClr val="0B1F3A"/>
                </a:solidFill>
              </a:rPr>
              <a:t>Review + authoring</a:t>
            </a:r>
            <a:endParaRPr lang="en-US" sz="950" dirty="0"/>
          </a:p>
        </p:txBody>
      </p:sp>
      <p:sp>
        <p:nvSpPr>
          <p:cNvPr id="12" name="Shape 10"/>
          <p:cNvSpPr/>
          <p:nvPr/>
        </p:nvSpPr>
        <p:spPr>
          <a:xfrm>
            <a:off x="5715000" y="1417320"/>
            <a:ext cx="1600200" cy="777240"/>
          </a:xfrm>
          <a:prstGeom prst="roundRect">
            <a:avLst>
              <a:gd name="adj" fmla="val 7059"/>
            </a:avLst>
          </a:prstGeom>
          <a:solidFill>
            <a:srgbClr val="DFF7FF"/>
          </a:solidFill>
          <a:ln w="12700">
            <a:solidFill>
              <a:srgbClr val="B7C2D0"/>
            </a:solidFill>
            <a:prstDash val="solid"/>
          </a:ln>
        </p:spPr>
      </p:sp>
      <p:sp>
        <p:nvSpPr>
          <p:cNvPr id="13" name="Text 11"/>
          <p:cNvSpPr/>
          <p:nvPr/>
        </p:nvSpPr>
        <p:spPr>
          <a:xfrm>
            <a:off x="5788152" y="1490472"/>
            <a:ext cx="1453896" cy="630936"/>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FastAPI</a:t>
            </a:r>
            <a:endParaRPr lang="en-US" sz="950" dirty="0"/>
          </a:p>
          <a:p>
            <a:pPr algn="ctr" indent="0" marL="0">
              <a:buNone/>
            </a:pPr>
            <a:r>
              <a:rPr lang="en-US" sz="950" b="1" dirty="0">
                <a:solidFill>
                  <a:srgbClr val="0B1F3A"/>
                </a:solidFill>
              </a:rPr>
              <a:t>Azure Container Apps</a:t>
            </a:r>
            <a:endParaRPr lang="en-US" sz="950" dirty="0"/>
          </a:p>
        </p:txBody>
      </p:sp>
      <p:sp>
        <p:nvSpPr>
          <p:cNvPr id="14" name="Shape 12"/>
          <p:cNvSpPr/>
          <p:nvPr/>
        </p:nvSpPr>
        <p:spPr>
          <a:xfrm>
            <a:off x="7543800" y="1417320"/>
            <a:ext cx="1691640" cy="777240"/>
          </a:xfrm>
          <a:prstGeom prst="roundRect">
            <a:avLst>
              <a:gd name="adj" fmla="val 7059"/>
            </a:avLst>
          </a:prstGeom>
          <a:solidFill>
            <a:srgbClr val="EFE7FF"/>
          </a:solidFill>
          <a:ln w="12700">
            <a:solidFill>
              <a:srgbClr val="B7C2D0"/>
            </a:solidFill>
            <a:prstDash val="solid"/>
          </a:ln>
        </p:spPr>
      </p:sp>
      <p:sp>
        <p:nvSpPr>
          <p:cNvPr id="15" name="Text 13"/>
          <p:cNvSpPr/>
          <p:nvPr/>
        </p:nvSpPr>
        <p:spPr>
          <a:xfrm>
            <a:off x="7616952" y="1490472"/>
            <a:ext cx="1545336" cy="630936"/>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Controlled</a:t>
            </a:r>
            <a:endParaRPr lang="en-US" sz="950" dirty="0"/>
          </a:p>
          <a:p>
            <a:pPr algn="ctr" indent="0" marL="0">
              <a:buNone/>
            </a:pPr>
            <a:r>
              <a:rPr lang="en-US" sz="950" b="1" dirty="0">
                <a:solidFill>
                  <a:srgbClr val="0B1F3A"/>
                </a:solidFill>
              </a:rPr>
              <a:t>LangGraph Workflow</a:t>
            </a:r>
            <a:endParaRPr lang="en-US" sz="950" dirty="0"/>
          </a:p>
        </p:txBody>
      </p:sp>
      <p:sp>
        <p:nvSpPr>
          <p:cNvPr id="16" name="Shape 14"/>
          <p:cNvSpPr/>
          <p:nvPr/>
        </p:nvSpPr>
        <p:spPr>
          <a:xfrm>
            <a:off x="9464040" y="1417320"/>
            <a:ext cx="1828800" cy="777240"/>
          </a:xfrm>
          <a:prstGeom prst="roundRect">
            <a:avLst>
              <a:gd name="adj" fmla="val 7059"/>
            </a:avLst>
          </a:prstGeom>
          <a:solidFill>
            <a:srgbClr val="FFF0D6"/>
          </a:solidFill>
          <a:ln w="12700">
            <a:solidFill>
              <a:srgbClr val="B7C2D0"/>
            </a:solidFill>
            <a:prstDash val="solid"/>
          </a:ln>
        </p:spPr>
      </p:sp>
      <p:sp>
        <p:nvSpPr>
          <p:cNvPr id="17" name="Text 15"/>
          <p:cNvSpPr/>
          <p:nvPr/>
        </p:nvSpPr>
        <p:spPr>
          <a:xfrm>
            <a:off x="9537192" y="1490472"/>
            <a:ext cx="1682496" cy="630936"/>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Media Job Control</a:t>
            </a:r>
            <a:endParaRPr lang="en-US" sz="950" dirty="0"/>
          </a:p>
          <a:p>
            <a:pPr algn="ctr" indent="0" marL="0">
              <a:buNone/>
            </a:pPr>
            <a:r>
              <a:rPr lang="en-US" sz="950" b="1" dirty="0">
                <a:solidFill>
                  <a:srgbClr val="0B1F3A"/>
                </a:solidFill>
              </a:rPr>
              <a:t>+ Dependency Service</a:t>
            </a:r>
            <a:endParaRPr lang="en-US" sz="950" dirty="0"/>
          </a:p>
        </p:txBody>
      </p:sp>
      <p:sp>
        <p:nvSpPr>
          <p:cNvPr id="18" name="Shape 16"/>
          <p:cNvSpPr/>
          <p:nvPr/>
        </p:nvSpPr>
        <p:spPr>
          <a:xfrm>
            <a:off x="2194560" y="1810512"/>
            <a:ext cx="64008" cy="0"/>
          </a:xfrm>
          <a:prstGeom prst="line">
            <a:avLst/>
          </a:prstGeom>
          <a:noFill/>
          <a:ln w="17780">
            <a:solidFill>
              <a:srgbClr val="2563EB"/>
            </a:solidFill>
            <a:prstDash val="solid"/>
            <a:headEnd type="none"/>
            <a:tailEnd type="triangle"/>
          </a:ln>
        </p:spPr>
      </p:sp>
      <p:sp>
        <p:nvSpPr>
          <p:cNvPr id="19" name="Shape 17"/>
          <p:cNvSpPr/>
          <p:nvPr/>
        </p:nvSpPr>
        <p:spPr>
          <a:xfrm>
            <a:off x="3794760" y="1810512"/>
            <a:ext cx="109728" cy="0"/>
          </a:xfrm>
          <a:prstGeom prst="line">
            <a:avLst/>
          </a:prstGeom>
          <a:noFill/>
          <a:ln w="17780">
            <a:solidFill>
              <a:srgbClr val="2563EB"/>
            </a:solidFill>
            <a:prstDash val="solid"/>
            <a:headEnd type="none"/>
            <a:tailEnd type="triangle"/>
          </a:ln>
        </p:spPr>
      </p:sp>
      <p:sp>
        <p:nvSpPr>
          <p:cNvPr id="20" name="Shape 18"/>
          <p:cNvSpPr/>
          <p:nvPr/>
        </p:nvSpPr>
        <p:spPr>
          <a:xfrm>
            <a:off x="5532120" y="1810512"/>
            <a:ext cx="109728" cy="0"/>
          </a:xfrm>
          <a:prstGeom prst="line">
            <a:avLst/>
          </a:prstGeom>
          <a:noFill/>
          <a:ln w="17780">
            <a:solidFill>
              <a:srgbClr val="2563EB"/>
            </a:solidFill>
            <a:prstDash val="solid"/>
            <a:headEnd type="none"/>
            <a:tailEnd type="triangle"/>
          </a:ln>
        </p:spPr>
      </p:sp>
      <p:sp>
        <p:nvSpPr>
          <p:cNvPr id="21" name="Shape 19"/>
          <p:cNvSpPr/>
          <p:nvPr/>
        </p:nvSpPr>
        <p:spPr>
          <a:xfrm>
            <a:off x="7360920" y="1810512"/>
            <a:ext cx="109728" cy="0"/>
          </a:xfrm>
          <a:prstGeom prst="line">
            <a:avLst/>
          </a:prstGeom>
          <a:noFill/>
          <a:ln w="17780">
            <a:solidFill>
              <a:srgbClr val="2563EB"/>
            </a:solidFill>
            <a:prstDash val="solid"/>
            <a:headEnd type="none"/>
            <a:tailEnd type="triangle"/>
          </a:ln>
        </p:spPr>
      </p:sp>
      <p:sp>
        <p:nvSpPr>
          <p:cNvPr id="22" name="Shape 20"/>
          <p:cNvSpPr/>
          <p:nvPr/>
        </p:nvSpPr>
        <p:spPr>
          <a:xfrm>
            <a:off x="9281160" y="1810512"/>
            <a:ext cx="109728" cy="0"/>
          </a:xfrm>
          <a:prstGeom prst="line">
            <a:avLst/>
          </a:prstGeom>
          <a:noFill/>
          <a:ln w="17780">
            <a:solidFill>
              <a:srgbClr val="2563EB"/>
            </a:solidFill>
            <a:prstDash val="solid"/>
            <a:headEnd type="none"/>
            <a:tailEnd type="triangle"/>
          </a:ln>
        </p:spPr>
      </p:sp>
      <p:sp>
        <p:nvSpPr>
          <p:cNvPr id="23" name="Shape 21"/>
          <p:cNvSpPr/>
          <p:nvPr/>
        </p:nvSpPr>
        <p:spPr>
          <a:xfrm>
            <a:off x="3840480" y="2834640"/>
            <a:ext cx="4480560" cy="731520"/>
          </a:xfrm>
          <a:prstGeom prst="roundRect">
            <a:avLst>
              <a:gd name="adj" fmla="val 7500"/>
            </a:avLst>
          </a:prstGeom>
          <a:solidFill>
            <a:srgbClr val="DFF4EA"/>
          </a:solidFill>
          <a:ln w="12700">
            <a:solidFill>
              <a:srgbClr val="57B978"/>
            </a:solidFill>
            <a:prstDash val="solid"/>
          </a:ln>
        </p:spPr>
      </p:sp>
      <p:sp>
        <p:nvSpPr>
          <p:cNvPr id="24" name="Text 22"/>
          <p:cNvSpPr/>
          <p:nvPr/>
        </p:nvSpPr>
        <p:spPr>
          <a:xfrm>
            <a:off x="3913632" y="2907792"/>
            <a:ext cx="4334256" cy="585216"/>
          </a:xfrm>
          <a:prstGeom prst="rect">
            <a:avLst/>
          </a:prstGeom>
          <a:noFill/>
          <a:ln/>
        </p:spPr>
        <p:txBody>
          <a:bodyPr wrap="square" lIns="0" tIns="0" rIns="0" bIns="0" rtlCol="0" anchor="ctr">
            <a:normAutofit/>
          </a:bodyPr>
          <a:lstStyle/>
          <a:p>
            <a:pPr algn="ctr" indent="0" marL="0">
              <a:buNone/>
            </a:pPr>
            <a:r>
              <a:rPr lang="en-US" sz="1050" b="1" dirty="0">
                <a:solidFill>
                  <a:srgbClr val="0B1F3A"/>
                </a:solidFill>
              </a:rPr>
              <a:t>AI + Content Services</a:t>
            </a:r>
            <a:endParaRPr lang="en-US" sz="1050" dirty="0"/>
          </a:p>
          <a:p>
            <a:pPr algn="ctr" indent="0" marL="0">
              <a:buNone/>
            </a:pPr>
            <a:r>
              <a:rPr lang="en-US" sz="1050" b="1" dirty="0">
                <a:solidFill>
                  <a:srgbClr val="0B1F3A"/>
                </a:solidFill>
              </a:rPr>
              <a:t>Foundry · Content Understanding · AI Search · Translator · Speech</a:t>
            </a:r>
            <a:endParaRPr lang="en-US" sz="1050" dirty="0"/>
          </a:p>
        </p:txBody>
      </p:sp>
      <p:sp>
        <p:nvSpPr>
          <p:cNvPr id="25" name="Shape 23"/>
          <p:cNvSpPr/>
          <p:nvPr/>
        </p:nvSpPr>
        <p:spPr>
          <a:xfrm>
            <a:off x="8823960" y="2834640"/>
            <a:ext cx="1554480" cy="502920"/>
          </a:xfrm>
          <a:prstGeom prst="roundRect">
            <a:avLst>
              <a:gd name="adj" fmla="val 10909"/>
            </a:avLst>
          </a:prstGeom>
          <a:solidFill>
            <a:srgbClr val="EAF2FF"/>
          </a:solidFill>
          <a:ln w="12700">
            <a:solidFill>
              <a:srgbClr val="2563EB"/>
            </a:solidFill>
            <a:prstDash val="solid"/>
          </a:ln>
        </p:spPr>
      </p:sp>
      <p:sp>
        <p:nvSpPr>
          <p:cNvPr id="26" name="Text 24"/>
          <p:cNvSpPr/>
          <p:nvPr/>
        </p:nvSpPr>
        <p:spPr>
          <a:xfrm>
            <a:off x="8897112" y="2907792"/>
            <a:ext cx="1408176" cy="356616"/>
          </a:xfrm>
          <a:prstGeom prst="rect">
            <a:avLst/>
          </a:prstGeom>
          <a:noFill/>
          <a:ln/>
        </p:spPr>
        <p:txBody>
          <a:bodyPr wrap="square" lIns="0" tIns="0" rIns="0" bIns="0" rtlCol="0" anchor="ctr">
            <a:normAutofit/>
          </a:bodyPr>
          <a:lstStyle/>
          <a:p>
            <a:pPr algn="ctr" indent="0" marL="0">
              <a:buNone/>
            </a:pPr>
            <a:r>
              <a:rPr lang="en-US" sz="980" b="1" dirty="0">
                <a:solidFill>
                  <a:srgbClr val="0B1F3A"/>
                </a:solidFill>
              </a:rPr>
              <a:t>Azure Service Bus</a:t>
            </a:r>
            <a:endParaRPr lang="en-US" sz="980" dirty="0"/>
          </a:p>
        </p:txBody>
      </p:sp>
      <p:sp>
        <p:nvSpPr>
          <p:cNvPr id="27" name="Shape 25"/>
          <p:cNvSpPr/>
          <p:nvPr/>
        </p:nvSpPr>
        <p:spPr>
          <a:xfrm>
            <a:off x="8458200" y="3703320"/>
            <a:ext cx="2331720" cy="731520"/>
          </a:xfrm>
          <a:prstGeom prst="roundRect">
            <a:avLst>
              <a:gd name="adj" fmla="val 7500"/>
            </a:avLst>
          </a:prstGeom>
          <a:solidFill>
            <a:srgbClr val="DFF7FF"/>
          </a:solidFill>
          <a:ln w="12700">
            <a:solidFill>
              <a:srgbClr val="27A3C2"/>
            </a:solidFill>
            <a:prstDash val="solid"/>
          </a:ln>
        </p:spPr>
      </p:sp>
      <p:sp>
        <p:nvSpPr>
          <p:cNvPr id="28" name="Text 26"/>
          <p:cNvSpPr/>
          <p:nvPr/>
        </p:nvSpPr>
        <p:spPr>
          <a:xfrm>
            <a:off x="8531352" y="3776472"/>
            <a:ext cx="2185416" cy="585216"/>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Container Apps Jobs</a:t>
            </a:r>
            <a:endParaRPr lang="en-US" sz="950" dirty="0"/>
          </a:p>
          <a:p>
            <a:pPr algn="ctr" indent="0" marL="0">
              <a:buNone/>
            </a:pPr>
            <a:r>
              <a:rPr lang="en-US" sz="950" b="1" dirty="0">
                <a:solidFill>
                  <a:srgbClr val="0B1F3A"/>
                </a:solidFill>
              </a:rPr>
              <a:t>Speech · Subtitle · Remotion · FFmpeg · Quality</a:t>
            </a:r>
            <a:endParaRPr lang="en-US" sz="950" dirty="0"/>
          </a:p>
        </p:txBody>
      </p:sp>
      <p:sp>
        <p:nvSpPr>
          <p:cNvPr id="29" name="Shape 27"/>
          <p:cNvSpPr/>
          <p:nvPr/>
        </p:nvSpPr>
        <p:spPr>
          <a:xfrm>
            <a:off x="3657600" y="4983480"/>
            <a:ext cx="4754880" cy="731520"/>
          </a:xfrm>
          <a:prstGeom prst="roundRect">
            <a:avLst>
              <a:gd name="adj" fmla="val 7500"/>
            </a:avLst>
          </a:prstGeom>
          <a:solidFill>
            <a:srgbClr val="F3F5F8"/>
          </a:solidFill>
          <a:ln w="12700">
            <a:solidFill>
              <a:srgbClr val="B7C2D0"/>
            </a:solidFill>
            <a:prstDash val="solid"/>
          </a:ln>
        </p:spPr>
      </p:sp>
      <p:sp>
        <p:nvSpPr>
          <p:cNvPr id="30" name="Text 28"/>
          <p:cNvSpPr/>
          <p:nvPr/>
        </p:nvSpPr>
        <p:spPr>
          <a:xfrm>
            <a:off x="3730752" y="5056632"/>
            <a:ext cx="4608576" cy="585216"/>
          </a:xfrm>
          <a:prstGeom prst="rect">
            <a:avLst/>
          </a:prstGeom>
          <a:noFill/>
          <a:ln/>
        </p:spPr>
        <p:txBody>
          <a:bodyPr wrap="square" lIns="0" tIns="0" rIns="0" bIns="0" rtlCol="0" anchor="ctr">
            <a:normAutofit/>
          </a:bodyPr>
          <a:lstStyle/>
          <a:p>
            <a:pPr algn="ctr" indent="0" marL="0">
              <a:buNone/>
            </a:pPr>
            <a:r>
              <a:rPr lang="en-US" sz="1020" b="1" dirty="0">
                <a:solidFill>
                  <a:srgbClr val="0B1F3A"/>
                </a:solidFill>
              </a:rPr>
              <a:t>Blob Storage / ADLS Gen2</a:t>
            </a:r>
            <a:endParaRPr lang="en-US" sz="1020" dirty="0"/>
          </a:p>
          <a:p>
            <a:pPr algn="ctr" indent="0" marL="0">
              <a:buNone/>
            </a:pPr>
            <a:r>
              <a:rPr lang="en-US" sz="1020" b="1" dirty="0">
                <a:solidFill>
                  <a:srgbClr val="0B1F3A"/>
                </a:solidFill>
              </a:rPr>
              <a:t>Documents · Assets · Audio · Scene renders · Final videos</a:t>
            </a:r>
            <a:endParaRPr lang="en-US" sz="1020" dirty="0"/>
          </a:p>
        </p:txBody>
      </p:sp>
      <p:sp>
        <p:nvSpPr>
          <p:cNvPr id="31" name="Shape 29"/>
          <p:cNvSpPr/>
          <p:nvPr/>
        </p:nvSpPr>
        <p:spPr>
          <a:xfrm>
            <a:off x="822960" y="4937760"/>
            <a:ext cx="2286000" cy="713232"/>
          </a:xfrm>
          <a:prstGeom prst="roundRect">
            <a:avLst>
              <a:gd name="adj" fmla="val 7692"/>
            </a:avLst>
          </a:prstGeom>
          <a:solidFill>
            <a:srgbClr val="F3F5F8"/>
          </a:solidFill>
          <a:ln w="12700">
            <a:solidFill>
              <a:srgbClr val="B7C2D0"/>
            </a:solidFill>
            <a:prstDash val="solid"/>
          </a:ln>
        </p:spPr>
      </p:sp>
      <p:sp>
        <p:nvSpPr>
          <p:cNvPr id="32" name="Text 30"/>
          <p:cNvSpPr/>
          <p:nvPr/>
        </p:nvSpPr>
        <p:spPr>
          <a:xfrm>
            <a:off x="896112" y="5010912"/>
            <a:ext cx="2139696" cy="566928"/>
          </a:xfrm>
          <a:prstGeom prst="rect">
            <a:avLst/>
          </a:prstGeom>
          <a:noFill/>
          <a:ln/>
        </p:spPr>
        <p:txBody>
          <a:bodyPr wrap="square" lIns="0" tIns="0" rIns="0" bIns="0" rtlCol="0" anchor="ctr">
            <a:normAutofit/>
          </a:bodyPr>
          <a:lstStyle/>
          <a:p>
            <a:pPr algn="ctr" indent="0" marL="0">
              <a:buNone/>
            </a:pPr>
            <a:r>
              <a:rPr lang="en-US" sz="940" b="1" dirty="0">
                <a:solidFill>
                  <a:srgbClr val="0B1F3A"/>
                </a:solidFill>
              </a:rPr>
              <a:t>PostgreSQL</a:t>
            </a:r>
            <a:endParaRPr lang="en-US" sz="940" dirty="0"/>
          </a:p>
          <a:p>
            <a:pPr algn="ctr" indent="0" marL="0">
              <a:buNone/>
            </a:pPr>
            <a:r>
              <a:rPr lang="en-US" sz="940" b="1" dirty="0">
                <a:solidFill>
                  <a:srgbClr val="0B1F3A"/>
                </a:solidFill>
              </a:rPr>
              <a:t>Projects · approvals · artifacts · checkpoints</a:t>
            </a:r>
            <a:endParaRPr lang="en-US" sz="940" dirty="0"/>
          </a:p>
        </p:txBody>
      </p:sp>
      <p:sp>
        <p:nvSpPr>
          <p:cNvPr id="33" name="Shape 31"/>
          <p:cNvSpPr/>
          <p:nvPr/>
        </p:nvSpPr>
        <p:spPr>
          <a:xfrm>
            <a:off x="9006840" y="4937760"/>
            <a:ext cx="2514600" cy="713232"/>
          </a:xfrm>
          <a:prstGeom prst="roundRect">
            <a:avLst>
              <a:gd name="adj" fmla="val 7692"/>
            </a:avLst>
          </a:prstGeom>
          <a:solidFill>
            <a:srgbClr val="F3F5F8"/>
          </a:solidFill>
          <a:ln w="12700">
            <a:solidFill>
              <a:srgbClr val="B7C2D0"/>
            </a:solidFill>
            <a:prstDash val="solid"/>
          </a:ln>
        </p:spPr>
      </p:sp>
      <p:sp>
        <p:nvSpPr>
          <p:cNvPr id="34" name="Text 32"/>
          <p:cNvSpPr/>
          <p:nvPr/>
        </p:nvSpPr>
        <p:spPr>
          <a:xfrm>
            <a:off x="9079992" y="5010912"/>
            <a:ext cx="2368296" cy="566928"/>
          </a:xfrm>
          <a:prstGeom prst="rect">
            <a:avLst/>
          </a:prstGeom>
          <a:noFill/>
          <a:ln/>
        </p:spPr>
        <p:txBody>
          <a:bodyPr wrap="square" lIns="0" tIns="0" rIns="0" bIns="0" rtlCol="0" anchor="ctr">
            <a:normAutofit/>
          </a:bodyPr>
          <a:lstStyle/>
          <a:p>
            <a:pPr algn="ctr" indent="0" marL="0">
              <a:buNone/>
            </a:pPr>
            <a:r>
              <a:rPr lang="en-US" sz="940" b="1" dirty="0">
                <a:solidFill>
                  <a:srgbClr val="0B1F3A"/>
                </a:solidFill>
              </a:rPr>
              <a:t>Security + Observability</a:t>
            </a:r>
            <a:endParaRPr lang="en-US" sz="940" dirty="0"/>
          </a:p>
          <a:p>
            <a:pPr algn="ctr" indent="0" marL="0">
              <a:buNone/>
            </a:pPr>
            <a:r>
              <a:rPr lang="en-US" sz="940" b="1" dirty="0">
                <a:solidFill>
                  <a:srgbClr val="0B1F3A"/>
                </a:solidFill>
              </a:rPr>
              <a:t>Entra ID · Key Vault · App Insights · Foundry tracing</a:t>
            </a:r>
            <a:endParaRPr lang="en-US" sz="940" dirty="0"/>
          </a:p>
        </p:txBody>
      </p:sp>
      <p:sp>
        <p:nvSpPr>
          <p:cNvPr id="35" name="Shape 33"/>
          <p:cNvSpPr/>
          <p:nvPr/>
        </p:nvSpPr>
        <p:spPr>
          <a:xfrm>
            <a:off x="8394192" y="3200400"/>
            <a:ext cx="338328" cy="0"/>
          </a:xfrm>
          <a:prstGeom prst="line">
            <a:avLst/>
          </a:prstGeom>
          <a:noFill/>
          <a:ln w="17780">
            <a:solidFill>
              <a:srgbClr val="2563EB"/>
            </a:solidFill>
            <a:prstDash val="solid"/>
            <a:headEnd type="none"/>
            <a:tailEnd type="triangle"/>
          </a:ln>
        </p:spPr>
      </p:sp>
      <p:sp>
        <p:nvSpPr>
          <p:cNvPr id="36" name="Shape 34"/>
          <p:cNvSpPr/>
          <p:nvPr/>
        </p:nvSpPr>
        <p:spPr>
          <a:xfrm>
            <a:off x="9601200" y="3337560"/>
            <a:ext cx="0" cy="320040"/>
          </a:xfrm>
          <a:prstGeom prst="line">
            <a:avLst/>
          </a:prstGeom>
          <a:noFill/>
          <a:ln w="17780">
            <a:solidFill>
              <a:srgbClr val="2563EB"/>
            </a:solidFill>
            <a:prstDash val="solid"/>
            <a:headEnd type="none"/>
            <a:tailEnd type="triangle"/>
          </a:ln>
        </p:spPr>
      </p:sp>
      <p:sp>
        <p:nvSpPr>
          <p:cNvPr id="37" name="Shape 35"/>
          <p:cNvSpPr/>
          <p:nvPr/>
        </p:nvSpPr>
        <p:spPr>
          <a:xfrm>
            <a:off x="9582912" y="4480560"/>
            <a:ext cx="-1536192" cy="502920"/>
          </a:xfrm>
          <a:prstGeom prst="line">
            <a:avLst/>
          </a:prstGeom>
          <a:noFill/>
          <a:ln w="17780">
            <a:solidFill>
              <a:srgbClr val="2563EB"/>
            </a:solidFill>
            <a:prstDash val="solid"/>
            <a:headEnd type="none"/>
            <a:tailEnd type="triangle"/>
          </a:ln>
        </p:spPr>
      </p:sp>
      <p:sp>
        <p:nvSpPr>
          <p:cNvPr id="38" name="Shape 36"/>
          <p:cNvSpPr/>
          <p:nvPr/>
        </p:nvSpPr>
        <p:spPr>
          <a:xfrm>
            <a:off x="8183880" y="2194560"/>
            <a:ext cx="-2057400" cy="621792"/>
          </a:xfrm>
          <a:prstGeom prst="line">
            <a:avLst/>
          </a:prstGeom>
          <a:noFill/>
          <a:ln w="17780">
            <a:solidFill>
              <a:srgbClr val="B7C2D0"/>
            </a:solidFill>
            <a:prstDash val="solid"/>
            <a:headEnd type="none"/>
            <a:tailEnd type="triangle"/>
          </a:ln>
        </p:spPr>
      </p:sp>
      <p:sp>
        <p:nvSpPr>
          <p:cNvPr id="39" name="Shape 37"/>
          <p:cNvSpPr/>
          <p:nvPr/>
        </p:nvSpPr>
        <p:spPr>
          <a:xfrm>
            <a:off x="8183880" y="2194560"/>
            <a:ext cx="-3429000" cy="2761488"/>
          </a:xfrm>
          <a:prstGeom prst="line">
            <a:avLst/>
          </a:prstGeom>
          <a:noFill/>
          <a:ln w="17780">
            <a:solidFill>
              <a:srgbClr val="B7C2D0"/>
            </a:solidFill>
            <a:prstDash val="solid"/>
            <a:headEnd type="none"/>
            <a:tailEnd type="triangle"/>
          </a:ln>
        </p:spPr>
      </p:sp>
      <p:sp>
        <p:nvSpPr>
          <p:cNvPr id="40" name="Text 38"/>
          <p:cNvSpPr/>
          <p:nvPr/>
        </p:nvSpPr>
        <p:spPr>
          <a:xfrm>
            <a:off x="11448288" y="6492240"/>
            <a:ext cx="347472" cy="164592"/>
          </a:xfrm>
          <a:prstGeom prst="rect">
            <a:avLst/>
          </a:prstGeom>
          <a:noFill/>
          <a:ln/>
        </p:spPr>
        <p:txBody>
          <a:bodyPr wrap="square" lIns="0" tIns="0" rIns="0" bIns="0" rtlCol="0" anchor="ctr"/>
          <a:lstStyle/>
          <a:p>
            <a:pPr algn="r" indent="0" marL="0">
              <a:buNone/>
            </a:pPr>
            <a:r>
              <a:rPr lang="en-US" sz="800" dirty="0">
                <a:solidFill>
                  <a:srgbClr val="495466"/>
                </a:solidFill>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563EB"/>
          </a:solidFill>
          <a:ln w="12700">
            <a:solidFill>
              <a:srgbClr val="2563EB"/>
            </a:solidFill>
            <a:prstDash val="solid"/>
          </a:ln>
        </p:spPr>
      </p:sp>
      <p:sp>
        <p:nvSpPr>
          <p:cNvPr id="3" name="Text 1"/>
          <p:cNvSpPr/>
          <p:nvPr/>
        </p:nvSpPr>
        <p:spPr>
          <a:xfrm>
            <a:off x="502920" y="292608"/>
            <a:ext cx="3474720" cy="201168"/>
          </a:xfrm>
          <a:prstGeom prst="rect">
            <a:avLst/>
          </a:prstGeom>
          <a:noFill/>
          <a:ln/>
        </p:spPr>
        <p:txBody>
          <a:bodyPr wrap="square" lIns="0" tIns="0" rIns="0" bIns="0" rtlCol="0" anchor="ctr"/>
          <a:lstStyle/>
          <a:p>
            <a:pPr indent="0" marL="0">
              <a:buNone/>
            </a:pPr>
            <a:r>
              <a:rPr lang="en-US" sz="850" b="1" dirty="0">
                <a:solidFill>
                  <a:srgbClr val="2563EB"/>
                </a:solidFill>
              </a:rPr>
              <a:t>LUCIDCHART FLOW TARGET</a:t>
            </a:r>
            <a:endParaRPr lang="en-US" sz="850" dirty="0"/>
          </a:p>
        </p:txBody>
      </p:sp>
      <p:sp>
        <p:nvSpPr>
          <p:cNvPr id="4" name="Text 2"/>
          <p:cNvSpPr/>
          <p:nvPr/>
        </p:nvSpPr>
        <p:spPr>
          <a:xfrm>
            <a:off x="502920" y="548640"/>
            <a:ext cx="7772400" cy="384048"/>
          </a:xfrm>
          <a:prstGeom prst="rect">
            <a:avLst/>
          </a:prstGeom>
          <a:noFill/>
          <a:ln/>
        </p:spPr>
        <p:txBody>
          <a:bodyPr wrap="square" lIns="0" tIns="0" rIns="0" bIns="0" rtlCol="0" anchor="ctr"/>
          <a:lstStyle/>
          <a:p>
            <a:pPr indent="0" marL="0">
              <a:buNone/>
            </a:pPr>
            <a:r>
              <a:rPr lang="en-US" sz="2400" b="1" dirty="0">
                <a:solidFill>
                  <a:srgbClr val="0B1F3A"/>
                </a:solidFill>
              </a:rPr>
              <a:t>End-to-end production workflow</a:t>
            </a:r>
            <a:endParaRPr lang="en-US" sz="2400" dirty="0"/>
          </a:p>
        </p:txBody>
      </p:sp>
      <p:sp>
        <p:nvSpPr>
          <p:cNvPr id="5" name="Text 3"/>
          <p:cNvSpPr/>
          <p:nvPr/>
        </p:nvSpPr>
        <p:spPr>
          <a:xfrm>
            <a:off x="8503920" y="594360"/>
            <a:ext cx="3108960" cy="228600"/>
          </a:xfrm>
          <a:prstGeom prst="rect">
            <a:avLst/>
          </a:prstGeom>
          <a:noFill/>
          <a:ln/>
        </p:spPr>
        <p:txBody>
          <a:bodyPr wrap="square" lIns="0" tIns="0" rIns="0" bIns="0" rtlCol="0" anchor="ctr"/>
          <a:lstStyle/>
          <a:p>
            <a:pPr algn="r" indent="0" marL="0">
              <a:buNone/>
            </a:pPr>
            <a:r>
              <a:rPr lang="en-US" sz="900" dirty="0">
                <a:solidFill>
                  <a:srgbClr val="495466"/>
                </a:solidFill>
              </a:rPr>
              <a:t>Document-to-Approved-Video Platform</a:t>
            </a:r>
            <a:endParaRPr lang="en-US" sz="900" dirty="0"/>
          </a:p>
        </p:txBody>
      </p:sp>
      <p:sp>
        <p:nvSpPr>
          <p:cNvPr id="6" name="Shape 4"/>
          <p:cNvSpPr/>
          <p:nvPr/>
        </p:nvSpPr>
        <p:spPr>
          <a:xfrm>
            <a:off x="502920" y="1143000"/>
            <a:ext cx="11201400" cy="0"/>
          </a:xfrm>
          <a:prstGeom prst="line">
            <a:avLst/>
          </a:prstGeom>
          <a:noFill/>
          <a:ln w="10160">
            <a:solidFill>
              <a:srgbClr val="E2E8F0"/>
            </a:solidFill>
            <a:prstDash val="solid"/>
          </a:ln>
        </p:spPr>
      </p:sp>
      <p:sp>
        <p:nvSpPr>
          <p:cNvPr id="7" name="Text 5"/>
          <p:cNvSpPr/>
          <p:nvPr/>
        </p:nvSpPr>
        <p:spPr>
          <a:xfrm>
            <a:off x="640080" y="1216152"/>
            <a:ext cx="1234440" cy="164592"/>
          </a:xfrm>
          <a:prstGeom prst="rect">
            <a:avLst/>
          </a:prstGeom>
          <a:noFill/>
          <a:ln/>
        </p:spPr>
        <p:txBody>
          <a:bodyPr wrap="square" lIns="0" tIns="0" rIns="0" bIns="0" rtlCol="0" anchor="ctr"/>
          <a:lstStyle/>
          <a:p>
            <a:pPr indent="0" marL="0">
              <a:buNone/>
            </a:pPr>
            <a:r>
              <a:rPr lang="en-US" sz="800" b="1" dirty="0">
                <a:solidFill>
                  <a:srgbClr val="495466"/>
                </a:solidFill>
              </a:rPr>
              <a:t>User / Reviewer</a:t>
            </a:r>
            <a:endParaRPr lang="en-US" sz="800" dirty="0"/>
          </a:p>
        </p:txBody>
      </p:sp>
      <p:sp>
        <p:nvSpPr>
          <p:cNvPr id="8" name="Shape 6"/>
          <p:cNvSpPr/>
          <p:nvPr/>
        </p:nvSpPr>
        <p:spPr>
          <a:xfrm>
            <a:off x="502920" y="2514600"/>
            <a:ext cx="11201400" cy="0"/>
          </a:xfrm>
          <a:prstGeom prst="line">
            <a:avLst/>
          </a:prstGeom>
          <a:noFill/>
          <a:ln w="10160">
            <a:solidFill>
              <a:srgbClr val="E2E8F0"/>
            </a:solidFill>
            <a:prstDash val="solid"/>
          </a:ln>
        </p:spPr>
      </p:sp>
      <p:sp>
        <p:nvSpPr>
          <p:cNvPr id="9" name="Text 7"/>
          <p:cNvSpPr/>
          <p:nvPr/>
        </p:nvSpPr>
        <p:spPr>
          <a:xfrm>
            <a:off x="640080" y="2587752"/>
            <a:ext cx="1234440" cy="164592"/>
          </a:xfrm>
          <a:prstGeom prst="rect">
            <a:avLst/>
          </a:prstGeom>
          <a:noFill/>
          <a:ln/>
        </p:spPr>
        <p:txBody>
          <a:bodyPr wrap="square" lIns="0" tIns="0" rIns="0" bIns="0" rtlCol="0" anchor="ctr"/>
          <a:lstStyle/>
          <a:p>
            <a:pPr indent="0" marL="0">
              <a:buNone/>
            </a:pPr>
            <a:r>
              <a:rPr lang="en-US" sz="800" b="1" dirty="0">
                <a:solidFill>
                  <a:srgbClr val="495466"/>
                </a:solidFill>
              </a:rPr>
              <a:t>Application + LangGraph</a:t>
            </a:r>
            <a:endParaRPr lang="en-US" sz="800" dirty="0"/>
          </a:p>
        </p:txBody>
      </p:sp>
      <p:sp>
        <p:nvSpPr>
          <p:cNvPr id="10" name="Shape 8"/>
          <p:cNvSpPr/>
          <p:nvPr/>
        </p:nvSpPr>
        <p:spPr>
          <a:xfrm>
            <a:off x="502920" y="3886200"/>
            <a:ext cx="11201400" cy="0"/>
          </a:xfrm>
          <a:prstGeom prst="line">
            <a:avLst/>
          </a:prstGeom>
          <a:noFill/>
          <a:ln w="10160">
            <a:solidFill>
              <a:srgbClr val="E2E8F0"/>
            </a:solidFill>
            <a:prstDash val="solid"/>
          </a:ln>
        </p:spPr>
      </p:sp>
      <p:sp>
        <p:nvSpPr>
          <p:cNvPr id="11" name="Text 9"/>
          <p:cNvSpPr/>
          <p:nvPr/>
        </p:nvSpPr>
        <p:spPr>
          <a:xfrm>
            <a:off x="640080" y="3959352"/>
            <a:ext cx="1234440" cy="164592"/>
          </a:xfrm>
          <a:prstGeom prst="rect">
            <a:avLst/>
          </a:prstGeom>
          <a:noFill/>
          <a:ln/>
        </p:spPr>
        <p:txBody>
          <a:bodyPr wrap="square" lIns="0" tIns="0" rIns="0" bIns="0" rtlCol="0" anchor="ctr"/>
          <a:lstStyle/>
          <a:p>
            <a:pPr indent="0" marL="0">
              <a:buNone/>
            </a:pPr>
            <a:r>
              <a:rPr lang="en-US" sz="800" b="1" dirty="0">
                <a:solidFill>
                  <a:srgbClr val="495466"/>
                </a:solidFill>
              </a:rPr>
              <a:t>AI Services</a:t>
            </a:r>
            <a:endParaRPr lang="en-US" sz="800" dirty="0"/>
          </a:p>
        </p:txBody>
      </p:sp>
      <p:sp>
        <p:nvSpPr>
          <p:cNvPr id="12" name="Shape 10"/>
          <p:cNvSpPr/>
          <p:nvPr/>
        </p:nvSpPr>
        <p:spPr>
          <a:xfrm>
            <a:off x="502920" y="5257800"/>
            <a:ext cx="11201400" cy="0"/>
          </a:xfrm>
          <a:prstGeom prst="line">
            <a:avLst/>
          </a:prstGeom>
          <a:noFill/>
          <a:ln w="10160">
            <a:solidFill>
              <a:srgbClr val="E2E8F0"/>
            </a:solidFill>
            <a:prstDash val="solid"/>
          </a:ln>
        </p:spPr>
      </p:sp>
      <p:sp>
        <p:nvSpPr>
          <p:cNvPr id="13" name="Text 11"/>
          <p:cNvSpPr/>
          <p:nvPr/>
        </p:nvSpPr>
        <p:spPr>
          <a:xfrm>
            <a:off x="640080" y="5330952"/>
            <a:ext cx="1234440" cy="164592"/>
          </a:xfrm>
          <a:prstGeom prst="rect">
            <a:avLst/>
          </a:prstGeom>
          <a:noFill/>
          <a:ln/>
        </p:spPr>
        <p:txBody>
          <a:bodyPr wrap="square" lIns="0" tIns="0" rIns="0" bIns="0" rtlCol="0" anchor="ctr"/>
          <a:lstStyle/>
          <a:p>
            <a:pPr indent="0" marL="0">
              <a:buNone/>
            </a:pPr>
            <a:r>
              <a:rPr lang="en-US" sz="800" b="1" dirty="0">
                <a:solidFill>
                  <a:srgbClr val="495466"/>
                </a:solidFill>
              </a:rPr>
              <a:t>Media Workers</a:t>
            </a:r>
            <a:endParaRPr lang="en-US" sz="800" dirty="0"/>
          </a:p>
        </p:txBody>
      </p:sp>
      <p:sp>
        <p:nvSpPr>
          <p:cNvPr id="14" name="Shape 12"/>
          <p:cNvSpPr/>
          <p:nvPr/>
        </p:nvSpPr>
        <p:spPr>
          <a:xfrm>
            <a:off x="1325880" y="1417320"/>
            <a:ext cx="960120" cy="411480"/>
          </a:xfrm>
          <a:prstGeom prst="roundRect">
            <a:avLst>
              <a:gd name="adj" fmla="val 13333"/>
            </a:avLst>
          </a:prstGeom>
          <a:solidFill>
            <a:srgbClr val="F3F5F8"/>
          </a:solidFill>
          <a:ln w="12700">
            <a:solidFill>
              <a:srgbClr val="B7C2D0"/>
            </a:solidFill>
            <a:prstDash val="solid"/>
          </a:ln>
        </p:spPr>
      </p:sp>
      <p:sp>
        <p:nvSpPr>
          <p:cNvPr id="15" name="Text 13"/>
          <p:cNvSpPr/>
          <p:nvPr/>
        </p:nvSpPr>
        <p:spPr>
          <a:xfrm>
            <a:off x="1399032" y="1490472"/>
            <a:ext cx="813816" cy="2651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Create project</a:t>
            </a:r>
            <a:endParaRPr lang="en-US" sz="880" dirty="0"/>
          </a:p>
        </p:txBody>
      </p:sp>
      <p:sp>
        <p:nvSpPr>
          <p:cNvPr id="16" name="Shape 14"/>
          <p:cNvSpPr/>
          <p:nvPr/>
        </p:nvSpPr>
        <p:spPr>
          <a:xfrm>
            <a:off x="2514600" y="1417320"/>
            <a:ext cx="960120" cy="411480"/>
          </a:xfrm>
          <a:prstGeom prst="roundRect">
            <a:avLst>
              <a:gd name="adj" fmla="val 13333"/>
            </a:avLst>
          </a:prstGeom>
          <a:solidFill>
            <a:srgbClr val="F3F5F8"/>
          </a:solidFill>
          <a:ln w="12700">
            <a:solidFill>
              <a:srgbClr val="B7C2D0"/>
            </a:solidFill>
            <a:prstDash val="solid"/>
          </a:ln>
        </p:spPr>
      </p:sp>
      <p:sp>
        <p:nvSpPr>
          <p:cNvPr id="17" name="Text 15"/>
          <p:cNvSpPr/>
          <p:nvPr/>
        </p:nvSpPr>
        <p:spPr>
          <a:xfrm>
            <a:off x="2587752" y="1490472"/>
            <a:ext cx="813816" cy="2651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Upload docs</a:t>
            </a:r>
            <a:endParaRPr lang="en-US" sz="880" dirty="0"/>
          </a:p>
        </p:txBody>
      </p:sp>
      <p:sp>
        <p:nvSpPr>
          <p:cNvPr id="18" name="Shape 16"/>
          <p:cNvSpPr/>
          <p:nvPr/>
        </p:nvSpPr>
        <p:spPr>
          <a:xfrm>
            <a:off x="5394960" y="1417320"/>
            <a:ext cx="960120" cy="411480"/>
          </a:xfrm>
          <a:prstGeom prst="roundRect">
            <a:avLst>
              <a:gd name="adj" fmla="val 13333"/>
            </a:avLst>
          </a:prstGeom>
          <a:solidFill>
            <a:srgbClr val="DFF4EA"/>
          </a:solidFill>
          <a:ln w="12700">
            <a:solidFill>
              <a:srgbClr val="B7C2D0"/>
            </a:solidFill>
            <a:prstDash val="solid"/>
          </a:ln>
        </p:spPr>
      </p:sp>
      <p:sp>
        <p:nvSpPr>
          <p:cNvPr id="19" name="Text 17"/>
          <p:cNvSpPr/>
          <p:nvPr/>
        </p:nvSpPr>
        <p:spPr>
          <a:xfrm>
            <a:off x="5468112" y="1490472"/>
            <a:ext cx="813816" cy="2651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Approve script</a:t>
            </a:r>
            <a:endParaRPr lang="en-US" sz="880" dirty="0"/>
          </a:p>
        </p:txBody>
      </p:sp>
      <p:sp>
        <p:nvSpPr>
          <p:cNvPr id="20" name="Shape 18"/>
          <p:cNvSpPr/>
          <p:nvPr/>
        </p:nvSpPr>
        <p:spPr>
          <a:xfrm>
            <a:off x="7498080" y="1417320"/>
            <a:ext cx="960120" cy="411480"/>
          </a:xfrm>
          <a:prstGeom prst="roundRect">
            <a:avLst>
              <a:gd name="adj" fmla="val 13333"/>
            </a:avLst>
          </a:prstGeom>
          <a:solidFill>
            <a:srgbClr val="DFF4EA"/>
          </a:solidFill>
          <a:ln w="12700">
            <a:solidFill>
              <a:srgbClr val="B7C2D0"/>
            </a:solidFill>
            <a:prstDash val="solid"/>
          </a:ln>
        </p:spPr>
      </p:sp>
      <p:sp>
        <p:nvSpPr>
          <p:cNvPr id="21" name="Text 19"/>
          <p:cNvSpPr/>
          <p:nvPr/>
        </p:nvSpPr>
        <p:spPr>
          <a:xfrm>
            <a:off x="7571232" y="1490472"/>
            <a:ext cx="813816" cy="2651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Approve storyboard</a:t>
            </a:r>
            <a:endParaRPr lang="en-US" sz="880" dirty="0"/>
          </a:p>
        </p:txBody>
      </p:sp>
      <p:sp>
        <p:nvSpPr>
          <p:cNvPr id="22" name="Shape 20"/>
          <p:cNvSpPr/>
          <p:nvPr/>
        </p:nvSpPr>
        <p:spPr>
          <a:xfrm>
            <a:off x="10058400" y="1417320"/>
            <a:ext cx="960120" cy="411480"/>
          </a:xfrm>
          <a:prstGeom prst="roundRect">
            <a:avLst>
              <a:gd name="adj" fmla="val 13333"/>
            </a:avLst>
          </a:prstGeom>
          <a:solidFill>
            <a:srgbClr val="DFF4EA"/>
          </a:solidFill>
          <a:ln w="12700">
            <a:solidFill>
              <a:srgbClr val="B7C2D0"/>
            </a:solidFill>
            <a:prstDash val="solid"/>
          </a:ln>
        </p:spPr>
      </p:sp>
      <p:sp>
        <p:nvSpPr>
          <p:cNvPr id="23" name="Text 21"/>
          <p:cNvSpPr/>
          <p:nvPr/>
        </p:nvSpPr>
        <p:spPr>
          <a:xfrm>
            <a:off x="10131552" y="1490472"/>
            <a:ext cx="813816" cy="2651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Final approve</a:t>
            </a:r>
            <a:endParaRPr lang="en-US" sz="880" dirty="0"/>
          </a:p>
        </p:txBody>
      </p:sp>
      <p:sp>
        <p:nvSpPr>
          <p:cNvPr id="24" name="Shape 22"/>
          <p:cNvSpPr/>
          <p:nvPr/>
        </p:nvSpPr>
        <p:spPr>
          <a:xfrm>
            <a:off x="1874520" y="2788920"/>
            <a:ext cx="960120" cy="411480"/>
          </a:xfrm>
          <a:prstGeom prst="roundRect">
            <a:avLst>
              <a:gd name="adj" fmla="val 13333"/>
            </a:avLst>
          </a:prstGeom>
          <a:solidFill>
            <a:srgbClr val="EAF2FF"/>
          </a:solidFill>
          <a:ln w="12700">
            <a:solidFill>
              <a:srgbClr val="B7C2D0"/>
            </a:solidFill>
            <a:prstDash val="solid"/>
          </a:ln>
        </p:spPr>
      </p:sp>
      <p:sp>
        <p:nvSpPr>
          <p:cNvPr id="25" name="Text 23"/>
          <p:cNvSpPr/>
          <p:nvPr/>
        </p:nvSpPr>
        <p:spPr>
          <a:xfrm>
            <a:off x="1947672" y="2862072"/>
            <a:ext cx="813816" cy="2651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Validate</a:t>
            </a:r>
            <a:endParaRPr lang="en-US" sz="880" dirty="0"/>
          </a:p>
        </p:txBody>
      </p:sp>
      <p:sp>
        <p:nvSpPr>
          <p:cNvPr id="26" name="Shape 24"/>
          <p:cNvSpPr/>
          <p:nvPr/>
        </p:nvSpPr>
        <p:spPr>
          <a:xfrm>
            <a:off x="4114800" y="2788920"/>
            <a:ext cx="960120" cy="411480"/>
          </a:xfrm>
          <a:prstGeom prst="roundRect">
            <a:avLst>
              <a:gd name="adj" fmla="val 13333"/>
            </a:avLst>
          </a:prstGeom>
          <a:solidFill>
            <a:srgbClr val="EFE7FF"/>
          </a:solidFill>
          <a:ln w="12700">
            <a:solidFill>
              <a:srgbClr val="B7C2D0"/>
            </a:solidFill>
            <a:prstDash val="solid"/>
          </a:ln>
        </p:spPr>
      </p:sp>
      <p:sp>
        <p:nvSpPr>
          <p:cNvPr id="27" name="Text 25"/>
          <p:cNvSpPr/>
          <p:nvPr/>
        </p:nvSpPr>
        <p:spPr>
          <a:xfrm>
            <a:off x="4187952" y="2862072"/>
            <a:ext cx="813816" cy="2651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Generate script</a:t>
            </a:r>
            <a:endParaRPr lang="en-US" sz="880" dirty="0"/>
          </a:p>
        </p:txBody>
      </p:sp>
      <p:sp>
        <p:nvSpPr>
          <p:cNvPr id="28" name="Shape 26"/>
          <p:cNvSpPr/>
          <p:nvPr/>
        </p:nvSpPr>
        <p:spPr>
          <a:xfrm>
            <a:off x="6400800" y="2788920"/>
            <a:ext cx="960120" cy="411480"/>
          </a:xfrm>
          <a:prstGeom prst="roundRect">
            <a:avLst>
              <a:gd name="adj" fmla="val 13333"/>
            </a:avLst>
          </a:prstGeom>
          <a:solidFill>
            <a:srgbClr val="EFE7FF"/>
          </a:solidFill>
          <a:ln w="12700">
            <a:solidFill>
              <a:srgbClr val="B7C2D0"/>
            </a:solidFill>
            <a:prstDash val="solid"/>
          </a:ln>
        </p:spPr>
      </p:sp>
      <p:sp>
        <p:nvSpPr>
          <p:cNvPr id="29" name="Text 27"/>
          <p:cNvSpPr/>
          <p:nvPr/>
        </p:nvSpPr>
        <p:spPr>
          <a:xfrm>
            <a:off x="6473952" y="2862072"/>
            <a:ext cx="813816" cy="2651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Storyboard</a:t>
            </a:r>
            <a:endParaRPr lang="en-US" sz="880" dirty="0"/>
          </a:p>
        </p:txBody>
      </p:sp>
      <p:sp>
        <p:nvSpPr>
          <p:cNvPr id="30" name="Shape 28"/>
          <p:cNvSpPr/>
          <p:nvPr/>
        </p:nvSpPr>
        <p:spPr>
          <a:xfrm>
            <a:off x="8412480" y="2788920"/>
            <a:ext cx="960120" cy="411480"/>
          </a:xfrm>
          <a:prstGeom prst="roundRect">
            <a:avLst>
              <a:gd name="adj" fmla="val 13333"/>
            </a:avLst>
          </a:prstGeom>
          <a:solidFill>
            <a:srgbClr val="EAF2FF"/>
          </a:solidFill>
          <a:ln w="12700">
            <a:solidFill>
              <a:srgbClr val="B7C2D0"/>
            </a:solidFill>
            <a:prstDash val="solid"/>
          </a:ln>
        </p:spPr>
      </p:sp>
      <p:sp>
        <p:nvSpPr>
          <p:cNvPr id="31" name="Text 29"/>
          <p:cNvSpPr/>
          <p:nvPr/>
        </p:nvSpPr>
        <p:spPr>
          <a:xfrm>
            <a:off x="8485632" y="2862072"/>
            <a:ext cx="813816" cy="2651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Lock content</a:t>
            </a:r>
            <a:endParaRPr lang="en-US" sz="880" dirty="0"/>
          </a:p>
        </p:txBody>
      </p:sp>
      <p:sp>
        <p:nvSpPr>
          <p:cNvPr id="32" name="Shape 30"/>
          <p:cNvSpPr/>
          <p:nvPr/>
        </p:nvSpPr>
        <p:spPr>
          <a:xfrm>
            <a:off x="10332720" y="2788920"/>
            <a:ext cx="960120" cy="411480"/>
          </a:xfrm>
          <a:prstGeom prst="roundRect">
            <a:avLst>
              <a:gd name="adj" fmla="val 13333"/>
            </a:avLst>
          </a:prstGeom>
          <a:solidFill>
            <a:srgbClr val="EAF2FF"/>
          </a:solidFill>
          <a:ln w="12700">
            <a:solidFill>
              <a:srgbClr val="B7C2D0"/>
            </a:solidFill>
            <a:prstDash val="solid"/>
          </a:ln>
        </p:spPr>
      </p:sp>
      <p:sp>
        <p:nvSpPr>
          <p:cNvPr id="33" name="Text 31"/>
          <p:cNvSpPr/>
          <p:nvPr/>
        </p:nvSpPr>
        <p:spPr>
          <a:xfrm>
            <a:off x="10405872" y="2862072"/>
            <a:ext cx="813816" cy="2651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Publish</a:t>
            </a:r>
            <a:endParaRPr lang="en-US" sz="880" dirty="0"/>
          </a:p>
        </p:txBody>
      </p:sp>
      <p:sp>
        <p:nvSpPr>
          <p:cNvPr id="34" name="Shape 32"/>
          <p:cNvSpPr/>
          <p:nvPr/>
        </p:nvSpPr>
        <p:spPr>
          <a:xfrm>
            <a:off x="2971800" y="4160520"/>
            <a:ext cx="960120" cy="411480"/>
          </a:xfrm>
          <a:prstGeom prst="roundRect">
            <a:avLst>
              <a:gd name="adj" fmla="val 13333"/>
            </a:avLst>
          </a:prstGeom>
          <a:solidFill>
            <a:srgbClr val="DFF4EA"/>
          </a:solidFill>
          <a:ln w="12700">
            <a:solidFill>
              <a:srgbClr val="B7C2D0"/>
            </a:solidFill>
            <a:prstDash val="solid"/>
          </a:ln>
        </p:spPr>
      </p:sp>
      <p:sp>
        <p:nvSpPr>
          <p:cNvPr id="35" name="Text 33"/>
          <p:cNvSpPr/>
          <p:nvPr/>
        </p:nvSpPr>
        <p:spPr>
          <a:xfrm>
            <a:off x="3044952" y="4233672"/>
            <a:ext cx="813816" cy="2651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Extract + ground</a:t>
            </a:r>
            <a:endParaRPr lang="en-US" sz="880" dirty="0"/>
          </a:p>
        </p:txBody>
      </p:sp>
      <p:sp>
        <p:nvSpPr>
          <p:cNvPr id="36" name="Shape 34"/>
          <p:cNvSpPr/>
          <p:nvPr/>
        </p:nvSpPr>
        <p:spPr>
          <a:xfrm>
            <a:off x="5212080" y="4160520"/>
            <a:ext cx="960120" cy="411480"/>
          </a:xfrm>
          <a:prstGeom prst="roundRect">
            <a:avLst>
              <a:gd name="adj" fmla="val 13333"/>
            </a:avLst>
          </a:prstGeom>
          <a:solidFill>
            <a:srgbClr val="DFF4EA"/>
          </a:solidFill>
          <a:ln w="12700">
            <a:solidFill>
              <a:srgbClr val="B7C2D0"/>
            </a:solidFill>
            <a:prstDash val="solid"/>
          </a:ln>
        </p:spPr>
      </p:sp>
      <p:sp>
        <p:nvSpPr>
          <p:cNvPr id="37" name="Text 35"/>
          <p:cNvSpPr/>
          <p:nvPr/>
        </p:nvSpPr>
        <p:spPr>
          <a:xfrm>
            <a:off x="5285232" y="4233672"/>
            <a:ext cx="813816" cy="2651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Evaluate</a:t>
            </a:r>
            <a:endParaRPr lang="en-US" sz="880" dirty="0"/>
          </a:p>
        </p:txBody>
      </p:sp>
      <p:sp>
        <p:nvSpPr>
          <p:cNvPr id="38" name="Shape 36"/>
          <p:cNvSpPr/>
          <p:nvPr/>
        </p:nvSpPr>
        <p:spPr>
          <a:xfrm>
            <a:off x="8869680" y="4160520"/>
            <a:ext cx="960120" cy="411480"/>
          </a:xfrm>
          <a:prstGeom prst="roundRect">
            <a:avLst>
              <a:gd name="adj" fmla="val 13333"/>
            </a:avLst>
          </a:prstGeom>
          <a:solidFill>
            <a:srgbClr val="DFF4EA"/>
          </a:solidFill>
          <a:ln w="12700">
            <a:solidFill>
              <a:srgbClr val="B7C2D0"/>
            </a:solidFill>
            <a:prstDash val="solid"/>
          </a:ln>
        </p:spPr>
      </p:sp>
      <p:sp>
        <p:nvSpPr>
          <p:cNvPr id="39" name="Text 37"/>
          <p:cNvSpPr/>
          <p:nvPr/>
        </p:nvSpPr>
        <p:spPr>
          <a:xfrm>
            <a:off x="8942832" y="4233672"/>
            <a:ext cx="813816" cy="2651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Localize</a:t>
            </a:r>
            <a:endParaRPr lang="en-US" sz="880" dirty="0"/>
          </a:p>
        </p:txBody>
      </p:sp>
      <p:sp>
        <p:nvSpPr>
          <p:cNvPr id="40" name="Shape 38"/>
          <p:cNvSpPr/>
          <p:nvPr/>
        </p:nvSpPr>
        <p:spPr>
          <a:xfrm>
            <a:off x="8046720" y="5532120"/>
            <a:ext cx="960120" cy="411480"/>
          </a:xfrm>
          <a:prstGeom prst="roundRect">
            <a:avLst>
              <a:gd name="adj" fmla="val 13333"/>
            </a:avLst>
          </a:prstGeom>
          <a:solidFill>
            <a:srgbClr val="DFF7FF"/>
          </a:solidFill>
          <a:ln w="12700">
            <a:solidFill>
              <a:srgbClr val="B7C2D0"/>
            </a:solidFill>
            <a:prstDash val="solid"/>
          </a:ln>
        </p:spPr>
      </p:sp>
      <p:sp>
        <p:nvSpPr>
          <p:cNvPr id="41" name="Text 39"/>
          <p:cNvSpPr/>
          <p:nvPr/>
        </p:nvSpPr>
        <p:spPr>
          <a:xfrm>
            <a:off x="8119872" y="5605272"/>
            <a:ext cx="813816" cy="2651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Speech/subtitles</a:t>
            </a:r>
            <a:endParaRPr lang="en-US" sz="880" dirty="0"/>
          </a:p>
        </p:txBody>
      </p:sp>
      <p:sp>
        <p:nvSpPr>
          <p:cNvPr id="42" name="Shape 40"/>
          <p:cNvSpPr/>
          <p:nvPr/>
        </p:nvSpPr>
        <p:spPr>
          <a:xfrm>
            <a:off x="9326880" y="5532120"/>
            <a:ext cx="960120" cy="411480"/>
          </a:xfrm>
          <a:prstGeom prst="roundRect">
            <a:avLst>
              <a:gd name="adj" fmla="val 13333"/>
            </a:avLst>
          </a:prstGeom>
          <a:solidFill>
            <a:srgbClr val="DFF7FF"/>
          </a:solidFill>
          <a:ln w="12700">
            <a:solidFill>
              <a:srgbClr val="B7C2D0"/>
            </a:solidFill>
            <a:prstDash val="solid"/>
          </a:ln>
        </p:spPr>
      </p:sp>
      <p:sp>
        <p:nvSpPr>
          <p:cNvPr id="43" name="Text 41"/>
          <p:cNvSpPr/>
          <p:nvPr/>
        </p:nvSpPr>
        <p:spPr>
          <a:xfrm>
            <a:off x="9400032" y="5605272"/>
            <a:ext cx="813816" cy="2651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Render scenes</a:t>
            </a:r>
            <a:endParaRPr lang="en-US" sz="880" dirty="0"/>
          </a:p>
        </p:txBody>
      </p:sp>
      <p:sp>
        <p:nvSpPr>
          <p:cNvPr id="44" name="Shape 42"/>
          <p:cNvSpPr/>
          <p:nvPr/>
        </p:nvSpPr>
        <p:spPr>
          <a:xfrm>
            <a:off x="10561320" y="5532120"/>
            <a:ext cx="960120" cy="411480"/>
          </a:xfrm>
          <a:prstGeom prst="roundRect">
            <a:avLst>
              <a:gd name="adj" fmla="val 13333"/>
            </a:avLst>
          </a:prstGeom>
          <a:solidFill>
            <a:srgbClr val="DFF7FF"/>
          </a:solidFill>
          <a:ln w="12700">
            <a:solidFill>
              <a:srgbClr val="B7C2D0"/>
            </a:solidFill>
            <a:prstDash val="solid"/>
          </a:ln>
        </p:spPr>
      </p:sp>
      <p:sp>
        <p:nvSpPr>
          <p:cNvPr id="45" name="Text 43"/>
          <p:cNvSpPr/>
          <p:nvPr/>
        </p:nvSpPr>
        <p:spPr>
          <a:xfrm>
            <a:off x="10634472" y="5605272"/>
            <a:ext cx="813816" cy="2651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Compose video</a:t>
            </a:r>
            <a:endParaRPr lang="en-US" sz="880" dirty="0"/>
          </a:p>
        </p:txBody>
      </p:sp>
      <p:sp>
        <p:nvSpPr>
          <p:cNvPr id="46" name="Shape 44"/>
          <p:cNvSpPr/>
          <p:nvPr/>
        </p:nvSpPr>
        <p:spPr>
          <a:xfrm>
            <a:off x="2286000" y="1627632"/>
            <a:ext cx="201168" cy="0"/>
          </a:xfrm>
          <a:prstGeom prst="line">
            <a:avLst/>
          </a:prstGeom>
          <a:noFill/>
          <a:ln w="17780">
            <a:solidFill>
              <a:srgbClr val="2563EB"/>
            </a:solidFill>
            <a:prstDash val="solid"/>
            <a:headEnd type="none"/>
            <a:tailEnd type="triangle"/>
          </a:ln>
        </p:spPr>
      </p:sp>
      <p:sp>
        <p:nvSpPr>
          <p:cNvPr id="47" name="Shape 45"/>
          <p:cNvSpPr/>
          <p:nvPr/>
        </p:nvSpPr>
        <p:spPr>
          <a:xfrm>
            <a:off x="3474720" y="1627632"/>
            <a:ext cx="640080" cy="1133856"/>
          </a:xfrm>
          <a:prstGeom prst="line">
            <a:avLst/>
          </a:prstGeom>
          <a:noFill/>
          <a:ln w="17780">
            <a:solidFill>
              <a:srgbClr val="2563EB"/>
            </a:solidFill>
            <a:prstDash val="solid"/>
            <a:headEnd type="none"/>
            <a:tailEnd type="triangle"/>
          </a:ln>
        </p:spPr>
      </p:sp>
      <p:sp>
        <p:nvSpPr>
          <p:cNvPr id="48" name="Shape 46"/>
          <p:cNvSpPr/>
          <p:nvPr/>
        </p:nvSpPr>
        <p:spPr>
          <a:xfrm>
            <a:off x="5074920" y="2999232"/>
            <a:ext cx="320040" cy="-1188720"/>
          </a:xfrm>
          <a:prstGeom prst="line">
            <a:avLst/>
          </a:prstGeom>
          <a:noFill/>
          <a:ln w="17780">
            <a:solidFill>
              <a:srgbClr val="2563EB"/>
            </a:solidFill>
            <a:prstDash val="solid"/>
            <a:headEnd type="none"/>
            <a:tailEnd type="triangle"/>
          </a:ln>
        </p:spPr>
      </p:sp>
      <p:sp>
        <p:nvSpPr>
          <p:cNvPr id="49" name="Shape 47"/>
          <p:cNvSpPr/>
          <p:nvPr/>
        </p:nvSpPr>
        <p:spPr>
          <a:xfrm>
            <a:off x="6355080" y="1627632"/>
            <a:ext cx="91440" cy="1133856"/>
          </a:xfrm>
          <a:prstGeom prst="line">
            <a:avLst/>
          </a:prstGeom>
          <a:noFill/>
          <a:ln w="17780">
            <a:solidFill>
              <a:srgbClr val="2563EB"/>
            </a:solidFill>
            <a:prstDash val="solid"/>
            <a:headEnd type="none"/>
            <a:tailEnd type="triangle"/>
          </a:ln>
        </p:spPr>
      </p:sp>
      <p:sp>
        <p:nvSpPr>
          <p:cNvPr id="50" name="Shape 48"/>
          <p:cNvSpPr/>
          <p:nvPr/>
        </p:nvSpPr>
        <p:spPr>
          <a:xfrm>
            <a:off x="7360920" y="2999232"/>
            <a:ext cx="137160" cy="-1188720"/>
          </a:xfrm>
          <a:prstGeom prst="line">
            <a:avLst/>
          </a:prstGeom>
          <a:noFill/>
          <a:ln w="17780">
            <a:solidFill>
              <a:srgbClr val="2563EB"/>
            </a:solidFill>
            <a:prstDash val="solid"/>
            <a:headEnd type="none"/>
            <a:tailEnd type="triangle"/>
          </a:ln>
        </p:spPr>
      </p:sp>
      <p:sp>
        <p:nvSpPr>
          <p:cNvPr id="51" name="Shape 49"/>
          <p:cNvSpPr/>
          <p:nvPr/>
        </p:nvSpPr>
        <p:spPr>
          <a:xfrm>
            <a:off x="8458200" y="1627632"/>
            <a:ext cx="-45720" cy="1133856"/>
          </a:xfrm>
          <a:prstGeom prst="line">
            <a:avLst/>
          </a:prstGeom>
          <a:noFill/>
          <a:ln w="17780">
            <a:solidFill>
              <a:srgbClr val="2563EB"/>
            </a:solidFill>
            <a:prstDash val="solid"/>
            <a:headEnd type="none"/>
            <a:tailEnd type="triangle"/>
          </a:ln>
        </p:spPr>
      </p:sp>
      <p:sp>
        <p:nvSpPr>
          <p:cNvPr id="52" name="Shape 50"/>
          <p:cNvSpPr/>
          <p:nvPr/>
        </p:nvSpPr>
        <p:spPr>
          <a:xfrm>
            <a:off x="8915400" y="2999232"/>
            <a:ext cx="-640080" cy="2532888"/>
          </a:xfrm>
          <a:prstGeom prst="line">
            <a:avLst/>
          </a:prstGeom>
          <a:noFill/>
          <a:ln w="17780">
            <a:solidFill>
              <a:srgbClr val="2563EB"/>
            </a:solidFill>
            <a:prstDash val="solid"/>
            <a:headEnd type="none"/>
            <a:tailEnd type="triangle"/>
          </a:ln>
        </p:spPr>
      </p:sp>
      <p:sp>
        <p:nvSpPr>
          <p:cNvPr id="53" name="Shape 51"/>
          <p:cNvSpPr/>
          <p:nvPr/>
        </p:nvSpPr>
        <p:spPr>
          <a:xfrm>
            <a:off x="9098280" y="5742432"/>
            <a:ext cx="228600" cy="0"/>
          </a:xfrm>
          <a:prstGeom prst="line">
            <a:avLst/>
          </a:prstGeom>
          <a:noFill/>
          <a:ln w="17780">
            <a:solidFill>
              <a:srgbClr val="2563EB"/>
            </a:solidFill>
            <a:prstDash val="solid"/>
            <a:headEnd type="none"/>
            <a:tailEnd type="triangle"/>
          </a:ln>
        </p:spPr>
      </p:sp>
      <p:sp>
        <p:nvSpPr>
          <p:cNvPr id="54" name="Shape 52"/>
          <p:cNvSpPr/>
          <p:nvPr/>
        </p:nvSpPr>
        <p:spPr>
          <a:xfrm>
            <a:off x="10287000" y="5742432"/>
            <a:ext cx="274320" cy="0"/>
          </a:xfrm>
          <a:prstGeom prst="line">
            <a:avLst/>
          </a:prstGeom>
          <a:noFill/>
          <a:ln w="17780">
            <a:solidFill>
              <a:srgbClr val="2563EB"/>
            </a:solidFill>
            <a:prstDash val="solid"/>
            <a:headEnd type="none"/>
            <a:tailEnd type="triangle"/>
          </a:ln>
        </p:spPr>
      </p:sp>
      <p:sp>
        <p:nvSpPr>
          <p:cNvPr id="55" name="Shape 53"/>
          <p:cNvSpPr/>
          <p:nvPr/>
        </p:nvSpPr>
        <p:spPr>
          <a:xfrm>
            <a:off x="10835640" y="5486400"/>
            <a:ext cx="0" cy="-2926080"/>
          </a:xfrm>
          <a:prstGeom prst="line">
            <a:avLst/>
          </a:prstGeom>
          <a:noFill/>
          <a:ln w="17780">
            <a:solidFill>
              <a:srgbClr val="2563EB"/>
            </a:solidFill>
            <a:prstDash val="solid"/>
            <a:headEnd type="none"/>
            <a:tailEnd type="triangle"/>
          </a:ln>
        </p:spPr>
      </p:sp>
      <p:sp>
        <p:nvSpPr>
          <p:cNvPr id="56" name="Text 54"/>
          <p:cNvSpPr/>
          <p:nvPr/>
        </p:nvSpPr>
        <p:spPr>
          <a:xfrm>
            <a:off x="11448288" y="6492240"/>
            <a:ext cx="347472" cy="164592"/>
          </a:xfrm>
          <a:prstGeom prst="rect">
            <a:avLst/>
          </a:prstGeom>
          <a:noFill/>
          <a:ln/>
        </p:spPr>
        <p:txBody>
          <a:bodyPr wrap="square" lIns="0" tIns="0" rIns="0" bIns="0" rtlCol="0" anchor="ctr"/>
          <a:lstStyle/>
          <a:p>
            <a:pPr algn="r" indent="0" marL="0">
              <a:buNone/>
            </a:pPr>
            <a:r>
              <a:rPr lang="en-US" sz="800" dirty="0">
                <a:solidFill>
                  <a:srgbClr val="495466"/>
                </a:solidFill>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563EB"/>
          </a:solidFill>
          <a:ln w="12700">
            <a:solidFill>
              <a:srgbClr val="2563EB"/>
            </a:solidFill>
            <a:prstDash val="solid"/>
          </a:ln>
        </p:spPr>
      </p:sp>
      <p:sp>
        <p:nvSpPr>
          <p:cNvPr id="3" name="Text 1"/>
          <p:cNvSpPr/>
          <p:nvPr/>
        </p:nvSpPr>
        <p:spPr>
          <a:xfrm>
            <a:off x="502920" y="292608"/>
            <a:ext cx="3474720" cy="201168"/>
          </a:xfrm>
          <a:prstGeom prst="rect">
            <a:avLst/>
          </a:prstGeom>
          <a:noFill/>
          <a:ln/>
        </p:spPr>
        <p:txBody>
          <a:bodyPr wrap="square" lIns="0" tIns="0" rIns="0" bIns="0" rtlCol="0" anchor="ctr"/>
          <a:lstStyle/>
          <a:p>
            <a:pPr indent="0" marL="0">
              <a:buNone/>
            </a:pPr>
            <a:r>
              <a:rPr lang="en-US" sz="850" b="1" dirty="0">
                <a:solidFill>
                  <a:srgbClr val="2563EB"/>
                </a:solidFill>
              </a:rPr>
              <a:t>SEQUENCE DIAGRAM</a:t>
            </a:r>
            <a:endParaRPr lang="en-US" sz="850" dirty="0"/>
          </a:p>
        </p:txBody>
      </p:sp>
      <p:sp>
        <p:nvSpPr>
          <p:cNvPr id="4" name="Text 2"/>
          <p:cNvSpPr/>
          <p:nvPr/>
        </p:nvSpPr>
        <p:spPr>
          <a:xfrm>
            <a:off x="502920" y="548640"/>
            <a:ext cx="7772400" cy="384048"/>
          </a:xfrm>
          <a:prstGeom prst="rect">
            <a:avLst/>
          </a:prstGeom>
          <a:noFill/>
          <a:ln/>
        </p:spPr>
        <p:txBody>
          <a:bodyPr wrap="square" lIns="0" tIns="0" rIns="0" bIns="0" rtlCol="0" anchor="ctr"/>
          <a:lstStyle/>
          <a:p>
            <a:pPr indent="0" marL="0">
              <a:buNone/>
            </a:pPr>
            <a:r>
              <a:rPr lang="en-US" sz="2400" b="1" dirty="0">
                <a:solidFill>
                  <a:srgbClr val="0B1F3A"/>
                </a:solidFill>
              </a:rPr>
              <a:t>Human approvals: pause, checkpoint and resume</a:t>
            </a:r>
            <a:endParaRPr lang="en-US" sz="2400" dirty="0"/>
          </a:p>
        </p:txBody>
      </p:sp>
      <p:sp>
        <p:nvSpPr>
          <p:cNvPr id="5" name="Text 3"/>
          <p:cNvSpPr/>
          <p:nvPr/>
        </p:nvSpPr>
        <p:spPr>
          <a:xfrm>
            <a:off x="8503920" y="594360"/>
            <a:ext cx="3108960" cy="228600"/>
          </a:xfrm>
          <a:prstGeom prst="rect">
            <a:avLst/>
          </a:prstGeom>
          <a:noFill/>
          <a:ln/>
        </p:spPr>
        <p:txBody>
          <a:bodyPr wrap="square" lIns="0" tIns="0" rIns="0" bIns="0" rtlCol="0" anchor="ctr"/>
          <a:lstStyle/>
          <a:p>
            <a:pPr algn="r" indent="0" marL="0">
              <a:buNone/>
            </a:pPr>
            <a:r>
              <a:rPr lang="en-US" sz="900" dirty="0">
                <a:solidFill>
                  <a:srgbClr val="495466"/>
                </a:solidFill>
              </a:rPr>
              <a:t>Document-to-Approved-Video Platform</a:t>
            </a:r>
            <a:endParaRPr lang="en-US" sz="900" dirty="0"/>
          </a:p>
        </p:txBody>
      </p:sp>
      <p:sp>
        <p:nvSpPr>
          <p:cNvPr id="6" name="Shape 4"/>
          <p:cNvSpPr/>
          <p:nvPr/>
        </p:nvSpPr>
        <p:spPr>
          <a:xfrm>
            <a:off x="594360" y="1234440"/>
            <a:ext cx="1143000" cy="438912"/>
          </a:xfrm>
          <a:prstGeom prst="roundRect">
            <a:avLst>
              <a:gd name="adj" fmla="val 12500"/>
            </a:avLst>
          </a:prstGeom>
          <a:solidFill>
            <a:srgbClr val="DFF4EA"/>
          </a:solidFill>
          <a:ln w="12700">
            <a:solidFill>
              <a:srgbClr val="B7C2D0"/>
            </a:solidFill>
            <a:prstDash val="solid"/>
          </a:ln>
        </p:spPr>
      </p:sp>
      <p:sp>
        <p:nvSpPr>
          <p:cNvPr id="7" name="Text 5"/>
          <p:cNvSpPr/>
          <p:nvPr/>
        </p:nvSpPr>
        <p:spPr>
          <a:xfrm>
            <a:off x="667512" y="1307592"/>
            <a:ext cx="996696" cy="292608"/>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Reviewer</a:t>
            </a:r>
            <a:endParaRPr lang="en-US" sz="950" dirty="0"/>
          </a:p>
        </p:txBody>
      </p:sp>
      <p:sp>
        <p:nvSpPr>
          <p:cNvPr id="8" name="Shape 6"/>
          <p:cNvSpPr/>
          <p:nvPr/>
        </p:nvSpPr>
        <p:spPr>
          <a:xfrm>
            <a:off x="1161288" y="1783080"/>
            <a:ext cx="0" cy="4023360"/>
          </a:xfrm>
          <a:prstGeom prst="line">
            <a:avLst/>
          </a:prstGeom>
          <a:noFill/>
          <a:ln w="12700">
            <a:solidFill>
              <a:srgbClr val="CBD5E1"/>
            </a:solidFill>
            <a:prstDash val="solid"/>
          </a:ln>
        </p:spPr>
      </p:sp>
      <p:sp>
        <p:nvSpPr>
          <p:cNvPr id="9" name="Shape 7"/>
          <p:cNvSpPr/>
          <p:nvPr/>
        </p:nvSpPr>
        <p:spPr>
          <a:xfrm>
            <a:off x="2221992" y="1234440"/>
            <a:ext cx="1143000" cy="438912"/>
          </a:xfrm>
          <a:prstGeom prst="roundRect">
            <a:avLst>
              <a:gd name="adj" fmla="val 12500"/>
            </a:avLst>
          </a:prstGeom>
          <a:solidFill>
            <a:srgbClr val="EAF2FF"/>
          </a:solidFill>
          <a:ln w="12700">
            <a:solidFill>
              <a:srgbClr val="B7C2D0"/>
            </a:solidFill>
            <a:prstDash val="solid"/>
          </a:ln>
        </p:spPr>
      </p:sp>
      <p:sp>
        <p:nvSpPr>
          <p:cNvPr id="10" name="Text 8"/>
          <p:cNvSpPr/>
          <p:nvPr/>
        </p:nvSpPr>
        <p:spPr>
          <a:xfrm>
            <a:off x="2295144" y="1307592"/>
            <a:ext cx="996696" cy="292608"/>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Portal</a:t>
            </a:r>
            <a:endParaRPr lang="en-US" sz="950" dirty="0"/>
          </a:p>
        </p:txBody>
      </p:sp>
      <p:sp>
        <p:nvSpPr>
          <p:cNvPr id="11" name="Shape 9"/>
          <p:cNvSpPr/>
          <p:nvPr/>
        </p:nvSpPr>
        <p:spPr>
          <a:xfrm>
            <a:off x="2788920" y="1783080"/>
            <a:ext cx="0" cy="4023360"/>
          </a:xfrm>
          <a:prstGeom prst="line">
            <a:avLst/>
          </a:prstGeom>
          <a:noFill/>
          <a:ln w="12700">
            <a:solidFill>
              <a:srgbClr val="CBD5E1"/>
            </a:solidFill>
            <a:prstDash val="solid"/>
          </a:ln>
        </p:spPr>
      </p:sp>
      <p:sp>
        <p:nvSpPr>
          <p:cNvPr id="12" name="Shape 10"/>
          <p:cNvSpPr/>
          <p:nvPr/>
        </p:nvSpPr>
        <p:spPr>
          <a:xfrm>
            <a:off x="3849624" y="1234440"/>
            <a:ext cx="1143000" cy="438912"/>
          </a:xfrm>
          <a:prstGeom prst="roundRect">
            <a:avLst>
              <a:gd name="adj" fmla="val 12500"/>
            </a:avLst>
          </a:prstGeom>
          <a:solidFill>
            <a:srgbClr val="EAF2FF"/>
          </a:solidFill>
          <a:ln w="12700">
            <a:solidFill>
              <a:srgbClr val="B7C2D0"/>
            </a:solidFill>
            <a:prstDash val="solid"/>
          </a:ln>
        </p:spPr>
      </p:sp>
      <p:sp>
        <p:nvSpPr>
          <p:cNvPr id="13" name="Text 11"/>
          <p:cNvSpPr/>
          <p:nvPr/>
        </p:nvSpPr>
        <p:spPr>
          <a:xfrm>
            <a:off x="3922776" y="1307592"/>
            <a:ext cx="996696" cy="292608"/>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FastAPI</a:t>
            </a:r>
            <a:endParaRPr lang="en-US" sz="950" dirty="0"/>
          </a:p>
        </p:txBody>
      </p:sp>
      <p:sp>
        <p:nvSpPr>
          <p:cNvPr id="14" name="Shape 12"/>
          <p:cNvSpPr/>
          <p:nvPr/>
        </p:nvSpPr>
        <p:spPr>
          <a:xfrm>
            <a:off x="4416552" y="1783080"/>
            <a:ext cx="0" cy="4023360"/>
          </a:xfrm>
          <a:prstGeom prst="line">
            <a:avLst/>
          </a:prstGeom>
          <a:noFill/>
          <a:ln w="12700">
            <a:solidFill>
              <a:srgbClr val="CBD5E1"/>
            </a:solidFill>
            <a:prstDash val="solid"/>
          </a:ln>
        </p:spPr>
      </p:sp>
      <p:sp>
        <p:nvSpPr>
          <p:cNvPr id="15" name="Shape 13"/>
          <p:cNvSpPr/>
          <p:nvPr/>
        </p:nvSpPr>
        <p:spPr>
          <a:xfrm>
            <a:off x="5477256" y="1234440"/>
            <a:ext cx="1143000" cy="438912"/>
          </a:xfrm>
          <a:prstGeom prst="roundRect">
            <a:avLst>
              <a:gd name="adj" fmla="val 12500"/>
            </a:avLst>
          </a:prstGeom>
          <a:solidFill>
            <a:srgbClr val="EAF2FF"/>
          </a:solidFill>
          <a:ln w="12700">
            <a:solidFill>
              <a:srgbClr val="B7C2D0"/>
            </a:solidFill>
            <a:prstDash val="solid"/>
          </a:ln>
        </p:spPr>
      </p:sp>
      <p:sp>
        <p:nvSpPr>
          <p:cNvPr id="16" name="Text 14"/>
          <p:cNvSpPr/>
          <p:nvPr/>
        </p:nvSpPr>
        <p:spPr>
          <a:xfrm>
            <a:off x="5550408" y="1307592"/>
            <a:ext cx="996696" cy="292608"/>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LangGraph</a:t>
            </a:r>
            <a:endParaRPr lang="en-US" sz="950" dirty="0"/>
          </a:p>
        </p:txBody>
      </p:sp>
      <p:sp>
        <p:nvSpPr>
          <p:cNvPr id="17" name="Shape 15"/>
          <p:cNvSpPr/>
          <p:nvPr/>
        </p:nvSpPr>
        <p:spPr>
          <a:xfrm>
            <a:off x="6044184" y="1783080"/>
            <a:ext cx="0" cy="4023360"/>
          </a:xfrm>
          <a:prstGeom prst="line">
            <a:avLst/>
          </a:prstGeom>
          <a:noFill/>
          <a:ln w="12700">
            <a:solidFill>
              <a:srgbClr val="CBD5E1"/>
            </a:solidFill>
            <a:prstDash val="solid"/>
          </a:ln>
        </p:spPr>
      </p:sp>
      <p:sp>
        <p:nvSpPr>
          <p:cNvPr id="18" name="Shape 16"/>
          <p:cNvSpPr/>
          <p:nvPr/>
        </p:nvSpPr>
        <p:spPr>
          <a:xfrm>
            <a:off x="7104888" y="1234440"/>
            <a:ext cx="1143000" cy="438912"/>
          </a:xfrm>
          <a:prstGeom prst="roundRect">
            <a:avLst>
              <a:gd name="adj" fmla="val 12500"/>
            </a:avLst>
          </a:prstGeom>
          <a:solidFill>
            <a:srgbClr val="EAF2FF"/>
          </a:solidFill>
          <a:ln w="12700">
            <a:solidFill>
              <a:srgbClr val="B7C2D0"/>
            </a:solidFill>
            <a:prstDash val="solid"/>
          </a:ln>
        </p:spPr>
      </p:sp>
      <p:sp>
        <p:nvSpPr>
          <p:cNvPr id="19" name="Text 17"/>
          <p:cNvSpPr/>
          <p:nvPr/>
        </p:nvSpPr>
        <p:spPr>
          <a:xfrm>
            <a:off x="7178040" y="1307592"/>
            <a:ext cx="996696" cy="292608"/>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PostgreSQL</a:t>
            </a:r>
            <a:endParaRPr lang="en-US" sz="950" dirty="0"/>
          </a:p>
        </p:txBody>
      </p:sp>
      <p:sp>
        <p:nvSpPr>
          <p:cNvPr id="20" name="Shape 18"/>
          <p:cNvSpPr/>
          <p:nvPr/>
        </p:nvSpPr>
        <p:spPr>
          <a:xfrm>
            <a:off x="7671816" y="1783080"/>
            <a:ext cx="0" cy="4023360"/>
          </a:xfrm>
          <a:prstGeom prst="line">
            <a:avLst/>
          </a:prstGeom>
          <a:noFill/>
          <a:ln w="12700">
            <a:solidFill>
              <a:srgbClr val="CBD5E1"/>
            </a:solidFill>
            <a:prstDash val="solid"/>
          </a:ln>
        </p:spPr>
      </p:sp>
      <p:sp>
        <p:nvSpPr>
          <p:cNvPr id="21" name="Shape 19"/>
          <p:cNvSpPr/>
          <p:nvPr/>
        </p:nvSpPr>
        <p:spPr>
          <a:xfrm>
            <a:off x="8732520" y="1234440"/>
            <a:ext cx="1143000" cy="438912"/>
          </a:xfrm>
          <a:prstGeom prst="roundRect">
            <a:avLst>
              <a:gd name="adj" fmla="val 12500"/>
            </a:avLst>
          </a:prstGeom>
          <a:solidFill>
            <a:srgbClr val="EAF2FF"/>
          </a:solidFill>
          <a:ln w="12700">
            <a:solidFill>
              <a:srgbClr val="B7C2D0"/>
            </a:solidFill>
            <a:prstDash val="solid"/>
          </a:ln>
        </p:spPr>
      </p:sp>
      <p:sp>
        <p:nvSpPr>
          <p:cNvPr id="22" name="Text 20"/>
          <p:cNvSpPr/>
          <p:nvPr/>
        </p:nvSpPr>
        <p:spPr>
          <a:xfrm>
            <a:off x="8805672" y="1307592"/>
            <a:ext cx="996696" cy="292608"/>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Media Jobs</a:t>
            </a:r>
            <a:endParaRPr lang="en-US" sz="950" dirty="0"/>
          </a:p>
        </p:txBody>
      </p:sp>
      <p:sp>
        <p:nvSpPr>
          <p:cNvPr id="23" name="Shape 21"/>
          <p:cNvSpPr/>
          <p:nvPr/>
        </p:nvSpPr>
        <p:spPr>
          <a:xfrm>
            <a:off x="9299448" y="1783080"/>
            <a:ext cx="0" cy="4023360"/>
          </a:xfrm>
          <a:prstGeom prst="line">
            <a:avLst/>
          </a:prstGeom>
          <a:noFill/>
          <a:ln w="12700">
            <a:solidFill>
              <a:srgbClr val="CBD5E1"/>
            </a:solidFill>
            <a:prstDash val="solid"/>
          </a:ln>
        </p:spPr>
      </p:sp>
      <p:sp>
        <p:nvSpPr>
          <p:cNvPr id="24" name="Shape 22"/>
          <p:cNvSpPr/>
          <p:nvPr/>
        </p:nvSpPr>
        <p:spPr>
          <a:xfrm>
            <a:off x="10360152" y="1234440"/>
            <a:ext cx="1143000" cy="438912"/>
          </a:xfrm>
          <a:prstGeom prst="roundRect">
            <a:avLst>
              <a:gd name="adj" fmla="val 12500"/>
            </a:avLst>
          </a:prstGeom>
          <a:solidFill>
            <a:srgbClr val="EAF2FF"/>
          </a:solidFill>
          <a:ln w="12700">
            <a:solidFill>
              <a:srgbClr val="B7C2D0"/>
            </a:solidFill>
            <a:prstDash val="solid"/>
          </a:ln>
        </p:spPr>
      </p:sp>
      <p:sp>
        <p:nvSpPr>
          <p:cNvPr id="25" name="Text 23"/>
          <p:cNvSpPr/>
          <p:nvPr/>
        </p:nvSpPr>
        <p:spPr>
          <a:xfrm>
            <a:off x="10433304" y="1307592"/>
            <a:ext cx="996696" cy="292608"/>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Blob</a:t>
            </a:r>
            <a:endParaRPr lang="en-US" sz="950" dirty="0"/>
          </a:p>
        </p:txBody>
      </p:sp>
      <p:sp>
        <p:nvSpPr>
          <p:cNvPr id="26" name="Shape 24"/>
          <p:cNvSpPr/>
          <p:nvPr/>
        </p:nvSpPr>
        <p:spPr>
          <a:xfrm>
            <a:off x="10927080" y="1783080"/>
            <a:ext cx="0" cy="4023360"/>
          </a:xfrm>
          <a:prstGeom prst="line">
            <a:avLst/>
          </a:prstGeom>
          <a:noFill/>
          <a:ln w="12700">
            <a:solidFill>
              <a:srgbClr val="CBD5E1"/>
            </a:solidFill>
            <a:prstDash val="solid"/>
          </a:ln>
        </p:spPr>
      </p:sp>
      <p:sp>
        <p:nvSpPr>
          <p:cNvPr id="27" name="Shape 25"/>
          <p:cNvSpPr/>
          <p:nvPr/>
        </p:nvSpPr>
        <p:spPr>
          <a:xfrm>
            <a:off x="1188720" y="1920240"/>
            <a:ext cx="1627632" cy="0"/>
          </a:xfrm>
          <a:prstGeom prst="line">
            <a:avLst/>
          </a:prstGeom>
          <a:noFill/>
          <a:ln w="17780">
            <a:solidFill>
              <a:srgbClr val="2563EB"/>
            </a:solidFill>
            <a:prstDash val="solid"/>
            <a:headEnd type="none"/>
            <a:tailEnd type="triangle"/>
          </a:ln>
        </p:spPr>
      </p:sp>
      <p:sp>
        <p:nvSpPr>
          <p:cNvPr id="28" name="Text 26"/>
          <p:cNvSpPr/>
          <p:nvPr/>
        </p:nvSpPr>
        <p:spPr>
          <a:xfrm>
            <a:off x="1280160" y="1755648"/>
            <a:ext cx="1581912" cy="137160"/>
          </a:xfrm>
          <a:prstGeom prst="rect">
            <a:avLst/>
          </a:prstGeom>
          <a:noFill/>
          <a:ln/>
        </p:spPr>
        <p:txBody>
          <a:bodyPr wrap="square" lIns="0" tIns="0" rIns="0" bIns="0" rtlCol="0" anchor="ctr"/>
          <a:lstStyle/>
          <a:p>
            <a:pPr algn="ctr" indent="0" marL="0">
              <a:buNone/>
            </a:pPr>
            <a:r>
              <a:rPr lang="en-US" sz="720" dirty="0">
                <a:solidFill>
                  <a:srgbClr val="495466"/>
                </a:solidFill>
              </a:rPr>
              <a:t>submit feedback</a:t>
            </a:r>
            <a:endParaRPr lang="en-US" sz="720" dirty="0"/>
          </a:p>
        </p:txBody>
      </p:sp>
      <p:sp>
        <p:nvSpPr>
          <p:cNvPr id="29" name="Shape 27"/>
          <p:cNvSpPr/>
          <p:nvPr/>
        </p:nvSpPr>
        <p:spPr>
          <a:xfrm>
            <a:off x="2816352" y="2331720"/>
            <a:ext cx="1627632" cy="0"/>
          </a:xfrm>
          <a:prstGeom prst="line">
            <a:avLst/>
          </a:prstGeom>
          <a:noFill/>
          <a:ln w="17780">
            <a:solidFill>
              <a:srgbClr val="2563EB"/>
            </a:solidFill>
            <a:prstDash val="solid"/>
            <a:headEnd type="none"/>
            <a:tailEnd type="triangle"/>
          </a:ln>
        </p:spPr>
      </p:sp>
      <p:sp>
        <p:nvSpPr>
          <p:cNvPr id="30" name="Text 28"/>
          <p:cNvSpPr/>
          <p:nvPr/>
        </p:nvSpPr>
        <p:spPr>
          <a:xfrm>
            <a:off x="2907792" y="2167128"/>
            <a:ext cx="1581912" cy="137160"/>
          </a:xfrm>
          <a:prstGeom prst="rect">
            <a:avLst/>
          </a:prstGeom>
          <a:noFill/>
          <a:ln/>
        </p:spPr>
        <p:txBody>
          <a:bodyPr wrap="square" lIns="0" tIns="0" rIns="0" bIns="0" rtlCol="0" anchor="ctr"/>
          <a:lstStyle/>
          <a:p>
            <a:pPr algn="ctr" indent="0" marL="0">
              <a:buNone/>
            </a:pPr>
            <a:r>
              <a:rPr lang="en-US" sz="720" dirty="0">
                <a:solidFill>
                  <a:srgbClr val="495466"/>
                </a:solidFill>
              </a:rPr>
              <a:t>API request</a:t>
            </a:r>
            <a:endParaRPr lang="en-US" sz="720" dirty="0"/>
          </a:p>
        </p:txBody>
      </p:sp>
      <p:sp>
        <p:nvSpPr>
          <p:cNvPr id="31" name="Shape 29"/>
          <p:cNvSpPr/>
          <p:nvPr/>
        </p:nvSpPr>
        <p:spPr>
          <a:xfrm>
            <a:off x="4443984" y="2743200"/>
            <a:ext cx="1627632" cy="0"/>
          </a:xfrm>
          <a:prstGeom prst="line">
            <a:avLst/>
          </a:prstGeom>
          <a:noFill/>
          <a:ln w="17780">
            <a:solidFill>
              <a:srgbClr val="2563EB"/>
            </a:solidFill>
            <a:prstDash val="solid"/>
            <a:headEnd type="none"/>
            <a:tailEnd type="triangle"/>
          </a:ln>
        </p:spPr>
      </p:sp>
      <p:sp>
        <p:nvSpPr>
          <p:cNvPr id="32" name="Text 30"/>
          <p:cNvSpPr/>
          <p:nvPr/>
        </p:nvSpPr>
        <p:spPr>
          <a:xfrm>
            <a:off x="4535424" y="2578608"/>
            <a:ext cx="1581912" cy="137160"/>
          </a:xfrm>
          <a:prstGeom prst="rect">
            <a:avLst/>
          </a:prstGeom>
          <a:noFill/>
          <a:ln/>
        </p:spPr>
        <p:txBody>
          <a:bodyPr wrap="square" lIns="0" tIns="0" rIns="0" bIns="0" rtlCol="0" anchor="ctr"/>
          <a:lstStyle/>
          <a:p>
            <a:pPr algn="ctr" indent="0" marL="0">
              <a:buNone/>
            </a:pPr>
            <a:r>
              <a:rPr lang="en-US" sz="720" dirty="0">
                <a:solidFill>
                  <a:srgbClr val="495466"/>
                </a:solidFill>
              </a:rPr>
              <a:t>resume graph</a:t>
            </a:r>
            <a:endParaRPr lang="en-US" sz="720" dirty="0"/>
          </a:p>
        </p:txBody>
      </p:sp>
      <p:sp>
        <p:nvSpPr>
          <p:cNvPr id="33" name="Shape 31"/>
          <p:cNvSpPr/>
          <p:nvPr/>
        </p:nvSpPr>
        <p:spPr>
          <a:xfrm>
            <a:off x="6071616" y="3154680"/>
            <a:ext cx="1627632" cy="0"/>
          </a:xfrm>
          <a:prstGeom prst="line">
            <a:avLst/>
          </a:prstGeom>
          <a:noFill/>
          <a:ln w="17780">
            <a:solidFill>
              <a:srgbClr val="2563EB"/>
            </a:solidFill>
            <a:prstDash val="solid"/>
            <a:headEnd type="none"/>
            <a:tailEnd type="triangle"/>
          </a:ln>
        </p:spPr>
      </p:sp>
      <p:sp>
        <p:nvSpPr>
          <p:cNvPr id="34" name="Text 32"/>
          <p:cNvSpPr/>
          <p:nvPr/>
        </p:nvSpPr>
        <p:spPr>
          <a:xfrm>
            <a:off x="6163056" y="2990088"/>
            <a:ext cx="1581912" cy="137160"/>
          </a:xfrm>
          <a:prstGeom prst="rect">
            <a:avLst/>
          </a:prstGeom>
          <a:noFill/>
          <a:ln/>
        </p:spPr>
        <p:txBody>
          <a:bodyPr wrap="square" lIns="0" tIns="0" rIns="0" bIns="0" rtlCol="0" anchor="ctr"/>
          <a:lstStyle/>
          <a:p>
            <a:pPr algn="ctr" indent="0" marL="0">
              <a:buNone/>
            </a:pPr>
            <a:r>
              <a:rPr lang="en-US" sz="720" dirty="0">
                <a:solidFill>
                  <a:srgbClr val="495466"/>
                </a:solidFill>
              </a:rPr>
              <a:t>load checkpoint</a:t>
            </a:r>
            <a:endParaRPr lang="en-US" sz="720" dirty="0"/>
          </a:p>
        </p:txBody>
      </p:sp>
      <p:sp>
        <p:nvSpPr>
          <p:cNvPr id="35" name="Shape 33"/>
          <p:cNvSpPr/>
          <p:nvPr/>
        </p:nvSpPr>
        <p:spPr>
          <a:xfrm>
            <a:off x="6163056" y="3593592"/>
            <a:ext cx="502920" cy="320040"/>
          </a:xfrm>
          <a:prstGeom prst="arc">
            <a:avLst/>
          </a:prstGeom>
          <a:noFill/>
          <a:ln w="12700">
            <a:solidFill>
              <a:srgbClr val="2563EB"/>
            </a:solidFill>
            <a:prstDash val="solid"/>
          </a:ln>
        </p:spPr>
      </p:sp>
      <p:sp>
        <p:nvSpPr>
          <p:cNvPr id="36" name="Text 34"/>
          <p:cNvSpPr/>
          <p:nvPr/>
        </p:nvSpPr>
        <p:spPr>
          <a:xfrm>
            <a:off x="6163056" y="3538728"/>
            <a:ext cx="-45720" cy="137160"/>
          </a:xfrm>
          <a:prstGeom prst="rect">
            <a:avLst/>
          </a:prstGeom>
          <a:noFill/>
          <a:ln/>
        </p:spPr>
        <p:txBody>
          <a:bodyPr wrap="square" lIns="0" tIns="0" rIns="0" bIns="0" rtlCol="0" anchor="ctr"/>
          <a:lstStyle/>
          <a:p>
            <a:pPr algn="ctr" indent="0" marL="0">
              <a:buNone/>
            </a:pPr>
            <a:r>
              <a:rPr lang="en-US" sz="720" dirty="0">
                <a:solidFill>
                  <a:srgbClr val="495466"/>
                </a:solidFill>
              </a:rPr>
              <a:t>update affected nodes</a:t>
            </a:r>
            <a:endParaRPr lang="en-US" sz="720" dirty="0"/>
          </a:p>
        </p:txBody>
      </p:sp>
      <p:sp>
        <p:nvSpPr>
          <p:cNvPr id="37" name="Shape 35"/>
          <p:cNvSpPr/>
          <p:nvPr/>
        </p:nvSpPr>
        <p:spPr>
          <a:xfrm>
            <a:off x="6071616" y="4251960"/>
            <a:ext cx="1627632" cy="0"/>
          </a:xfrm>
          <a:prstGeom prst="line">
            <a:avLst/>
          </a:prstGeom>
          <a:noFill/>
          <a:ln w="17780">
            <a:solidFill>
              <a:srgbClr val="2563EB"/>
            </a:solidFill>
            <a:prstDash val="solid"/>
            <a:headEnd type="none"/>
            <a:tailEnd type="triangle"/>
          </a:ln>
        </p:spPr>
      </p:sp>
      <p:sp>
        <p:nvSpPr>
          <p:cNvPr id="38" name="Text 36"/>
          <p:cNvSpPr/>
          <p:nvPr/>
        </p:nvSpPr>
        <p:spPr>
          <a:xfrm>
            <a:off x="6163056" y="4087368"/>
            <a:ext cx="1581912" cy="137160"/>
          </a:xfrm>
          <a:prstGeom prst="rect">
            <a:avLst/>
          </a:prstGeom>
          <a:noFill/>
          <a:ln/>
        </p:spPr>
        <p:txBody>
          <a:bodyPr wrap="square" lIns="0" tIns="0" rIns="0" bIns="0" rtlCol="0" anchor="ctr"/>
          <a:lstStyle/>
          <a:p>
            <a:pPr algn="ctr" indent="0" marL="0">
              <a:buNone/>
            </a:pPr>
            <a:r>
              <a:rPr lang="en-US" sz="720" dirty="0">
                <a:solidFill>
                  <a:srgbClr val="495466"/>
                </a:solidFill>
              </a:rPr>
              <a:t>save new checkpoint</a:t>
            </a:r>
            <a:endParaRPr lang="en-US" sz="720" dirty="0"/>
          </a:p>
        </p:txBody>
      </p:sp>
      <p:sp>
        <p:nvSpPr>
          <p:cNvPr id="39" name="Shape 37"/>
          <p:cNvSpPr/>
          <p:nvPr/>
        </p:nvSpPr>
        <p:spPr>
          <a:xfrm>
            <a:off x="6071616" y="4800600"/>
            <a:ext cx="3255264" cy="0"/>
          </a:xfrm>
          <a:prstGeom prst="line">
            <a:avLst/>
          </a:prstGeom>
          <a:noFill/>
          <a:ln w="17780">
            <a:solidFill>
              <a:srgbClr val="2563EB"/>
            </a:solidFill>
            <a:prstDash val="solid"/>
            <a:headEnd type="none"/>
            <a:tailEnd type="triangle"/>
          </a:ln>
        </p:spPr>
      </p:sp>
      <p:sp>
        <p:nvSpPr>
          <p:cNvPr id="40" name="Text 38"/>
          <p:cNvSpPr/>
          <p:nvPr/>
        </p:nvSpPr>
        <p:spPr>
          <a:xfrm>
            <a:off x="6163056" y="4636008"/>
            <a:ext cx="3209544" cy="137160"/>
          </a:xfrm>
          <a:prstGeom prst="rect">
            <a:avLst/>
          </a:prstGeom>
          <a:noFill/>
          <a:ln/>
        </p:spPr>
        <p:txBody>
          <a:bodyPr wrap="square" lIns="0" tIns="0" rIns="0" bIns="0" rtlCol="0" anchor="ctr"/>
          <a:lstStyle/>
          <a:p>
            <a:pPr algn="ctr" indent="0" marL="0">
              <a:buNone/>
            </a:pPr>
            <a:r>
              <a:rPr lang="en-US" sz="720" dirty="0">
                <a:solidFill>
                  <a:srgbClr val="495466"/>
                </a:solidFill>
              </a:rPr>
              <a:t>dispatch render</a:t>
            </a:r>
            <a:endParaRPr lang="en-US" sz="720" dirty="0"/>
          </a:p>
        </p:txBody>
      </p:sp>
      <p:sp>
        <p:nvSpPr>
          <p:cNvPr id="41" name="Shape 39"/>
          <p:cNvSpPr/>
          <p:nvPr/>
        </p:nvSpPr>
        <p:spPr>
          <a:xfrm>
            <a:off x="9326880" y="5349240"/>
            <a:ext cx="1627632" cy="0"/>
          </a:xfrm>
          <a:prstGeom prst="line">
            <a:avLst/>
          </a:prstGeom>
          <a:noFill/>
          <a:ln w="17780">
            <a:solidFill>
              <a:srgbClr val="2563EB"/>
            </a:solidFill>
            <a:prstDash val="solid"/>
            <a:headEnd type="none"/>
            <a:tailEnd type="triangle"/>
          </a:ln>
        </p:spPr>
      </p:sp>
      <p:sp>
        <p:nvSpPr>
          <p:cNvPr id="42" name="Text 40"/>
          <p:cNvSpPr/>
          <p:nvPr/>
        </p:nvSpPr>
        <p:spPr>
          <a:xfrm>
            <a:off x="9418320" y="5184648"/>
            <a:ext cx="1581912" cy="137160"/>
          </a:xfrm>
          <a:prstGeom prst="rect">
            <a:avLst/>
          </a:prstGeom>
          <a:noFill/>
          <a:ln/>
        </p:spPr>
        <p:txBody>
          <a:bodyPr wrap="square" lIns="0" tIns="0" rIns="0" bIns="0" rtlCol="0" anchor="ctr"/>
          <a:lstStyle/>
          <a:p>
            <a:pPr algn="ctr" indent="0" marL="0">
              <a:buNone/>
            </a:pPr>
            <a:r>
              <a:rPr lang="en-US" sz="720" dirty="0">
                <a:solidFill>
                  <a:srgbClr val="495466"/>
                </a:solidFill>
              </a:rPr>
              <a:t>store artifacts</a:t>
            </a:r>
            <a:endParaRPr lang="en-US" sz="720" dirty="0"/>
          </a:p>
        </p:txBody>
      </p:sp>
      <p:sp>
        <p:nvSpPr>
          <p:cNvPr id="43" name="Shape 41"/>
          <p:cNvSpPr/>
          <p:nvPr/>
        </p:nvSpPr>
        <p:spPr>
          <a:xfrm>
            <a:off x="9326880" y="5806440"/>
            <a:ext cx="-3255264" cy="0"/>
          </a:xfrm>
          <a:prstGeom prst="line">
            <a:avLst/>
          </a:prstGeom>
          <a:noFill/>
          <a:ln w="17780">
            <a:solidFill>
              <a:srgbClr val="2563EB"/>
            </a:solidFill>
            <a:prstDash val="solid"/>
            <a:headEnd type="none"/>
            <a:tailEnd type="triangle"/>
          </a:ln>
        </p:spPr>
      </p:sp>
      <p:sp>
        <p:nvSpPr>
          <p:cNvPr id="44" name="Text 42"/>
          <p:cNvSpPr/>
          <p:nvPr/>
        </p:nvSpPr>
        <p:spPr>
          <a:xfrm>
            <a:off x="6163056" y="5641848"/>
            <a:ext cx="3209544" cy="137160"/>
          </a:xfrm>
          <a:prstGeom prst="rect">
            <a:avLst/>
          </a:prstGeom>
          <a:noFill/>
          <a:ln/>
        </p:spPr>
        <p:txBody>
          <a:bodyPr wrap="square" lIns="0" tIns="0" rIns="0" bIns="0" rtlCol="0" anchor="ctr"/>
          <a:lstStyle/>
          <a:p>
            <a:pPr algn="ctr" indent="0" marL="0">
              <a:buNone/>
            </a:pPr>
            <a:r>
              <a:rPr lang="en-US" sz="720" dirty="0">
                <a:solidFill>
                  <a:srgbClr val="495466"/>
                </a:solidFill>
              </a:rPr>
              <a:t>completion verified</a:t>
            </a:r>
            <a:endParaRPr lang="en-US" sz="720" dirty="0"/>
          </a:p>
        </p:txBody>
      </p:sp>
      <p:sp>
        <p:nvSpPr>
          <p:cNvPr id="45" name="Text 43"/>
          <p:cNvSpPr/>
          <p:nvPr/>
        </p:nvSpPr>
        <p:spPr>
          <a:xfrm>
            <a:off x="1005840" y="6309360"/>
            <a:ext cx="9601200" cy="201168"/>
          </a:xfrm>
          <a:prstGeom prst="rect">
            <a:avLst/>
          </a:prstGeom>
          <a:noFill/>
          <a:ln/>
        </p:spPr>
        <p:txBody>
          <a:bodyPr wrap="square" lIns="0" tIns="0" rIns="0" bIns="0" rtlCol="0" anchor="ctr"/>
          <a:lstStyle/>
          <a:p>
            <a:pPr algn="ctr" indent="0" marL="0">
              <a:buNone/>
            </a:pPr>
            <a:r>
              <a:rPr lang="en-US" sz="1200" b="1" dirty="0">
                <a:solidFill>
                  <a:srgbClr val="0B1F3A"/>
                </a:solidFill>
              </a:rPr>
              <a:t>Key message: the workflow can wait for human approval and resume later without repeating completed work.</a:t>
            </a:r>
            <a:endParaRPr lang="en-US" sz="1200" dirty="0"/>
          </a:p>
        </p:txBody>
      </p:sp>
      <p:sp>
        <p:nvSpPr>
          <p:cNvPr id="46" name="Text 44"/>
          <p:cNvSpPr/>
          <p:nvPr/>
        </p:nvSpPr>
        <p:spPr>
          <a:xfrm>
            <a:off x="11448288" y="6492240"/>
            <a:ext cx="347472" cy="164592"/>
          </a:xfrm>
          <a:prstGeom prst="rect">
            <a:avLst/>
          </a:prstGeom>
          <a:noFill/>
          <a:ln/>
        </p:spPr>
        <p:txBody>
          <a:bodyPr wrap="square" lIns="0" tIns="0" rIns="0" bIns="0" rtlCol="0" anchor="ctr"/>
          <a:lstStyle/>
          <a:p>
            <a:pPr algn="r" indent="0" marL="0">
              <a:buNone/>
            </a:pPr>
            <a:r>
              <a:rPr lang="en-US" sz="800" dirty="0">
                <a:solidFill>
                  <a:srgbClr val="495466"/>
                </a:solidFill>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563EB"/>
          </a:solidFill>
          <a:ln w="12700">
            <a:solidFill>
              <a:srgbClr val="2563EB"/>
            </a:solidFill>
            <a:prstDash val="solid"/>
          </a:ln>
        </p:spPr>
      </p:sp>
      <p:sp>
        <p:nvSpPr>
          <p:cNvPr id="3" name="Text 1"/>
          <p:cNvSpPr/>
          <p:nvPr/>
        </p:nvSpPr>
        <p:spPr>
          <a:xfrm>
            <a:off x="502920" y="292608"/>
            <a:ext cx="3474720" cy="201168"/>
          </a:xfrm>
          <a:prstGeom prst="rect">
            <a:avLst/>
          </a:prstGeom>
          <a:noFill/>
          <a:ln/>
        </p:spPr>
        <p:txBody>
          <a:bodyPr wrap="square" lIns="0" tIns="0" rIns="0" bIns="0" rtlCol="0" anchor="ctr"/>
          <a:lstStyle/>
          <a:p>
            <a:pPr indent="0" marL="0">
              <a:buNone/>
            </a:pPr>
            <a:r>
              <a:rPr lang="en-US" sz="850" b="1" dirty="0">
                <a:solidFill>
                  <a:srgbClr val="2563EB"/>
                </a:solidFill>
              </a:rPr>
              <a:t>SCENE-LEVEL DEPENDENCY CONTROL</a:t>
            </a:r>
            <a:endParaRPr lang="en-US" sz="850" dirty="0"/>
          </a:p>
        </p:txBody>
      </p:sp>
      <p:sp>
        <p:nvSpPr>
          <p:cNvPr id="4" name="Text 2"/>
          <p:cNvSpPr/>
          <p:nvPr/>
        </p:nvSpPr>
        <p:spPr>
          <a:xfrm>
            <a:off x="502920" y="548640"/>
            <a:ext cx="7772400" cy="384048"/>
          </a:xfrm>
          <a:prstGeom prst="rect">
            <a:avLst/>
          </a:prstGeom>
          <a:noFill/>
          <a:ln/>
        </p:spPr>
        <p:txBody>
          <a:bodyPr wrap="square" lIns="0" tIns="0" rIns="0" bIns="0" rtlCol="0" anchor="ctr"/>
          <a:lstStyle/>
          <a:p>
            <a:pPr indent="0" marL="0">
              <a:buNone/>
            </a:pPr>
            <a:r>
              <a:rPr lang="en-US" sz="2400" b="1" dirty="0">
                <a:solidFill>
                  <a:srgbClr val="0B1F3A"/>
                </a:solidFill>
              </a:rPr>
              <a:t>Selective regeneration: only affected artifacts change</a:t>
            </a:r>
            <a:endParaRPr lang="en-US" sz="2400" dirty="0"/>
          </a:p>
        </p:txBody>
      </p:sp>
      <p:sp>
        <p:nvSpPr>
          <p:cNvPr id="5" name="Text 3"/>
          <p:cNvSpPr/>
          <p:nvPr/>
        </p:nvSpPr>
        <p:spPr>
          <a:xfrm>
            <a:off x="8503920" y="594360"/>
            <a:ext cx="3108960" cy="228600"/>
          </a:xfrm>
          <a:prstGeom prst="rect">
            <a:avLst/>
          </a:prstGeom>
          <a:noFill/>
          <a:ln/>
        </p:spPr>
        <p:txBody>
          <a:bodyPr wrap="square" lIns="0" tIns="0" rIns="0" bIns="0" rtlCol="0" anchor="ctr"/>
          <a:lstStyle/>
          <a:p>
            <a:pPr algn="r" indent="0" marL="0">
              <a:buNone/>
            </a:pPr>
            <a:r>
              <a:rPr lang="en-US" sz="900" dirty="0">
                <a:solidFill>
                  <a:srgbClr val="495466"/>
                </a:solidFill>
              </a:rPr>
              <a:t>Document-to-Approved-Video Platform</a:t>
            </a:r>
            <a:endParaRPr lang="en-US" sz="900" dirty="0"/>
          </a:p>
        </p:txBody>
      </p:sp>
      <p:sp>
        <p:nvSpPr>
          <p:cNvPr id="6" name="Shape 4"/>
          <p:cNvSpPr/>
          <p:nvPr/>
        </p:nvSpPr>
        <p:spPr>
          <a:xfrm>
            <a:off x="731520" y="1417320"/>
            <a:ext cx="2743200" cy="731520"/>
          </a:xfrm>
          <a:prstGeom prst="roundRect">
            <a:avLst>
              <a:gd name="adj" fmla="val 7500"/>
            </a:avLst>
          </a:prstGeom>
          <a:solidFill>
            <a:srgbClr val="FFF0D6"/>
          </a:solidFill>
          <a:ln w="12700">
            <a:solidFill>
              <a:srgbClr val="D99B2B"/>
            </a:solidFill>
            <a:prstDash val="solid"/>
          </a:ln>
        </p:spPr>
      </p:sp>
      <p:sp>
        <p:nvSpPr>
          <p:cNvPr id="7" name="Text 5"/>
          <p:cNvSpPr/>
          <p:nvPr/>
        </p:nvSpPr>
        <p:spPr>
          <a:xfrm>
            <a:off x="804672" y="1490472"/>
            <a:ext cx="2596896" cy="585216"/>
          </a:xfrm>
          <a:prstGeom prst="rect">
            <a:avLst/>
          </a:prstGeom>
          <a:noFill/>
          <a:ln/>
        </p:spPr>
        <p:txBody>
          <a:bodyPr wrap="square" lIns="0" tIns="0" rIns="0" bIns="0" rtlCol="0" anchor="ctr">
            <a:normAutofit/>
          </a:bodyPr>
          <a:lstStyle/>
          <a:p>
            <a:pPr algn="ctr" indent="0" marL="0">
              <a:buNone/>
            </a:pPr>
            <a:r>
              <a:rPr lang="en-US" sz="1050" b="1" dirty="0">
                <a:solidFill>
                  <a:srgbClr val="0B1F3A"/>
                </a:solidFill>
              </a:rPr>
              <a:t>Reviewer feedback</a:t>
            </a:r>
            <a:endParaRPr lang="en-US" sz="1050" dirty="0"/>
          </a:p>
          <a:p>
            <a:pPr algn="ctr" indent="0" marL="0">
              <a:buNone/>
            </a:pPr>
            <a:r>
              <a:rPr lang="en-US" sz="1050" b="1" dirty="0">
                <a:solidFill>
                  <a:srgbClr val="0B1F3A"/>
                </a:solidFill>
              </a:rPr>
              <a:t>“Scene 9: remove price, use image 2, shorten narration”</a:t>
            </a:r>
            <a:endParaRPr lang="en-US" sz="1050" dirty="0"/>
          </a:p>
        </p:txBody>
      </p:sp>
      <p:sp>
        <p:nvSpPr>
          <p:cNvPr id="8" name="Shape 6"/>
          <p:cNvSpPr/>
          <p:nvPr/>
        </p:nvSpPr>
        <p:spPr>
          <a:xfrm>
            <a:off x="3566160" y="1783080"/>
            <a:ext cx="685800" cy="0"/>
          </a:xfrm>
          <a:prstGeom prst="line">
            <a:avLst/>
          </a:prstGeom>
          <a:noFill/>
          <a:ln w="17780">
            <a:solidFill>
              <a:srgbClr val="2563EB"/>
            </a:solidFill>
            <a:prstDash val="solid"/>
            <a:headEnd type="none"/>
            <a:tailEnd type="triangle"/>
          </a:ln>
        </p:spPr>
      </p:sp>
      <p:sp>
        <p:nvSpPr>
          <p:cNvPr id="9" name="Shape 7"/>
          <p:cNvSpPr/>
          <p:nvPr/>
        </p:nvSpPr>
        <p:spPr>
          <a:xfrm>
            <a:off x="4343400" y="1417320"/>
            <a:ext cx="2103120" cy="731520"/>
          </a:xfrm>
          <a:prstGeom prst="roundRect">
            <a:avLst>
              <a:gd name="adj" fmla="val 7500"/>
            </a:avLst>
          </a:prstGeom>
          <a:solidFill>
            <a:srgbClr val="EFE7FF"/>
          </a:solidFill>
          <a:ln w="12700">
            <a:solidFill>
              <a:srgbClr val="8B5CF6"/>
            </a:solidFill>
            <a:prstDash val="solid"/>
          </a:ln>
        </p:spPr>
      </p:sp>
      <p:sp>
        <p:nvSpPr>
          <p:cNvPr id="10" name="Text 8"/>
          <p:cNvSpPr/>
          <p:nvPr/>
        </p:nvSpPr>
        <p:spPr>
          <a:xfrm>
            <a:off x="4416552" y="1490472"/>
            <a:ext cx="1956816" cy="585216"/>
          </a:xfrm>
          <a:prstGeom prst="rect">
            <a:avLst/>
          </a:prstGeom>
          <a:noFill/>
          <a:ln/>
        </p:spPr>
        <p:txBody>
          <a:bodyPr wrap="square" lIns="0" tIns="0" rIns="0" bIns="0" rtlCol="0" anchor="ctr">
            <a:normAutofit/>
          </a:bodyPr>
          <a:lstStyle/>
          <a:p>
            <a:pPr algn="ctr" indent="0" marL="0">
              <a:buNone/>
            </a:pPr>
            <a:r>
              <a:rPr lang="en-US" sz="1050" b="1" dirty="0">
                <a:solidFill>
                  <a:srgbClr val="0B1F3A"/>
                </a:solidFill>
              </a:rPr>
              <a:t>Feedback Agent</a:t>
            </a:r>
            <a:endParaRPr lang="en-US" sz="1050" dirty="0"/>
          </a:p>
          <a:p>
            <a:pPr algn="ctr" indent="0" marL="0">
              <a:buNone/>
            </a:pPr>
            <a:r>
              <a:rPr lang="en-US" sz="1050" b="1" dirty="0">
                <a:solidFill>
                  <a:srgbClr val="0B1F3A"/>
                </a:solidFill>
              </a:rPr>
              <a:t>Structured change plan</a:t>
            </a:r>
            <a:endParaRPr lang="en-US" sz="1050" dirty="0"/>
          </a:p>
        </p:txBody>
      </p:sp>
      <p:sp>
        <p:nvSpPr>
          <p:cNvPr id="11" name="Shape 9"/>
          <p:cNvSpPr/>
          <p:nvPr/>
        </p:nvSpPr>
        <p:spPr>
          <a:xfrm>
            <a:off x="6537960" y="1783080"/>
            <a:ext cx="640080" cy="0"/>
          </a:xfrm>
          <a:prstGeom prst="line">
            <a:avLst/>
          </a:prstGeom>
          <a:noFill/>
          <a:ln w="17780">
            <a:solidFill>
              <a:srgbClr val="2563EB"/>
            </a:solidFill>
            <a:prstDash val="solid"/>
            <a:headEnd type="none"/>
            <a:tailEnd type="triangle"/>
          </a:ln>
        </p:spPr>
      </p:sp>
      <p:sp>
        <p:nvSpPr>
          <p:cNvPr id="12" name="Shape 10"/>
          <p:cNvSpPr/>
          <p:nvPr/>
        </p:nvSpPr>
        <p:spPr>
          <a:xfrm>
            <a:off x="7269480" y="1417320"/>
            <a:ext cx="2468880" cy="731520"/>
          </a:xfrm>
          <a:prstGeom prst="roundRect">
            <a:avLst>
              <a:gd name="adj" fmla="val 7500"/>
            </a:avLst>
          </a:prstGeom>
          <a:solidFill>
            <a:srgbClr val="EAF2FF"/>
          </a:solidFill>
          <a:ln w="12700">
            <a:solidFill>
              <a:srgbClr val="2563EB"/>
            </a:solidFill>
            <a:prstDash val="solid"/>
          </a:ln>
        </p:spPr>
      </p:sp>
      <p:sp>
        <p:nvSpPr>
          <p:cNvPr id="13" name="Text 11"/>
          <p:cNvSpPr/>
          <p:nvPr/>
        </p:nvSpPr>
        <p:spPr>
          <a:xfrm>
            <a:off x="7342632" y="1490472"/>
            <a:ext cx="2322576" cy="585216"/>
          </a:xfrm>
          <a:prstGeom prst="rect">
            <a:avLst/>
          </a:prstGeom>
          <a:noFill/>
          <a:ln/>
        </p:spPr>
        <p:txBody>
          <a:bodyPr wrap="square" lIns="0" tIns="0" rIns="0" bIns="0" rtlCol="0" anchor="ctr">
            <a:normAutofit/>
          </a:bodyPr>
          <a:lstStyle/>
          <a:p>
            <a:pPr algn="ctr" indent="0" marL="0">
              <a:buNone/>
            </a:pPr>
            <a:r>
              <a:rPr lang="en-US" sz="1050" b="1" dirty="0">
                <a:solidFill>
                  <a:srgbClr val="0B1F3A"/>
                </a:solidFill>
              </a:rPr>
              <a:t>Dependency Resolver</a:t>
            </a:r>
            <a:endParaRPr lang="en-US" sz="1050" dirty="0"/>
          </a:p>
          <a:p>
            <a:pPr algn="ctr" indent="0" marL="0">
              <a:buNone/>
            </a:pPr>
            <a:r>
              <a:rPr lang="en-US" sz="1050" b="1" dirty="0">
                <a:solidFill>
                  <a:srgbClr val="0B1F3A"/>
                </a:solidFill>
              </a:rPr>
              <a:t>Application code validates scope</a:t>
            </a:r>
            <a:endParaRPr lang="en-US" sz="1050" dirty="0"/>
          </a:p>
        </p:txBody>
      </p:sp>
      <p:sp>
        <p:nvSpPr>
          <p:cNvPr id="14" name="Shape 12"/>
          <p:cNvSpPr/>
          <p:nvPr/>
        </p:nvSpPr>
        <p:spPr>
          <a:xfrm>
            <a:off x="8458200" y="2240280"/>
            <a:ext cx="0" cy="640080"/>
          </a:xfrm>
          <a:prstGeom prst="line">
            <a:avLst/>
          </a:prstGeom>
          <a:noFill/>
          <a:ln w="17780">
            <a:solidFill>
              <a:srgbClr val="2563EB"/>
            </a:solidFill>
            <a:prstDash val="solid"/>
            <a:headEnd type="none"/>
            <a:tailEnd type="triangle"/>
          </a:ln>
        </p:spPr>
      </p:sp>
      <p:sp>
        <p:nvSpPr>
          <p:cNvPr id="15" name="Shape 13"/>
          <p:cNvSpPr/>
          <p:nvPr/>
        </p:nvSpPr>
        <p:spPr>
          <a:xfrm>
            <a:off x="960120" y="3063240"/>
            <a:ext cx="2194560" cy="457200"/>
          </a:xfrm>
          <a:prstGeom prst="roundRect">
            <a:avLst>
              <a:gd name="adj" fmla="val 12000"/>
            </a:avLst>
          </a:prstGeom>
          <a:solidFill>
            <a:srgbClr val="FFE3E3"/>
          </a:solidFill>
          <a:ln w="12700">
            <a:solidFill>
              <a:srgbClr val="E05252"/>
            </a:solidFill>
            <a:prstDash val="solid"/>
          </a:ln>
        </p:spPr>
      </p:sp>
      <p:sp>
        <p:nvSpPr>
          <p:cNvPr id="16" name="Text 14"/>
          <p:cNvSpPr/>
          <p:nvPr/>
        </p:nvSpPr>
        <p:spPr>
          <a:xfrm>
            <a:off x="1033272" y="3136392"/>
            <a:ext cx="2048256" cy="310896"/>
          </a:xfrm>
          <a:prstGeom prst="rect">
            <a:avLst/>
          </a:prstGeom>
          <a:noFill/>
          <a:ln/>
        </p:spPr>
        <p:txBody>
          <a:bodyPr wrap="square" lIns="0" tIns="0" rIns="0" bIns="0" rtlCol="0" anchor="ctr">
            <a:normAutofit/>
          </a:bodyPr>
          <a:lstStyle/>
          <a:p>
            <a:pPr algn="ctr" indent="0" marL="0">
              <a:buNone/>
            </a:pPr>
            <a:r>
              <a:rPr lang="en-US" sz="1300" b="1" dirty="0">
                <a:solidFill>
                  <a:srgbClr val="0B1F3A"/>
                </a:solidFill>
              </a:rPr>
              <a:t>Invalidated</a:t>
            </a:r>
            <a:endParaRPr lang="en-US" sz="1300" dirty="0"/>
          </a:p>
        </p:txBody>
      </p:sp>
      <p:sp>
        <p:nvSpPr>
          <p:cNvPr id="17" name="Shape 15"/>
          <p:cNvSpPr/>
          <p:nvPr/>
        </p:nvSpPr>
        <p:spPr>
          <a:xfrm>
            <a:off x="1051560" y="3657600"/>
            <a:ext cx="2011680" cy="292608"/>
          </a:xfrm>
          <a:prstGeom prst="roundRect">
            <a:avLst>
              <a:gd name="adj" fmla="val 18750"/>
            </a:avLst>
          </a:prstGeom>
          <a:solidFill>
            <a:srgbClr val="FFE3E3"/>
          </a:solidFill>
          <a:ln w="12700">
            <a:solidFill>
              <a:srgbClr val="B7C2D0"/>
            </a:solidFill>
            <a:prstDash val="solid"/>
          </a:ln>
        </p:spPr>
      </p:sp>
      <p:sp>
        <p:nvSpPr>
          <p:cNvPr id="18" name="Text 16"/>
          <p:cNvSpPr/>
          <p:nvPr/>
        </p:nvSpPr>
        <p:spPr>
          <a:xfrm>
            <a:off x="1124712" y="3730752"/>
            <a:ext cx="1865376" cy="146304"/>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Script segment 9</a:t>
            </a:r>
            <a:endParaRPr lang="en-US" sz="880" dirty="0"/>
          </a:p>
        </p:txBody>
      </p:sp>
      <p:sp>
        <p:nvSpPr>
          <p:cNvPr id="19" name="Shape 17"/>
          <p:cNvSpPr/>
          <p:nvPr/>
        </p:nvSpPr>
        <p:spPr>
          <a:xfrm>
            <a:off x="1051560" y="4069080"/>
            <a:ext cx="2011680" cy="292608"/>
          </a:xfrm>
          <a:prstGeom prst="roundRect">
            <a:avLst>
              <a:gd name="adj" fmla="val 18750"/>
            </a:avLst>
          </a:prstGeom>
          <a:solidFill>
            <a:srgbClr val="FFE3E3"/>
          </a:solidFill>
          <a:ln w="12700">
            <a:solidFill>
              <a:srgbClr val="B7C2D0"/>
            </a:solidFill>
            <a:prstDash val="solid"/>
          </a:ln>
        </p:spPr>
      </p:sp>
      <p:sp>
        <p:nvSpPr>
          <p:cNvPr id="20" name="Text 18"/>
          <p:cNvSpPr/>
          <p:nvPr/>
        </p:nvSpPr>
        <p:spPr>
          <a:xfrm>
            <a:off x="1124712" y="4142232"/>
            <a:ext cx="1865376" cy="146304"/>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Localized segment 9</a:t>
            </a:r>
            <a:endParaRPr lang="en-US" sz="880" dirty="0"/>
          </a:p>
        </p:txBody>
      </p:sp>
      <p:sp>
        <p:nvSpPr>
          <p:cNvPr id="21" name="Shape 19"/>
          <p:cNvSpPr/>
          <p:nvPr/>
        </p:nvSpPr>
        <p:spPr>
          <a:xfrm>
            <a:off x="1051560" y="4480560"/>
            <a:ext cx="2011680" cy="292608"/>
          </a:xfrm>
          <a:prstGeom prst="roundRect">
            <a:avLst>
              <a:gd name="adj" fmla="val 18750"/>
            </a:avLst>
          </a:prstGeom>
          <a:solidFill>
            <a:srgbClr val="FFE3E3"/>
          </a:solidFill>
          <a:ln w="12700">
            <a:solidFill>
              <a:srgbClr val="B7C2D0"/>
            </a:solidFill>
            <a:prstDash val="solid"/>
          </a:ln>
        </p:spPr>
      </p:sp>
      <p:sp>
        <p:nvSpPr>
          <p:cNvPr id="22" name="Text 20"/>
          <p:cNvSpPr/>
          <p:nvPr/>
        </p:nvSpPr>
        <p:spPr>
          <a:xfrm>
            <a:off x="1124712" y="4553712"/>
            <a:ext cx="1865376" cy="146304"/>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Voice clip 9</a:t>
            </a:r>
            <a:endParaRPr lang="en-US" sz="880" dirty="0"/>
          </a:p>
        </p:txBody>
      </p:sp>
      <p:sp>
        <p:nvSpPr>
          <p:cNvPr id="23" name="Shape 21"/>
          <p:cNvSpPr/>
          <p:nvPr/>
        </p:nvSpPr>
        <p:spPr>
          <a:xfrm>
            <a:off x="1051560" y="4892040"/>
            <a:ext cx="2011680" cy="292608"/>
          </a:xfrm>
          <a:prstGeom prst="roundRect">
            <a:avLst>
              <a:gd name="adj" fmla="val 18750"/>
            </a:avLst>
          </a:prstGeom>
          <a:solidFill>
            <a:srgbClr val="FFE3E3"/>
          </a:solidFill>
          <a:ln w="12700">
            <a:solidFill>
              <a:srgbClr val="B7C2D0"/>
            </a:solidFill>
            <a:prstDash val="solid"/>
          </a:ln>
        </p:spPr>
      </p:sp>
      <p:sp>
        <p:nvSpPr>
          <p:cNvPr id="24" name="Text 22"/>
          <p:cNvSpPr/>
          <p:nvPr/>
        </p:nvSpPr>
        <p:spPr>
          <a:xfrm>
            <a:off x="1124712" y="4965192"/>
            <a:ext cx="1865376" cy="146304"/>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Scene render 9</a:t>
            </a:r>
            <a:endParaRPr lang="en-US" sz="880" dirty="0"/>
          </a:p>
        </p:txBody>
      </p:sp>
      <p:sp>
        <p:nvSpPr>
          <p:cNvPr id="25" name="Shape 23"/>
          <p:cNvSpPr/>
          <p:nvPr/>
        </p:nvSpPr>
        <p:spPr>
          <a:xfrm>
            <a:off x="1051560" y="5303520"/>
            <a:ext cx="2011680" cy="292608"/>
          </a:xfrm>
          <a:prstGeom prst="roundRect">
            <a:avLst>
              <a:gd name="adj" fmla="val 18750"/>
            </a:avLst>
          </a:prstGeom>
          <a:solidFill>
            <a:srgbClr val="FFE3E3"/>
          </a:solidFill>
          <a:ln w="12700">
            <a:solidFill>
              <a:srgbClr val="B7C2D0"/>
            </a:solidFill>
            <a:prstDash val="solid"/>
          </a:ln>
        </p:spPr>
      </p:sp>
      <p:sp>
        <p:nvSpPr>
          <p:cNvPr id="26" name="Text 24"/>
          <p:cNvSpPr/>
          <p:nvPr/>
        </p:nvSpPr>
        <p:spPr>
          <a:xfrm>
            <a:off x="1124712" y="5376672"/>
            <a:ext cx="1865376" cy="146304"/>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Final video</a:t>
            </a:r>
            <a:endParaRPr lang="en-US" sz="880" dirty="0"/>
          </a:p>
        </p:txBody>
      </p:sp>
      <p:sp>
        <p:nvSpPr>
          <p:cNvPr id="27" name="Shape 25"/>
          <p:cNvSpPr/>
          <p:nvPr/>
        </p:nvSpPr>
        <p:spPr>
          <a:xfrm>
            <a:off x="4572000" y="3063240"/>
            <a:ext cx="2194560" cy="457200"/>
          </a:xfrm>
          <a:prstGeom prst="roundRect">
            <a:avLst>
              <a:gd name="adj" fmla="val 12000"/>
            </a:avLst>
          </a:prstGeom>
          <a:solidFill>
            <a:srgbClr val="DFF4EA"/>
          </a:solidFill>
          <a:ln w="12700">
            <a:solidFill>
              <a:srgbClr val="43A472"/>
            </a:solidFill>
            <a:prstDash val="solid"/>
          </a:ln>
        </p:spPr>
      </p:sp>
      <p:sp>
        <p:nvSpPr>
          <p:cNvPr id="28" name="Text 26"/>
          <p:cNvSpPr/>
          <p:nvPr/>
        </p:nvSpPr>
        <p:spPr>
          <a:xfrm>
            <a:off x="4645152" y="3136392"/>
            <a:ext cx="2048256" cy="310896"/>
          </a:xfrm>
          <a:prstGeom prst="rect">
            <a:avLst/>
          </a:prstGeom>
          <a:noFill/>
          <a:ln/>
        </p:spPr>
        <p:txBody>
          <a:bodyPr wrap="square" lIns="0" tIns="0" rIns="0" bIns="0" rtlCol="0" anchor="ctr">
            <a:normAutofit/>
          </a:bodyPr>
          <a:lstStyle/>
          <a:p>
            <a:pPr algn="ctr" indent="0" marL="0">
              <a:buNone/>
            </a:pPr>
            <a:r>
              <a:rPr lang="en-US" sz="1300" b="1" dirty="0">
                <a:solidFill>
                  <a:srgbClr val="0B1F3A"/>
                </a:solidFill>
              </a:rPr>
              <a:t>Reused</a:t>
            </a:r>
            <a:endParaRPr lang="en-US" sz="1300" dirty="0"/>
          </a:p>
        </p:txBody>
      </p:sp>
      <p:sp>
        <p:nvSpPr>
          <p:cNvPr id="29" name="Shape 27"/>
          <p:cNvSpPr/>
          <p:nvPr/>
        </p:nvSpPr>
        <p:spPr>
          <a:xfrm>
            <a:off x="4663440" y="3657600"/>
            <a:ext cx="2011680" cy="292608"/>
          </a:xfrm>
          <a:prstGeom prst="roundRect">
            <a:avLst>
              <a:gd name="adj" fmla="val 18750"/>
            </a:avLst>
          </a:prstGeom>
          <a:solidFill>
            <a:srgbClr val="DFF4EA"/>
          </a:solidFill>
          <a:ln w="12700">
            <a:solidFill>
              <a:srgbClr val="B7C2D0"/>
            </a:solidFill>
            <a:prstDash val="solid"/>
          </a:ln>
        </p:spPr>
      </p:sp>
      <p:sp>
        <p:nvSpPr>
          <p:cNvPr id="30" name="Text 28"/>
          <p:cNvSpPr/>
          <p:nvPr/>
        </p:nvSpPr>
        <p:spPr>
          <a:xfrm>
            <a:off x="4736592" y="3730752"/>
            <a:ext cx="1865376" cy="146304"/>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All other scripts</a:t>
            </a:r>
            <a:endParaRPr lang="en-US" sz="880" dirty="0"/>
          </a:p>
        </p:txBody>
      </p:sp>
      <p:sp>
        <p:nvSpPr>
          <p:cNvPr id="31" name="Shape 29"/>
          <p:cNvSpPr/>
          <p:nvPr/>
        </p:nvSpPr>
        <p:spPr>
          <a:xfrm>
            <a:off x="4663440" y="4114800"/>
            <a:ext cx="2011680" cy="292608"/>
          </a:xfrm>
          <a:prstGeom prst="roundRect">
            <a:avLst>
              <a:gd name="adj" fmla="val 18750"/>
            </a:avLst>
          </a:prstGeom>
          <a:solidFill>
            <a:srgbClr val="DFF4EA"/>
          </a:solidFill>
          <a:ln w="12700">
            <a:solidFill>
              <a:srgbClr val="B7C2D0"/>
            </a:solidFill>
            <a:prstDash val="solid"/>
          </a:ln>
        </p:spPr>
      </p:sp>
      <p:sp>
        <p:nvSpPr>
          <p:cNvPr id="32" name="Text 30"/>
          <p:cNvSpPr/>
          <p:nvPr/>
        </p:nvSpPr>
        <p:spPr>
          <a:xfrm>
            <a:off x="4736592" y="4187952"/>
            <a:ext cx="1865376" cy="146304"/>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All other voice clips</a:t>
            </a:r>
            <a:endParaRPr lang="en-US" sz="880" dirty="0"/>
          </a:p>
        </p:txBody>
      </p:sp>
      <p:sp>
        <p:nvSpPr>
          <p:cNvPr id="33" name="Shape 31"/>
          <p:cNvSpPr/>
          <p:nvPr/>
        </p:nvSpPr>
        <p:spPr>
          <a:xfrm>
            <a:off x="4663440" y="4572000"/>
            <a:ext cx="2011680" cy="292608"/>
          </a:xfrm>
          <a:prstGeom prst="roundRect">
            <a:avLst>
              <a:gd name="adj" fmla="val 18750"/>
            </a:avLst>
          </a:prstGeom>
          <a:solidFill>
            <a:srgbClr val="DFF4EA"/>
          </a:solidFill>
          <a:ln w="12700">
            <a:solidFill>
              <a:srgbClr val="B7C2D0"/>
            </a:solidFill>
            <a:prstDash val="solid"/>
          </a:ln>
        </p:spPr>
      </p:sp>
      <p:sp>
        <p:nvSpPr>
          <p:cNvPr id="34" name="Text 32"/>
          <p:cNvSpPr/>
          <p:nvPr/>
        </p:nvSpPr>
        <p:spPr>
          <a:xfrm>
            <a:off x="4736592" y="4645152"/>
            <a:ext cx="1865376" cy="146304"/>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All other scenes</a:t>
            </a:r>
            <a:endParaRPr lang="en-US" sz="880" dirty="0"/>
          </a:p>
        </p:txBody>
      </p:sp>
      <p:sp>
        <p:nvSpPr>
          <p:cNvPr id="35" name="Shape 33"/>
          <p:cNvSpPr/>
          <p:nvPr/>
        </p:nvSpPr>
        <p:spPr>
          <a:xfrm>
            <a:off x="4663440" y="5029200"/>
            <a:ext cx="2011680" cy="292608"/>
          </a:xfrm>
          <a:prstGeom prst="roundRect">
            <a:avLst>
              <a:gd name="adj" fmla="val 18750"/>
            </a:avLst>
          </a:prstGeom>
          <a:solidFill>
            <a:srgbClr val="DFF4EA"/>
          </a:solidFill>
          <a:ln w="12700">
            <a:solidFill>
              <a:srgbClr val="B7C2D0"/>
            </a:solidFill>
            <a:prstDash val="solid"/>
          </a:ln>
        </p:spPr>
      </p:sp>
      <p:sp>
        <p:nvSpPr>
          <p:cNvPr id="36" name="Text 34"/>
          <p:cNvSpPr/>
          <p:nvPr/>
        </p:nvSpPr>
        <p:spPr>
          <a:xfrm>
            <a:off x="4736592" y="5102352"/>
            <a:ext cx="1865376" cy="146304"/>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Approved assets</a:t>
            </a:r>
            <a:endParaRPr lang="en-US" sz="880" dirty="0"/>
          </a:p>
        </p:txBody>
      </p:sp>
      <p:sp>
        <p:nvSpPr>
          <p:cNvPr id="37" name="Shape 35"/>
          <p:cNvSpPr/>
          <p:nvPr/>
        </p:nvSpPr>
        <p:spPr>
          <a:xfrm>
            <a:off x="8138160" y="3794760"/>
            <a:ext cx="2651760" cy="822960"/>
          </a:xfrm>
          <a:prstGeom prst="roundRect">
            <a:avLst>
              <a:gd name="adj" fmla="val 6667"/>
            </a:avLst>
          </a:prstGeom>
          <a:solidFill>
            <a:srgbClr val="EAF2FF"/>
          </a:solidFill>
          <a:ln w="12700">
            <a:solidFill>
              <a:srgbClr val="2563EB"/>
            </a:solidFill>
            <a:prstDash val="solid"/>
          </a:ln>
        </p:spPr>
      </p:sp>
      <p:sp>
        <p:nvSpPr>
          <p:cNvPr id="38" name="Text 36"/>
          <p:cNvSpPr/>
          <p:nvPr/>
        </p:nvSpPr>
        <p:spPr>
          <a:xfrm>
            <a:off x="8211312" y="3867912"/>
            <a:ext cx="2505456" cy="676656"/>
          </a:xfrm>
          <a:prstGeom prst="rect">
            <a:avLst/>
          </a:prstGeom>
          <a:noFill/>
          <a:ln/>
        </p:spPr>
        <p:txBody>
          <a:bodyPr wrap="square" lIns="0" tIns="0" rIns="0" bIns="0" rtlCol="0" anchor="ctr">
            <a:normAutofit/>
          </a:bodyPr>
          <a:lstStyle/>
          <a:p>
            <a:pPr algn="ctr" indent="0" marL="0">
              <a:buNone/>
            </a:pPr>
            <a:r>
              <a:rPr lang="en-US" sz="1050" b="1" dirty="0">
                <a:solidFill>
                  <a:srgbClr val="0B1F3A"/>
                </a:solidFill>
              </a:rPr>
              <a:t>Recompose final video</a:t>
            </a:r>
            <a:endParaRPr lang="en-US" sz="1050" dirty="0"/>
          </a:p>
          <a:p>
            <a:pPr algn="ctr" indent="0" marL="0">
              <a:buNone/>
            </a:pPr>
            <a:r>
              <a:rPr lang="en-US" sz="1050" b="1" dirty="0">
                <a:solidFill>
                  <a:srgbClr val="0B1F3A"/>
                </a:solidFill>
              </a:rPr>
              <a:t>from valid + regenerated scenes</a:t>
            </a:r>
            <a:endParaRPr lang="en-US" sz="1050" dirty="0"/>
          </a:p>
        </p:txBody>
      </p:sp>
      <p:sp>
        <p:nvSpPr>
          <p:cNvPr id="39" name="Shape 37"/>
          <p:cNvSpPr/>
          <p:nvPr/>
        </p:nvSpPr>
        <p:spPr>
          <a:xfrm>
            <a:off x="3246120" y="4389120"/>
            <a:ext cx="1234440" cy="0"/>
          </a:xfrm>
          <a:prstGeom prst="line">
            <a:avLst/>
          </a:prstGeom>
          <a:noFill/>
          <a:ln w="17780">
            <a:solidFill>
              <a:srgbClr val="B7C2D0"/>
            </a:solidFill>
            <a:prstDash val="solid"/>
            <a:headEnd type="none"/>
            <a:tailEnd type="triangle"/>
          </a:ln>
        </p:spPr>
      </p:sp>
      <p:sp>
        <p:nvSpPr>
          <p:cNvPr id="40" name="Shape 38"/>
          <p:cNvSpPr/>
          <p:nvPr/>
        </p:nvSpPr>
        <p:spPr>
          <a:xfrm>
            <a:off x="6812280" y="4389120"/>
            <a:ext cx="1234440" cy="-137160"/>
          </a:xfrm>
          <a:prstGeom prst="line">
            <a:avLst/>
          </a:prstGeom>
          <a:noFill/>
          <a:ln w="17780">
            <a:solidFill>
              <a:srgbClr val="2563EB"/>
            </a:solidFill>
            <a:prstDash val="solid"/>
            <a:headEnd type="none"/>
            <a:tailEnd type="triangle"/>
          </a:ln>
        </p:spPr>
      </p:sp>
      <p:sp>
        <p:nvSpPr>
          <p:cNvPr id="41" name="Text 39"/>
          <p:cNvSpPr/>
          <p:nvPr/>
        </p:nvSpPr>
        <p:spPr>
          <a:xfrm>
            <a:off x="960120" y="6263640"/>
            <a:ext cx="9966960" cy="228600"/>
          </a:xfrm>
          <a:prstGeom prst="rect">
            <a:avLst/>
          </a:prstGeom>
          <a:noFill/>
          <a:ln/>
        </p:spPr>
        <p:txBody>
          <a:bodyPr wrap="square" lIns="0" tIns="0" rIns="0" bIns="0" rtlCol="0" anchor="ctr"/>
          <a:lstStyle/>
          <a:p>
            <a:pPr algn="ctr" indent="0" marL="0">
              <a:buNone/>
            </a:pPr>
            <a:r>
              <a:rPr lang="en-US" sz="1300" b="1" dirty="0">
                <a:solidFill>
                  <a:srgbClr val="0B1F3A"/>
                </a:solidFill>
              </a:rPr>
              <a:t>Architectural value: one scene change does not restart the entire video-generation workflow.</a:t>
            </a:r>
            <a:endParaRPr lang="en-US" sz="1300" dirty="0"/>
          </a:p>
        </p:txBody>
      </p:sp>
      <p:sp>
        <p:nvSpPr>
          <p:cNvPr id="42" name="Text 40"/>
          <p:cNvSpPr/>
          <p:nvPr/>
        </p:nvSpPr>
        <p:spPr>
          <a:xfrm>
            <a:off x="11448288" y="6492240"/>
            <a:ext cx="347472" cy="164592"/>
          </a:xfrm>
          <a:prstGeom prst="rect">
            <a:avLst/>
          </a:prstGeom>
          <a:noFill/>
          <a:ln/>
        </p:spPr>
        <p:txBody>
          <a:bodyPr wrap="square" lIns="0" tIns="0" rIns="0" bIns="0" rtlCol="0" anchor="ctr"/>
          <a:lstStyle/>
          <a:p>
            <a:pPr algn="r" indent="0" marL="0">
              <a:buNone/>
            </a:pPr>
            <a:r>
              <a:rPr lang="en-US" sz="800" dirty="0">
                <a:solidFill>
                  <a:srgbClr val="495466"/>
                </a:solidFill>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563EB"/>
          </a:solidFill>
          <a:ln w="12700">
            <a:solidFill>
              <a:srgbClr val="2563EB"/>
            </a:solidFill>
            <a:prstDash val="solid"/>
          </a:ln>
        </p:spPr>
      </p:sp>
      <p:sp>
        <p:nvSpPr>
          <p:cNvPr id="3" name="Text 1"/>
          <p:cNvSpPr/>
          <p:nvPr/>
        </p:nvSpPr>
        <p:spPr>
          <a:xfrm>
            <a:off x="502920" y="292608"/>
            <a:ext cx="3474720" cy="201168"/>
          </a:xfrm>
          <a:prstGeom prst="rect">
            <a:avLst/>
          </a:prstGeom>
          <a:noFill/>
          <a:ln/>
        </p:spPr>
        <p:txBody>
          <a:bodyPr wrap="square" lIns="0" tIns="0" rIns="0" bIns="0" rtlCol="0" anchor="ctr"/>
          <a:lstStyle/>
          <a:p>
            <a:pPr indent="0" marL="0">
              <a:buNone/>
            </a:pPr>
            <a:r>
              <a:rPr lang="en-US" sz="850" b="1" dirty="0">
                <a:solidFill>
                  <a:srgbClr val="2563EB"/>
                </a:solidFill>
              </a:rPr>
              <a:t>VERSIONING AND TRACEABILITY</a:t>
            </a:r>
            <a:endParaRPr lang="en-US" sz="850" dirty="0"/>
          </a:p>
        </p:txBody>
      </p:sp>
      <p:sp>
        <p:nvSpPr>
          <p:cNvPr id="4" name="Text 2"/>
          <p:cNvSpPr/>
          <p:nvPr/>
        </p:nvSpPr>
        <p:spPr>
          <a:xfrm>
            <a:off x="502920" y="548640"/>
            <a:ext cx="7772400" cy="384048"/>
          </a:xfrm>
          <a:prstGeom prst="rect">
            <a:avLst/>
          </a:prstGeom>
          <a:noFill/>
          <a:ln/>
        </p:spPr>
        <p:txBody>
          <a:bodyPr wrap="square" lIns="0" tIns="0" rIns="0" bIns="0" rtlCol="0" anchor="ctr"/>
          <a:lstStyle/>
          <a:p>
            <a:pPr indent="0" marL="0">
              <a:buNone/>
            </a:pPr>
            <a:r>
              <a:rPr lang="en-US" sz="2400" b="1" dirty="0">
                <a:solidFill>
                  <a:srgbClr val="0B1F3A"/>
                </a:solidFill>
              </a:rPr>
              <a:t>Artifact dependency graph</a:t>
            </a:r>
            <a:endParaRPr lang="en-US" sz="2400" dirty="0"/>
          </a:p>
        </p:txBody>
      </p:sp>
      <p:sp>
        <p:nvSpPr>
          <p:cNvPr id="5" name="Text 3"/>
          <p:cNvSpPr/>
          <p:nvPr/>
        </p:nvSpPr>
        <p:spPr>
          <a:xfrm>
            <a:off x="8503920" y="594360"/>
            <a:ext cx="3108960" cy="228600"/>
          </a:xfrm>
          <a:prstGeom prst="rect">
            <a:avLst/>
          </a:prstGeom>
          <a:noFill/>
          <a:ln/>
        </p:spPr>
        <p:txBody>
          <a:bodyPr wrap="square" lIns="0" tIns="0" rIns="0" bIns="0" rtlCol="0" anchor="ctr"/>
          <a:lstStyle/>
          <a:p>
            <a:pPr algn="r" indent="0" marL="0">
              <a:buNone/>
            </a:pPr>
            <a:r>
              <a:rPr lang="en-US" sz="900" dirty="0">
                <a:solidFill>
                  <a:srgbClr val="495466"/>
                </a:solidFill>
              </a:rPr>
              <a:t>Document-to-Approved-Video Platform</a:t>
            </a:r>
            <a:endParaRPr lang="en-US" sz="900" dirty="0"/>
          </a:p>
        </p:txBody>
      </p:sp>
      <p:sp>
        <p:nvSpPr>
          <p:cNvPr id="6" name="Shape 4"/>
          <p:cNvSpPr/>
          <p:nvPr/>
        </p:nvSpPr>
        <p:spPr>
          <a:xfrm>
            <a:off x="640080" y="1463040"/>
            <a:ext cx="1508760" cy="640080"/>
          </a:xfrm>
          <a:prstGeom prst="roundRect">
            <a:avLst>
              <a:gd name="adj" fmla="val 8571"/>
            </a:avLst>
          </a:prstGeom>
          <a:solidFill>
            <a:srgbClr val="F3F5F8"/>
          </a:solidFill>
          <a:ln w="12700">
            <a:solidFill>
              <a:srgbClr val="B7C2D0"/>
            </a:solidFill>
            <a:prstDash val="solid"/>
          </a:ln>
        </p:spPr>
      </p:sp>
      <p:sp>
        <p:nvSpPr>
          <p:cNvPr id="7" name="Text 5"/>
          <p:cNvSpPr/>
          <p:nvPr/>
        </p:nvSpPr>
        <p:spPr>
          <a:xfrm>
            <a:off x="713232" y="1536192"/>
            <a:ext cx="1362456" cy="4937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Source document</a:t>
            </a:r>
            <a:endParaRPr lang="en-US" sz="880" dirty="0"/>
          </a:p>
          <a:p>
            <a:pPr algn="ctr" indent="0" marL="0">
              <a:buNone/>
            </a:pPr>
            <a:r>
              <a:rPr lang="en-US" sz="880" b="1" dirty="0">
                <a:solidFill>
                  <a:srgbClr val="0B1F3A"/>
                </a:solidFill>
              </a:rPr>
              <a:t>V1</a:t>
            </a:r>
            <a:endParaRPr lang="en-US" sz="880" dirty="0"/>
          </a:p>
        </p:txBody>
      </p:sp>
      <p:sp>
        <p:nvSpPr>
          <p:cNvPr id="8" name="Shape 6"/>
          <p:cNvSpPr/>
          <p:nvPr/>
        </p:nvSpPr>
        <p:spPr>
          <a:xfrm>
            <a:off x="2880360" y="1463040"/>
            <a:ext cx="1508760" cy="640080"/>
          </a:xfrm>
          <a:prstGeom prst="roundRect">
            <a:avLst>
              <a:gd name="adj" fmla="val 8571"/>
            </a:avLst>
          </a:prstGeom>
          <a:solidFill>
            <a:srgbClr val="F3F5F8"/>
          </a:solidFill>
          <a:ln w="12700">
            <a:solidFill>
              <a:srgbClr val="B7C2D0"/>
            </a:solidFill>
            <a:prstDash val="solid"/>
          </a:ln>
        </p:spPr>
      </p:sp>
      <p:sp>
        <p:nvSpPr>
          <p:cNvPr id="9" name="Text 7"/>
          <p:cNvSpPr/>
          <p:nvPr/>
        </p:nvSpPr>
        <p:spPr>
          <a:xfrm>
            <a:off x="2953512" y="1536192"/>
            <a:ext cx="1362456" cy="4937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Document section</a:t>
            </a:r>
            <a:endParaRPr lang="en-US" sz="880" dirty="0"/>
          </a:p>
          <a:p>
            <a:pPr algn="ctr" indent="0" marL="0">
              <a:buNone/>
            </a:pPr>
            <a:r>
              <a:rPr lang="en-US" sz="880" b="1" dirty="0">
                <a:solidFill>
                  <a:srgbClr val="0B1F3A"/>
                </a:solidFill>
              </a:rPr>
              <a:t>V2</a:t>
            </a:r>
            <a:endParaRPr lang="en-US" sz="880" dirty="0"/>
          </a:p>
        </p:txBody>
      </p:sp>
      <p:sp>
        <p:nvSpPr>
          <p:cNvPr id="10" name="Shape 8"/>
          <p:cNvSpPr/>
          <p:nvPr/>
        </p:nvSpPr>
        <p:spPr>
          <a:xfrm>
            <a:off x="2176272" y="1783080"/>
            <a:ext cx="658368" cy="0"/>
          </a:xfrm>
          <a:prstGeom prst="line">
            <a:avLst/>
          </a:prstGeom>
          <a:noFill/>
          <a:ln w="17780">
            <a:solidFill>
              <a:srgbClr val="2563EB"/>
            </a:solidFill>
            <a:prstDash val="solid"/>
            <a:headEnd type="none"/>
            <a:tailEnd type="triangle"/>
          </a:ln>
        </p:spPr>
      </p:sp>
      <p:sp>
        <p:nvSpPr>
          <p:cNvPr id="11" name="Shape 9"/>
          <p:cNvSpPr/>
          <p:nvPr/>
        </p:nvSpPr>
        <p:spPr>
          <a:xfrm>
            <a:off x="5120640" y="1463040"/>
            <a:ext cx="1508760" cy="640080"/>
          </a:xfrm>
          <a:prstGeom prst="roundRect">
            <a:avLst>
              <a:gd name="adj" fmla="val 8571"/>
            </a:avLst>
          </a:prstGeom>
          <a:solidFill>
            <a:srgbClr val="F3F5F8"/>
          </a:solidFill>
          <a:ln w="12700">
            <a:solidFill>
              <a:srgbClr val="B7C2D0"/>
            </a:solidFill>
            <a:prstDash val="solid"/>
          </a:ln>
        </p:spPr>
      </p:sp>
      <p:sp>
        <p:nvSpPr>
          <p:cNvPr id="12" name="Text 10"/>
          <p:cNvSpPr/>
          <p:nvPr/>
        </p:nvSpPr>
        <p:spPr>
          <a:xfrm>
            <a:off x="5193792" y="1536192"/>
            <a:ext cx="1362456" cy="4937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Master transcript</a:t>
            </a:r>
            <a:endParaRPr lang="en-US" sz="880" dirty="0"/>
          </a:p>
          <a:p>
            <a:pPr algn="ctr" indent="0" marL="0">
              <a:buNone/>
            </a:pPr>
            <a:r>
              <a:rPr lang="en-US" sz="880" b="1" dirty="0">
                <a:solidFill>
                  <a:srgbClr val="0B1F3A"/>
                </a:solidFill>
              </a:rPr>
              <a:t>V3</a:t>
            </a:r>
            <a:endParaRPr lang="en-US" sz="880" dirty="0"/>
          </a:p>
        </p:txBody>
      </p:sp>
      <p:sp>
        <p:nvSpPr>
          <p:cNvPr id="13" name="Shape 11"/>
          <p:cNvSpPr/>
          <p:nvPr/>
        </p:nvSpPr>
        <p:spPr>
          <a:xfrm>
            <a:off x="4416552" y="1783080"/>
            <a:ext cx="658368" cy="0"/>
          </a:xfrm>
          <a:prstGeom prst="line">
            <a:avLst/>
          </a:prstGeom>
          <a:noFill/>
          <a:ln w="17780">
            <a:solidFill>
              <a:srgbClr val="2563EB"/>
            </a:solidFill>
            <a:prstDash val="solid"/>
            <a:headEnd type="none"/>
            <a:tailEnd type="triangle"/>
          </a:ln>
        </p:spPr>
      </p:sp>
      <p:sp>
        <p:nvSpPr>
          <p:cNvPr id="14" name="Shape 12"/>
          <p:cNvSpPr/>
          <p:nvPr/>
        </p:nvSpPr>
        <p:spPr>
          <a:xfrm>
            <a:off x="7360920" y="1463040"/>
            <a:ext cx="1508760" cy="640080"/>
          </a:xfrm>
          <a:prstGeom prst="roundRect">
            <a:avLst>
              <a:gd name="adj" fmla="val 8571"/>
            </a:avLst>
          </a:prstGeom>
          <a:solidFill>
            <a:srgbClr val="F3F5F8"/>
          </a:solidFill>
          <a:ln w="12700">
            <a:solidFill>
              <a:srgbClr val="B7C2D0"/>
            </a:solidFill>
            <a:prstDash val="solid"/>
          </a:ln>
        </p:spPr>
      </p:sp>
      <p:sp>
        <p:nvSpPr>
          <p:cNvPr id="15" name="Text 13"/>
          <p:cNvSpPr/>
          <p:nvPr/>
        </p:nvSpPr>
        <p:spPr>
          <a:xfrm>
            <a:off x="7434072" y="1536192"/>
            <a:ext cx="1362456" cy="4937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Localized script</a:t>
            </a:r>
            <a:endParaRPr lang="en-US" sz="880" dirty="0"/>
          </a:p>
          <a:p>
            <a:pPr algn="ctr" indent="0" marL="0">
              <a:buNone/>
            </a:pPr>
            <a:r>
              <a:rPr lang="en-US" sz="880" b="1" dirty="0">
                <a:solidFill>
                  <a:srgbClr val="0B1F3A"/>
                </a:solidFill>
              </a:rPr>
              <a:t>V1</a:t>
            </a:r>
            <a:endParaRPr lang="en-US" sz="880" dirty="0"/>
          </a:p>
        </p:txBody>
      </p:sp>
      <p:sp>
        <p:nvSpPr>
          <p:cNvPr id="16" name="Shape 14"/>
          <p:cNvSpPr/>
          <p:nvPr/>
        </p:nvSpPr>
        <p:spPr>
          <a:xfrm>
            <a:off x="6656832" y="1783080"/>
            <a:ext cx="658368" cy="0"/>
          </a:xfrm>
          <a:prstGeom prst="line">
            <a:avLst/>
          </a:prstGeom>
          <a:noFill/>
          <a:ln w="17780">
            <a:solidFill>
              <a:srgbClr val="2563EB"/>
            </a:solidFill>
            <a:prstDash val="solid"/>
            <a:headEnd type="none"/>
            <a:tailEnd type="triangle"/>
          </a:ln>
        </p:spPr>
      </p:sp>
      <p:sp>
        <p:nvSpPr>
          <p:cNvPr id="17" name="Shape 15"/>
          <p:cNvSpPr/>
          <p:nvPr/>
        </p:nvSpPr>
        <p:spPr>
          <a:xfrm>
            <a:off x="9601200" y="1463040"/>
            <a:ext cx="1508760" cy="640080"/>
          </a:xfrm>
          <a:prstGeom prst="roundRect">
            <a:avLst>
              <a:gd name="adj" fmla="val 8571"/>
            </a:avLst>
          </a:prstGeom>
          <a:solidFill>
            <a:srgbClr val="F3F5F8"/>
          </a:solidFill>
          <a:ln w="12700">
            <a:solidFill>
              <a:srgbClr val="B7C2D0"/>
            </a:solidFill>
            <a:prstDash val="solid"/>
          </a:ln>
        </p:spPr>
      </p:sp>
      <p:sp>
        <p:nvSpPr>
          <p:cNvPr id="18" name="Text 16"/>
          <p:cNvSpPr/>
          <p:nvPr/>
        </p:nvSpPr>
        <p:spPr>
          <a:xfrm>
            <a:off x="9674352" y="1536192"/>
            <a:ext cx="1362456" cy="4937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Narration clip</a:t>
            </a:r>
            <a:endParaRPr lang="en-US" sz="880" dirty="0"/>
          </a:p>
          <a:p>
            <a:pPr algn="ctr" indent="0" marL="0">
              <a:buNone/>
            </a:pPr>
            <a:r>
              <a:rPr lang="en-US" sz="880" b="1" dirty="0">
                <a:solidFill>
                  <a:srgbClr val="0B1F3A"/>
                </a:solidFill>
              </a:rPr>
              <a:t>V2</a:t>
            </a:r>
            <a:endParaRPr lang="en-US" sz="880" dirty="0"/>
          </a:p>
        </p:txBody>
      </p:sp>
      <p:sp>
        <p:nvSpPr>
          <p:cNvPr id="19" name="Shape 17"/>
          <p:cNvSpPr/>
          <p:nvPr/>
        </p:nvSpPr>
        <p:spPr>
          <a:xfrm>
            <a:off x="8897112" y="1783080"/>
            <a:ext cx="658368" cy="0"/>
          </a:xfrm>
          <a:prstGeom prst="line">
            <a:avLst/>
          </a:prstGeom>
          <a:noFill/>
          <a:ln w="17780">
            <a:solidFill>
              <a:srgbClr val="2563EB"/>
            </a:solidFill>
            <a:prstDash val="solid"/>
            <a:headEnd type="none"/>
            <a:tailEnd type="triangle"/>
          </a:ln>
        </p:spPr>
      </p:sp>
      <p:sp>
        <p:nvSpPr>
          <p:cNvPr id="20" name="Shape 18"/>
          <p:cNvSpPr/>
          <p:nvPr/>
        </p:nvSpPr>
        <p:spPr>
          <a:xfrm>
            <a:off x="640080" y="3794760"/>
            <a:ext cx="1508760" cy="640080"/>
          </a:xfrm>
          <a:prstGeom prst="roundRect">
            <a:avLst>
              <a:gd name="adj" fmla="val 8571"/>
            </a:avLst>
          </a:prstGeom>
          <a:solidFill>
            <a:srgbClr val="F3F5F8"/>
          </a:solidFill>
          <a:ln w="12700">
            <a:solidFill>
              <a:srgbClr val="B7C2D0"/>
            </a:solidFill>
            <a:prstDash val="solid"/>
          </a:ln>
        </p:spPr>
      </p:sp>
      <p:sp>
        <p:nvSpPr>
          <p:cNvPr id="21" name="Text 19"/>
          <p:cNvSpPr/>
          <p:nvPr/>
        </p:nvSpPr>
        <p:spPr>
          <a:xfrm>
            <a:off x="713232" y="3867912"/>
            <a:ext cx="1362456" cy="4937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Storyboard scene</a:t>
            </a:r>
            <a:endParaRPr lang="en-US" sz="880" dirty="0"/>
          </a:p>
          <a:p>
            <a:pPr algn="ctr" indent="0" marL="0">
              <a:buNone/>
            </a:pPr>
            <a:r>
              <a:rPr lang="en-US" sz="880" b="1" dirty="0">
                <a:solidFill>
                  <a:srgbClr val="0B1F3A"/>
                </a:solidFill>
              </a:rPr>
              <a:t>V3</a:t>
            </a:r>
            <a:endParaRPr lang="en-US" sz="880" dirty="0"/>
          </a:p>
        </p:txBody>
      </p:sp>
      <p:sp>
        <p:nvSpPr>
          <p:cNvPr id="22" name="Shape 20"/>
          <p:cNvSpPr/>
          <p:nvPr/>
        </p:nvSpPr>
        <p:spPr>
          <a:xfrm>
            <a:off x="10332720" y="2240280"/>
            <a:ext cx="-8961120" cy="1463040"/>
          </a:xfrm>
          <a:prstGeom prst="line">
            <a:avLst/>
          </a:prstGeom>
          <a:noFill/>
          <a:ln w="17780">
            <a:solidFill>
              <a:srgbClr val="2563EB"/>
            </a:solidFill>
            <a:prstDash val="solid"/>
            <a:headEnd type="none"/>
            <a:tailEnd type="triangle"/>
          </a:ln>
        </p:spPr>
      </p:sp>
      <p:sp>
        <p:nvSpPr>
          <p:cNvPr id="23" name="Shape 21"/>
          <p:cNvSpPr/>
          <p:nvPr/>
        </p:nvSpPr>
        <p:spPr>
          <a:xfrm>
            <a:off x="2880360" y="3794760"/>
            <a:ext cx="1508760" cy="640080"/>
          </a:xfrm>
          <a:prstGeom prst="roundRect">
            <a:avLst>
              <a:gd name="adj" fmla="val 8571"/>
            </a:avLst>
          </a:prstGeom>
          <a:solidFill>
            <a:srgbClr val="F3F5F8"/>
          </a:solidFill>
          <a:ln w="12700">
            <a:solidFill>
              <a:srgbClr val="B7C2D0"/>
            </a:solidFill>
            <a:prstDash val="solid"/>
          </a:ln>
        </p:spPr>
      </p:sp>
      <p:sp>
        <p:nvSpPr>
          <p:cNvPr id="24" name="Text 22"/>
          <p:cNvSpPr/>
          <p:nvPr/>
        </p:nvSpPr>
        <p:spPr>
          <a:xfrm>
            <a:off x="2953512" y="3867912"/>
            <a:ext cx="1362456" cy="4937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Visual asset</a:t>
            </a:r>
            <a:endParaRPr lang="en-US" sz="880" dirty="0"/>
          </a:p>
          <a:p>
            <a:pPr algn="ctr" indent="0" marL="0">
              <a:buNone/>
            </a:pPr>
            <a:r>
              <a:rPr lang="en-US" sz="880" b="1" dirty="0">
                <a:solidFill>
                  <a:srgbClr val="0B1F3A"/>
                </a:solidFill>
              </a:rPr>
              <a:t>V1</a:t>
            </a:r>
            <a:endParaRPr lang="en-US" sz="880" dirty="0"/>
          </a:p>
        </p:txBody>
      </p:sp>
      <p:sp>
        <p:nvSpPr>
          <p:cNvPr id="25" name="Shape 23"/>
          <p:cNvSpPr/>
          <p:nvPr/>
        </p:nvSpPr>
        <p:spPr>
          <a:xfrm>
            <a:off x="2176272" y="4114800"/>
            <a:ext cx="658368" cy="0"/>
          </a:xfrm>
          <a:prstGeom prst="line">
            <a:avLst/>
          </a:prstGeom>
          <a:noFill/>
          <a:ln w="17780">
            <a:solidFill>
              <a:srgbClr val="2563EB"/>
            </a:solidFill>
            <a:prstDash val="solid"/>
            <a:headEnd type="none"/>
            <a:tailEnd type="triangle"/>
          </a:ln>
        </p:spPr>
      </p:sp>
      <p:sp>
        <p:nvSpPr>
          <p:cNvPr id="26" name="Shape 24"/>
          <p:cNvSpPr/>
          <p:nvPr/>
        </p:nvSpPr>
        <p:spPr>
          <a:xfrm>
            <a:off x="5120640" y="3794760"/>
            <a:ext cx="1508760" cy="640080"/>
          </a:xfrm>
          <a:prstGeom prst="roundRect">
            <a:avLst>
              <a:gd name="adj" fmla="val 8571"/>
            </a:avLst>
          </a:prstGeom>
          <a:solidFill>
            <a:srgbClr val="F3F5F8"/>
          </a:solidFill>
          <a:ln w="12700">
            <a:solidFill>
              <a:srgbClr val="B7C2D0"/>
            </a:solidFill>
            <a:prstDash val="solid"/>
          </a:ln>
        </p:spPr>
      </p:sp>
      <p:sp>
        <p:nvSpPr>
          <p:cNvPr id="27" name="Text 25"/>
          <p:cNvSpPr/>
          <p:nvPr/>
        </p:nvSpPr>
        <p:spPr>
          <a:xfrm>
            <a:off x="5193792" y="3867912"/>
            <a:ext cx="1362456" cy="4937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Rendered scene</a:t>
            </a:r>
            <a:endParaRPr lang="en-US" sz="880" dirty="0"/>
          </a:p>
          <a:p>
            <a:pPr algn="ctr" indent="0" marL="0">
              <a:buNone/>
            </a:pPr>
            <a:r>
              <a:rPr lang="en-US" sz="880" b="1" dirty="0">
                <a:solidFill>
                  <a:srgbClr val="0B1F3A"/>
                </a:solidFill>
              </a:rPr>
              <a:t>V2</a:t>
            </a:r>
            <a:endParaRPr lang="en-US" sz="880" dirty="0"/>
          </a:p>
        </p:txBody>
      </p:sp>
      <p:sp>
        <p:nvSpPr>
          <p:cNvPr id="28" name="Shape 26"/>
          <p:cNvSpPr/>
          <p:nvPr/>
        </p:nvSpPr>
        <p:spPr>
          <a:xfrm>
            <a:off x="4416552" y="4114800"/>
            <a:ext cx="658368" cy="0"/>
          </a:xfrm>
          <a:prstGeom prst="line">
            <a:avLst/>
          </a:prstGeom>
          <a:noFill/>
          <a:ln w="17780">
            <a:solidFill>
              <a:srgbClr val="2563EB"/>
            </a:solidFill>
            <a:prstDash val="solid"/>
            <a:headEnd type="none"/>
            <a:tailEnd type="triangle"/>
          </a:ln>
        </p:spPr>
      </p:sp>
      <p:sp>
        <p:nvSpPr>
          <p:cNvPr id="29" name="Shape 27"/>
          <p:cNvSpPr/>
          <p:nvPr/>
        </p:nvSpPr>
        <p:spPr>
          <a:xfrm>
            <a:off x="7360920" y="3794760"/>
            <a:ext cx="1508760" cy="640080"/>
          </a:xfrm>
          <a:prstGeom prst="roundRect">
            <a:avLst>
              <a:gd name="adj" fmla="val 8571"/>
            </a:avLst>
          </a:prstGeom>
          <a:solidFill>
            <a:srgbClr val="DFF4EA"/>
          </a:solidFill>
          <a:ln w="12700">
            <a:solidFill>
              <a:srgbClr val="B7C2D0"/>
            </a:solidFill>
            <a:prstDash val="solid"/>
          </a:ln>
        </p:spPr>
      </p:sp>
      <p:sp>
        <p:nvSpPr>
          <p:cNvPr id="30" name="Text 28"/>
          <p:cNvSpPr/>
          <p:nvPr/>
        </p:nvSpPr>
        <p:spPr>
          <a:xfrm>
            <a:off x="7434072" y="3867912"/>
            <a:ext cx="1362456" cy="493776"/>
          </a:xfrm>
          <a:prstGeom prst="rect">
            <a:avLst/>
          </a:prstGeom>
          <a:noFill/>
          <a:ln/>
        </p:spPr>
        <p:txBody>
          <a:bodyPr wrap="square" lIns="0" tIns="0" rIns="0" bIns="0" rtlCol="0" anchor="ctr">
            <a:normAutofit/>
          </a:bodyPr>
          <a:lstStyle/>
          <a:p>
            <a:pPr algn="ctr" indent="0" marL="0">
              <a:buNone/>
            </a:pPr>
            <a:r>
              <a:rPr lang="en-US" sz="880" b="1" dirty="0">
                <a:solidFill>
                  <a:srgbClr val="0B1F3A"/>
                </a:solidFill>
              </a:rPr>
              <a:t>Final video</a:t>
            </a:r>
            <a:endParaRPr lang="en-US" sz="880" dirty="0"/>
          </a:p>
          <a:p>
            <a:pPr algn="ctr" indent="0" marL="0">
              <a:buNone/>
            </a:pPr>
            <a:r>
              <a:rPr lang="en-US" sz="880" b="1" dirty="0">
                <a:solidFill>
                  <a:srgbClr val="0B1F3A"/>
                </a:solidFill>
              </a:rPr>
              <a:t>V3</a:t>
            </a:r>
            <a:endParaRPr lang="en-US" sz="880" dirty="0"/>
          </a:p>
        </p:txBody>
      </p:sp>
      <p:sp>
        <p:nvSpPr>
          <p:cNvPr id="31" name="Shape 29"/>
          <p:cNvSpPr/>
          <p:nvPr/>
        </p:nvSpPr>
        <p:spPr>
          <a:xfrm>
            <a:off x="6656832" y="4114800"/>
            <a:ext cx="658368" cy="0"/>
          </a:xfrm>
          <a:prstGeom prst="line">
            <a:avLst/>
          </a:prstGeom>
          <a:noFill/>
          <a:ln w="17780">
            <a:solidFill>
              <a:srgbClr val="2563EB"/>
            </a:solidFill>
            <a:prstDash val="solid"/>
            <a:headEnd type="none"/>
            <a:tailEnd type="triangle"/>
          </a:ln>
        </p:spPr>
      </p:sp>
      <p:sp>
        <p:nvSpPr>
          <p:cNvPr id="32" name="Shape 30"/>
          <p:cNvSpPr/>
          <p:nvPr/>
        </p:nvSpPr>
        <p:spPr>
          <a:xfrm>
            <a:off x="1280160" y="5486400"/>
            <a:ext cx="9601200" cy="594360"/>
          </a:xfrm>
          <a:prstGeom prst="roundRect">
            <a:avLst>
              <a:gd name="adj" fmla="val 9231"/>
            </a:avLst>
          </a:prstGeom>
          <a:solidFill>
            <a:srgbClr val="EAF2FF"/>
          </a:solidFill>
          <a:ln w="12700">
            <a:solidFill>
              <a:srgbClr val="2563EB"/>
            </a:solidFill>
            <a:prstDash val="solid"/>
          </a:ln>
        </p:spPr>
      </p:sp>
      <p:sp>
        <p:nvSpPr>
          <p:cNvPr id="33" name="Text 31"/>
          <p:cNvSpPr/>
          <p:nvPr/>
        </p:nvSpPr>
        <p:spPr>
          <a:xfrm>
            <a:off x="1353312" y="5559552"/>
            <a:ext cx="9454896" cy="448056"/>
          </a:xfrm>
          <a:prstGeom prst="rect">
            <a:avLst/>
          </a:prstGeom>
          <a:noFill/>
          <a:ln/>
        </p:spPr>
        <p:txBody>
          <a:bodyPr wrap="square" lIns="0" tIns="0" rIns="0" bIns="0" rtlCol="0" anchor="ctr">
            <a:normAutofit/>
          </a:bodyPr>
          <a:lstStyle/>
          <a:p>
            <a:pPr algn="ctr" indent="0" marL="0">
              <a:buNone/>
            </a:pPr>
            <a:r>
              <a:rPr lang="en-US" sz="1020" b="1" dirty="0">
                <a:solidFill>
                  <a:srgbClr val="0B1F3A"/>
                </a:solidFill>
              </a:rPr>
              <a:t>Artifact metadata</a:t>
            </a:r>
            <a:endParaRPr lang="en-US" sz="1020" dirty="0"/>
          </a:p>
          <a:p>
            <a:pPr algn="ctr" indent="0" marL="0">
              <a:buNone/>
            </a:pPr>
            <a:r>
              <a:rPr lang="en-US" sz="1020" b="1" dirty="0">
                <a:solidFill>
                  <a:srgbClr val="0B1F3A"/>
                </a:solidFill>
              </a:rPr>
              <a:t>artifact_id · project_id · type · version · status · content_hash · parent_ids · prompt_version · model_deployment · approved_by</a:t>
            </a:r>
            <a:endParaRPr lang="en-US" sz="1020" dirty="0"/>
          </a:p>
        </p:txBody>
      </p:sp>
      <p:sp>
        <p:nvSpPr>
          <p:cNvPr id="34" name="Text 32"/>
          <p:cNvSpPr/>
          <p:nvPr/>
        </p:nvSpPr>
        <p:spPr>
          <a:xfrm>
            <a:off x="11448288" y="6492240"/>
            <a:ext cx="347472" cy="164592"/>
          </a:xfrm>
          <a:prstGeom prst="rect">
            <a:avLst/>
          </a:prstGeom>
          <a:noFill/>
          <a:ln/>
        </p:spPr>
        <p:txBody>
          <a:bodyPr wrap="square" lIns="0" tIns="0" rIns="0" bIns="0" rtlCol="0" anchor="ctr"/>
          <a:lstStyle/>
          <a:p>
            <a:pPr algn="r" indent="0" marL="0">
              <a:buNone/>
            </a:pPr>
            <a:r>
              <a:rPr lang="en-US" sz="800" dirty="0">
                <a:solidFill>
                  <a:srgbClr val="495466"/>
                </a:solidFill>
              </a:rPr>
              <a:t>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563EB"/>
          </a:solidFill>
          <a:ln w="12700">
            <a:solidFill>
              <a:srgbClr val="2563EB"/>
            </a:solidFill>
            <a:prstDash val="solid"/>
          </a:ln>
        </p:spPr>
      </p:sp>
      <p:sp>
        <p:nvSpPr>
          <p:cNvPr id="3" name="Text 1"/>
          <p:cNvSpPr/>
          <p:nvPr/>
        </p:nvSpPr>
        <p:spPr>
          <a:xfrm>
            <a:off x="502920" y="292608"/>
            <a:ext cx="3474720" cy="201168"/>
          </a:xfrm>
          <a:prstGeom prst="rect">
            <a:avLst/>
          </a:prstGeom>
          <a:noFill/>
          <a:ln/>
        </p:spPr>
        <p:txBody>
          <a:bodyPr wrap="square" lIns="0" tIns="0" rIns="0" bIns="0" rtlCol="0" anchor="ctr"/>
          <a:lstStyle/>
          <a:p>
            <a:pPr indent="0" marL="0">
              <a:buNone/>
            </a:pPr>
            <a:r>
              <a:rPr lang="en-US" sz="850" b="1" dirty="0">
                <a:solidFill>
                  <a:srgbClr val="2563EB"/>
                </a:solidFill>
              </a:rPr>
              <a:t>AZURE LANDING ZONE VIEW</a:t>
            </a:r>
            <a:endParaRPr lang="en-US" sz="850" dirty="0"/>
          </a:p>
        </p:txBody>
      </p:sp>
      <p:sp>
        <p:nvSpPr>
          <p:cNvPr id="4" name="Text 2"/>
          <p:cNvSpPr/>
          <p:nvPr/>
        </p:nvSpPr>
        <p:spPr>
          <a:xfrm>
            <a:off x="502920" y="548640"/>
            <a:ext cx="7772400" cy="384048"/>
          </a:xfrm>
          <a:prstGeom prst="rect">
            <a:avLst/>
          </a:prstGeom>
          <a:noFill/>
          <a:ln/>
        </p:spPr>
        <p:txBody>
          <a:bodyPr wrap="square" lIns="0" tIns="0" rIns="0" bIns="0" rtlCol="0" anchor="ctr"/>
          <a:lstStyle/>
          <a:p>
            <a:pPr indent="0" marL="0">
              <a:buNone/>
            </a:pPr>
            <a:r>
              <a:rPr lang="en-US" sz="2400" b="1" dirty="0">
                <a:solidFill>
                  <a:srgbClr val="0B1F3A"/>
                </a:solidFill>
              </a:rPr>
              <a:t>Deployment and security architecture</a:t>
            </a:r>
            <a:endParaRPr lang="en-US" sz="2400" dirty="0"/>
          </a:p>
        </p:txBody>
      </p:sp>
      <p:sp>
        <p:nvSpPr>
          <p:cNvPr id="5" name="Text 3"/>
          <p:cNvSpPr/>
          <p:nvPr/>
        </p:nvSpPr>
        <p:spPr>
          <a:xfrm>
            <a:off x="8503920" y="594360"/>
            <a:ext cx="3108960" cy="228600"/>
          </a:xfrm>
          <a:prstGeom prst="rect">
            <a:avLst/>
          </a:prstGeom>
          <a:noFill/>
          <a:ln/>
        </p:spPr>
        <p:txBody>
          <a:bodyPr wrap="square" lIns="0" tIns="0" rIns="0" bIns="0" rtlCol="0" anchor="ctr"/>
          <a:lstStyle/>
          <a:p>
            <a:pPr algn="r" indent="0" marL="0">
              <a:buNone/>
            </a:pPr>
            <a:r>
              <a:rPr lang="en-US" sz="900" dirty="0">
                <a:solidFill>
                  <a:srgbClr val="495466"/>
                </a:solidFill>
              </a:rPr>
              <a:t>Document-to-Approved-Video Platform</a:t>
            </a:r>
            <a:endParaRPr lang="en-US" sz="900" dirty="0"/>
          </a:p>
        </p:txBody>
      </p:sp>
      <p:sp>
        <p:nvSpPr>
          <p:cNvPr id="6" name="Text 4"/>
          <p:cNvSpPr/>
          <p:nvPr/>
        </p:nvSpPr>
        <p:spPr>
          <a:xfrm>
            <a:off x="960120" y="1325880"/>
            <a:ext cx="4114800" cy="228600"/>
          </a:xfrm>
          <a:prstGeom prst="rect">
            <a:avLst/>
          </a:prstGeom>
          <a:noFill/>
          <a:ln/>
        </p:spPr>
        <p:txBody>
          <a:bodyPr wrap="square" lIns="0" tIns="0" rIns="0" bIns="0" rtlCol="0" anchor="ctr"/>
          <a:lstStyle/>
          <a:p>
            <a:pPr indent="0" marL="0">
              <a:buNone/>
            </a:pPr>
            <a:r>
              <a:rPr lang="en-US" sz="1100" b="1" dirty="0">
                <a:solidFill>
                  <a:srgbClr val="495466"/>
                </a:solidFill>
              </a:rPr>
              <a:t>Azure subscription / VNet-integrated environment</a:t>
            </a:r>
            <a:endParaRPr lang="en-US" sz="1100" dirty="0"/>
          </a:p>
        </p:txBody>
      </p:sp>
      <p:sp>
        <p:nvSpPr>
          <p:cNvPr id="7" name="Shape 5"/>
          <p:cNvSpPr/>
          <p:nvPr/>
        </p:nvSpPr>
        <p:spPr>
          <a:xfrm>
            <a:off x="1188720" y="2057400"/>
            <a:ext cx="1645920" cy="548640"/>
          </a:xfrm>
          <a:prstGeom prst="roundRect">
            <a:avLst>
              <a:gd name="adj" fmla="val 10000"/>
            </a:avLst>
          </a:prstGeom>
          <a:solidFill>
            <a:srgbClr val="EAF2FF"/>
          </a:solidFill>
          <a:ln w="12700">
            <a:solidFill>
              <a:srgbClr val="2563EB"/>
            </a:solidFill>
            <a:prstDash val="solid"/>
          </a:ln>
        </p:spPr>
      </p:sp>
      <p:sp>
        <p:nvSpPr>
          <p:cNvPr id="8" name="Text 6"/>
          <p:cNvSpPr/>
          <p:nvPr/>
        </p:nvSpPr>
        <p:spPr>
          <a:xfrm>
            <a:off x="1261872" y="2130552"/>
            <a:ext cx="1499616" cy="402336"/>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Front Door + WAF</a:t>
            </a:r>
            <a:endParaRPr lang="en-US" sz="950" dirty="0"/>
          </a:p>
        </p:txBody>
      </p:sp>
      <p:sp>
        <p:nvSpPr>
          <p:cNvPr id="9" name="Shape 7"/>
          <p:cNvSpPr/>
          <p:nvPr/>
        </p:nvSpPr>
        <p:spPr>
          <a:xfrm>
            <a:off x="3383280" y="1874520"/>
            <a:ext cx="1874520" cy="731520"/>
          </a:xfrm>
          <a:prstGeom prst="roundRect">
            <a:avLst>
              <a:gd name="adj" fmla="val 7500"/>
            </a:avLst>
          </a:prstGeom>
          <a:solidFill>
            <a:srgbClr val="DFF7FF"/>
          </a:solidFill>
          <a:ln w="12700">
            <a:solidFill>
              <a:srgbClr val="27A3C2"/>
            </a:solidFill>
            <a:prstDash val="solid"/>
          </a:ln>
        </p:spPr>
      </p:sp>
      <p:sp>
        <p:nvSpPr>
          <p:cNvPr id="10" name="Text 8"/>
          <p:cNvSpPr/>
          <p:nvPr/>
        </p:nvSpPr>
        <p:spPr>
          <a:xfrm>
            <a:off x="3456432" y="1947672"/>
            <a:ext cx="1728216" cy="585216"/>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Container Apps</a:t>
            </a:r>
            <a:endParaRPr lang="en-US" sz="950" dirty="0"/>
          </a:p>
          <a:p>
            <a:pPr algn="ctr" indent="0" marL="0">
              <a:buNone/>
            </a:pPr>
            <a:r>
              <a:rPr lang="en-US" sz="950" b="1" dirty="0">
                <a:solidFill>
                  <a:srgbClr val="0B1F3A"/>
                </a:solidFill>
              </a:rPr>
              <a:t>API + LangGraph</a:t>
            </a:r>
            <a:endParaRPr lang="en-US" sz="950" dirty="0"/>
          </a:p>
        </p:txBody>
      </p:sp>
      <p:sp>
        <p:nvSpPr>
          <p:cNvPr id="11" name="Shape 9"/>
          <p:cNvSpPr/>
          <p:nvPr/>
        </p:nvSpPr>
        <p:spPr>
          <a:xfrm>
            <a:off x="5806440" y="2057400"/>
            <a:ext cx="1371600" cy="548640"/>
          </a:xfrm>
          <a:prstGeom prst="roundRect">
            <a:avLst>
              <a:gd name="adj" fmla="val 10000"/>
            </a:avLst>
          </a:prstGeom>
          <a:solidFill>
            <a:srgbClr val="EAF2FF"/>
          </a:solidFill>
          <a:ln w="12700">
            <a:solidFill>
              <a:srgbClr val="2563EB"/>
            </a:solidFill>
            <a:prstDash val="solid"/>
          </a:ln>
        </p:spPr>
      </p:sp>
      <p:sp>
        <p:nvSpPr>
          <p:cNvPr id="12" name="Text 10"/>
          <p:cNvSpPr/>
          <p:nvPr/>
        </p:nvSpPr>
        <p:spPr>
          <a:xfrm>
            <a:off x="5879592" y="2130552"/>
            <a:ext cx="1225296" cy="402336"/>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Service Bus</a:t>
            </a:r>
            <a:endParaRPr lang="en-US" sz="950" dirty="0"/>
          </a:p>
        </p:txBody>
      </p:sp>
      <p:sp>
        <p:nvSpPr>
          <p:cNvPr id="13" name="Shape 11"/>
          <p:cNvSpPr/>
          <p:nvPr/>
        </p:nvSpPr>
        <p:spPr>
          <a:xfrm>
            <a:off x="7726680" y="1874520"/>
            <a:ext cx="1920240" cy="731520"/>
          </a:xfrm>
          <a:prstGeom prst="roundRect">
            <a:avLst>
              <a:gd name="adj" fmla="val 7500"/>
            </a:avLst>
          </a:prstGeom>
          <a:solidFill>
            <a:srgbClr val="DFF7FF"/>
          </a:solidFill>
          <a:ln w="12700">
            <a:solidFill>
              <a:srgbClr val="27A3C2"/>
            </a:solidFill>
            <a:prstDash val="solid"/>
          </a:ln>
        </p:spPr>
      </p:sp>
      <p:sp>
        <p:nvSpPr>
          <p:cNvPr id="14" name="Text 12"/>
          <p:cNvSpPr/>
          <p:nvPr/>
        </p:nvSpPr>
        <p:spPr>
          <a:xfrm>
            <a:off x="7799832" y="1947672"/>
            <a:ext cx="1773936" cy="585216"/>
          </a:xfrm>
          <a:prstGeom prst="rect">
            <a:avLst/>
          </a:prstGeom>
          <a:noFill/>
          <a:ln/>
        </p:spPr>
        <p:txBody>
          <a:bodyPr wrap="square" lIns="0" tIns="0" rIns="0" bIns="0" rtlCol="0" anchor="ctr">
            <a:normAutofit/>
          </a:bodyPr>
          <a:lstStyle/>
          <a:p>
            <a:pPr algn="ctr" indent="0" marL="0">
              <a:buNone/>
            </a:pPr>
            <a:r>
              <a:rPr lang="en-US" sz="950" b="1" dirty="0">
                <a:solidFill>
                  <a:srgbClr val="0B1F3A"/>
                </a:solidFill>
              </a:rPr>
              <a:t>Container Apps Jobs</a:t>
            </a:r>
            <a:endParaRPr lang="en-US" sz="950" dirty="0"/>
          </a:p>
          <a:p>
            <a:pPr algn="ctr" indent="0" marL="0">
              <a:buNone/>
            </a:pPr>
            <a:r>
              <a:rPr lang="en-US" sz="950" b="1" dirty="0">
                <a:solidFill>
                  <a:srgbClr val="0B1F3A"/>
                </a:solidFill>
              </a:rPr>
              <a:t>media workers</a:t>
            </a:r>
            <a:endParaRPr lang="en-US" sz="950" dirty="0"/>
          </a:p>
        </p:txBody>
      </p:sp>
      <p:sp>
        <p:nvSpPr>
          <p:cNvPr id="15" name="Shape 13"/>
          <p:cNvSpPr/>
          <p:nvPr/>
        </p:nvSpPr>
        <p:spPr>
          <a:xfrm>
            <a:off x="1828800" y="3794760"/>
            <a:ext cx="1737360" cy="594360"/>
          </a:xfrm>
          <a:prstGeom prst="roundRect">
            <a:avLst>
              <a:gd name="adj" fmla="val 9231"/>
            </a:avLst>
          </a:prstGeom>
          <a:solidFill>
            <a:srgbClr val="F3F5F8"/>
          </a:solidFill>
          <a:ln w="12700">
            <a:solidFill>
              <a:srgbClr val="B7C2D0"/>
            </a:solidFill>
            <a:prstDash val="solid"/>
          </a:ln>
        </p:spPr>
      </p:sp>
      <p:sp>
        <p:nvSpPr>
          <p:cNvPr id="16" name="Text 14"/>
          <p:cNvSpPr/>
          <p:nvPr/>
        </p:nvSpPr>
        <p:spPr>
          <a:xfrm>
            <a:off x="1901952" y="3867912"/>
            <a:ext cx="1591056" cy="448056"/>
          </a:xfrm>
          <a:prstGeom prst="rect">
            <a:avLst/>
          </a:prstGeom>
          <a:noFill/>
          <a:ln/>
        </p:spPr>
        <p:txBody>
          <a:bodyPr wrap="square" lIns="0" tIns="0" rIns="0" bIns="0" rtlCol="0" anchor="ctr">
            <a:normAutofit/>
          </a:bodyPr>
          <a:lstStyle/>
          <a:p>
            <a:pPr algn="ctr" indent="0" marL="0">
              <a:buNone/>
            </a:pPr>
            <a:r>
              <a:rPr lang="en-US" sz="930" b="1" dirty="0">
                <a:solidFill>
                  <a:srgbClr val="0B1F3A"/>
                </a:solidFill>
              </a:rPr>
              <a:t>Private Endpoint</a:t>
            </a:r>
            <a:endParaRPr lang="en-US" sz="930" dirty="0"/>
          </a:p>
          <a:p>
            <a:pPr algn="ctr" indent="0" marL="0">
              <a:buNone/>
            </a:pPr>
            <a:r>
              <a:rPr lang="en-US" sz="930" b="1" dirty="0">
                <a:solidFill>
                  <a:srgbClr val="0B1F3A"/>
                </a:solidFill>
              </a:rPr>
              <a:t>PostgreSQL</a:t>
            </a:r>
            <a:endParaRPr lang="en-US" sz="930" dirty="0"/>
          </a:p>
        </p:txBody>
      </p:sp>
      <p:sp>
        <p:nvSpPr>
          <p:cNvPr id="17" name="Shape 15"/>
          <p:cNvSpPr/>
          <p:nvPr/>
        </p:nvSpPr>
        <p:spPr>
          <a:xfrm>
            <a:off x="4160520" y="3794760"/>
            <a:ext cx="1737360" cy="594360"/>
          </a:xfrm>
          <a:prstGeom prst="roundRect">
            <a:avLst>
              <a:gd name="adj" fmla="val 9231"/>
            </a:avLst>
          </a:prstGeom>
          <a:solidFill>
            <a:srgbClr val="F3F5F8"/>
          </a:solidFill>
          <a:ln w="12700">
            <a:solidFill>
              <a:srgbClr val="B7C2D0"/>
            </a:solidFill>
            <a:prstDash val="solid"/>
          </a:ln>
        </p:spPr>
      </p:sp>
      <p:sp>
        <p:nvSpPr>
          <p:cNvPr id="18" name="Text 16"/>
          <p:cNvSpPr/>
          <p:nvPr/>
        </p:nvSpPr>
        <p:spPr>
          <a:xfrm>
            <a:off x="4233672" y="3867912"/>
            <a:ext cx="1591056" cy="448056"/>
          </a:xfrm>
          <a:prstGeom prst="rect">
            <a:avLst/>
          </a:prstGeom>
          <a:noFill/>
          <a:ln/>
        </p:spPr>
        <p:txBody>
          <a:bodyPr wrap="square" lIns="0" tIns="0" rIns="0" bIns="0" rtlCol="0" anchor="ctr">
            <a:normAutofit/>
          </a:bodyPr>
          <a:lstStyle/>
          <a:p>
            <a:pPr algn="ctr" indent="0" marL="0">
              <a:buNone/>
            </a:pPr>
            <a:r>
              <a:rPr lang="en-US" sz="930" b="1" dirty="0">
                <a:solidFill>
                  <a:srgbClr val="0B1F3A"/>
                </a:solidFill>
              </a:rPr>
              <a:t>Private Endpoint</a:t>
            </a:r>
            <a:endParaRPr lang="en-US" sz="930" dirty="0"/>
          </a:p>
          <a:p>
            <a:pPr algn="ctr" indent="0" marL="0">
              <a:buNone/>
            </a:pPr>
            <a:r>
              <a:rPr lang="en-US" sz="930" b="1" dirty="0">
                <a:solidFill>
                  <a:srgbClr val="0B1F3A"/>
                </a:solidFill>
              </a:rPr>
              <a:t>Blob Storage</a:t>
            </a:r>
            <a:endParaRPr lang="en-US" sz="930" dirty="0"/>
          </a:p>
        </p:txBody>
      </p:sp>
      <p:sp>
        <p:nvSpPr>
          <p:cNvPr id="19" name="Shape 17"/>
          <p:cNvSpPr/>
          <p:nvPr/>
        </p:nvSpPr>
        <p:spPr>
          <a:xfrm>
            <a:off x="6492240" y="3794760"/>
            <a:ext cx="1737360" cy="594360"/>
          </a:xfrm>
          <a:prstGeom prst="roundRect">
            <a:avLst>
              <a:gd name="adj" fmla="val 9231"/>
            </a:avLst>
          </a:prstGeom>
          <a:solidFill>
            <a:srgbClr val="F3F5F8"/>
          </a:solidFill>
          <a:ln w="12700">
            <a:solidFill>
              <a:srgbClr val="B7C2D0"/>
            </a:solidFill>
            <a:prstDash val="solid"/>
          </a:ln>
        </p:spPr>
      </p:sp>
      <p:sp>
        <p:nvSpPr>
          <p:cNvPr id="20" name="Text 18"/>
          <p:cNvSpPr/>
          <p:nvPr/>
        </p:nvSpPr>
        <p:spPr>
          <a:xfrm>
            <a:off x="6565392" y="3867912"/>
            <a:ext cx="1591056" cy="448056"/>
          </a:xfrm>
          <a:prstGeom prst="rect">
            <a:avLst/>
          </a:prstGeom>
          <a:noFill/>
          <a:ln/>
        </p:spPr>
        <p:txBody>
          <a:bodyPr wrap="square" lIns="0" tIns="0" rIns="0" bIns="0" rtlCol="0" anchor="ctr">
            <a:normAutofit/>
          </a:bodyPr>
          <a:lstStyle/>
          <a:p>
            <a:pPr algn="ctr" indent="0" marL="0">
              <a:buNone/>
            </a:pPr>
            <a:r>
              <a:rPr lang="en-US" sz="930" b="1" dirty="0">
                <a:solidFill>
                  <a:srgbClr val="0B1F3A"/>
                </a:solidFill>
              </a:rPr>
              <a:t>Private Endpoint</a:t>
            </a:r>
            <a:endParaRPr lang="en-US" sz="930" dirty="0"/>
          </a:p>
          <a:p>
            <a:pPr algn="ctr" indent="0" marL="0">
              <a:buNone/>
            </a:pPr>
            <a:r>
              <a:rPr lang="en-US" sz="930" b="1" dirty="0">
                <a:solidFill>
                  <a:srgbClr val="0B1F3A"/>
                </a:solidFill>
              </a:rPr>
              <a:t>AI Search</a:t>
            </a:r>
            <a:endParaRPr lang="en-US" sz="930" dirty="0"/>
          </a:p>
        </p:txBody>
      </p:sp>
      <p:sp>
        <p:nvSpPr>
          <p:cNvPr id="21" name="Shape 19"/>
          <p:cNvSpPr/>
          <p:nvPr/>
        </p:nvSpPr>
        <p:spPr>
          <a:xfrm>
            <a:off x="8823960" y="3794760"/>
            <a:ext cx="1737360" cy="594360"/>
          </a:xfrm>
          <a:prstGeom prst="roundRect">
            <a:avLst>
              <a:gd name="adj" fmla="val 9231"/>
            </a:avLst>
          </a:prstGeom>
          <a:solidFill>
            <a:srgbClr val="F3F5F8"/>
          </a:solidFill>
          <a:ln w="12700">
            <a:solidFill>
              <a:srgbClr val="B7C2D0"/>
            </a:solidFill>
            <a:prstDash val="solid"/>
          </a:ln>
        </p:spPr>
      </p:sp>
      <p:sp>
        <p:nvSpPr>
          <p:cNvPr id="22" name="Text 20"/>
          <p:cNvSpPr/>
          <p:nvPr/>
        </p:nvSpPr>
        <p:spPr>
          <a:xfrm>
            <a:off x="8897112" y="3867912"/>
            <a:ext cx="1591056" cy="448056"/>
          </a:xfrm>
          <a:prstGeom prst="rect">
            <a:avLst/>
          </a:prstGeom>
          <a:noFill/>
          <a:ln/>
        </p:spPr>
        <p:txBody>
          <a:bodyPr wrap="square" lIns="0" tIns="0" rIns="0" bIns="0" rtlCol="0" anchor="ctr">
            <a:normAutofit/>
          </a:bodyPr>
          <a:lstStyle/>
          <a:p>
            <a:pPr algn="ctr" indent="0" marL="0">
              <a:buNone/>
            </a:pPr>
            <a:r>
              <a:rPr lang="en-US" sz="930" b="1" dirty="0">
                <a:solidFill>
                  <a:srgbClr val="0B1F3A"/>
                </a:solidFill>
              </a:rPr>
              <a:t>Key Vault</a:t>
            </a:r>
            <a:endParaRPr lang="en-US" sz="930" dirty="0"/>
          </a:p>
          <a:p>
            <a:pPr algn="ctr" indent="0" marL="0">
              <a:buNone/>
            </a:pPr>
            <a:r>
              <a:rPr lang="en-US" sz="930" b="1" dirty="0">
                <a:solidFill>
                  <a:srgbClr val="0B1F3A"/>
                </a:solidFill>
              </a:rPr>
              <a:t>Managed identities</a:t>
            </a:r>
            <a:endParaRPr lang="en-US" sz="930" dirty="0"/>
          </a:p>
        </p:txBody>
      </p:sp>
      <p:sp>
        <p:nvSpPr>
          <p:cNvPr id="23" name="Shape 21"/>
          <p:cNvSpPr/>
          <p:nvPr/>
        </p:nvSpPr>
        <p:spPr>
          <a:xfrm>
            <a:off x="1188720" y="5120640"/>
            <a:ext cx="1737360" cy="502920"/>
          </a:xfrm>
          <a:prstGeom prst="roundRect">
            <a:avLst>
              <a:gd name="adj" fmla="val 10909"/>
            </a:avLst>
          </a:prstGeom>
          <a:solidFill>
            <a:srgbClr val="DFF4EA"/>
          </a:solidFill>
          <a:ln w="12700">
            <a:solidFill>
              <a:srgbClr val="43A472"/>
            </a:solidFill>
            <a:prstDash val="solid"/>
          </a:ln>
        </p:spPr>
      </p:sp>
      <p:sp>
        <p:nvSpPr>
          <p:cNvPr id="24" name="Text 22"/>
          <p:cNvSpPr/>
          <p:nvPr/>
        </p:nvSpPr>
        <p:spPr>
          <a:xfrm>
            <a:off x="1261872" y="5193792"/>
            <a:ext cx="1591056" cy="356616"/>
          </a:xfrm>
          <a:prstGeom prst="rect">
            <a:avLst/>
          </a:prstGeom>
          <a:noFill/>
          <a:ln/>
        </p:spPr>
        <p:txBody>
          <a:bodyPr wrap="square" lIns="0" tIns="0" rIns="0" bIns="0" rtlCol="0" anchor="ctr">
            <a:normAutofit/>
          </a:bodyPr>
          <a:lstStyle/>
          <a:p>
            <a:pPr algn="ctr" indent="0" marL="0">
              <a:buNone/>
            </a:pPr>
            <a:r>
              <a:rPr lang="en-US" sz="930" b="1" dirty="0">
                <a:solidFill>
                  <a:srgbClr val="0B1F3A"/>
                </a:solidFill>
              </a:rPr>
              <a:t>Entra ID + RBAC</a:t>
            </a:r>
            <a:endParaRPr lang="en-US" sz="930" dirty="0"/>
          </a:p>
        </p:txBody>
      </p:sp>
      <p:sp>
        <p:nvSpPr>
          <p:cNvPr id="25" name="Shape 23"/>
          <p:cNvSpPr/>
          <p:nvPr/>
        </p:nvSpPr>
        <p:spPr>
          <a:xfrm>
            <a:off x="3749040" y="5120640"/>
            <a:ext cx="2057400" cy="502920"/>
          </a:xfrm>
          <a:prstGeom prst="roundRect">
            <a:avLst>
              <a:gd name="adj" fmla="val 10909"/>
            </a:avLst>
          </a:prstGeom>
          <a:solidFill>
            <a:srgbClr val="DFF4EA"/>
          </a:solidFill>
          <a:ln w="12700">
            <a:solidFill>
              <a:srgbClr val="43A472"/>
            </a:solidFill>
            <a:prstDash val="solid"/>
          </a:ln>
        </p:spPr>
      </p:sp>
      <p:sp>
        <p:nvSpPr>
          <p:cNvPr id="26" name="Text 24"/>
          <p:cNvSpPr/>
          <p:nvPr/>
        </p:nvSpPr>
        <p:spPr>
          <a:xfrm>
            <a:off x="3822192" y="5193792"/>
            <a:ext cx="1911096" cy="356616"/>
          </a:xfrm>
          <a:prstGeom prst="rect">
            <a:avLst/>
          </a:prstGeom>
          <a:noFill/>
          <a:ln/>
        </p:spPr>
        <p:txBody>
          <a:bodyPr wrap="square" lIns="0" tIns="0" rIns="0" bIns="0" rtlCol="0" anchor="ctr">
            <a:normAutofit/>
          </a:bodyPr>
          <a:lstStyle/>
          <a:p>
            <a:pPr algn="ctr" indent="0" marL="0">
              <a:buNone/>
            </a:pPr>
            <a:r>
              <a:rPr lang="en-US" sz="930" b="1" dirty="0">
                <a:solidFill>
                  <a:srgbClr val="0B1F3A"/>
                </a:solidFill>
              </a:rPr>
              <a:t>App Insights + Foundry tracing</a:t>
            </a:r>
            <a:endParaRPr lang="en-US" sz="930" dirty="0"/>
          </a:p>
        </p:txBody>
      </p:sp>
      <p:sp>
        <p:nvSpPr>
          <p:cNvPr id="27" name="Shape 25"/>
          <p:cNvSpPr/>
          <p:nvPr/>
        </p:nvSpPr>
        <p:spPr>
          <a:xfrm>
            <a:off x="6583680" y="5120640"/>
            <a:ext cx="1508760" cy="502920"/>
          </a:xfrm>
          <a:prstGeom prst="roundRect">
            <a:avLst>
              <a:gd name="adj" fmla="val 10909"/>
            </a:avLst>
          </a:prstGeom>
          <a:solidFill>
            <a:srgbClr val="DFF4EA"/>
          </a:solidFill>
          <a:ln w="12700">
            <a:solidFill>
              <a:srgbClr val="43A472"/>
            </a:solidFill>
            <a:prstDash val="solid"/>
          </a:ln>
        </p:spPr>
      </p:sp>
      <p:sp>
        <p:nvSpPr>
          <p:cNvPr id="28" name="Text 26"/>
          <p:cNvSpPr/>
          <p:nvPr/>
        </p:nvSpPr>
        <p:spPr>
          <a:xfrm>
            <a:off x="6656832" y="5193792"/>
            <a:ext cx="1362456" cy="356616"/>
          </a:xfrm>
          <a:prstGeom prst="rect">
            <a:avLst/>
          </a:prstGeom>
          <a:noFill/>
          <a:ln/>
        </p:spPr>
        <p:txBody>
          <a:bodyPr wrap="square" lIns="0" tIns="0" rIns="0" bIns="0" rtlCol="0" anchor="ctr">
            <a:normAutofit/>
          </a:bodyPr>
          <a:lstStyle/>
          <a:p>
            <a:pPr algn="ctr" indent="0" marL="0">
              <a:buNone/>
            </a:pPr>
            <a:r>
              <a:rPr lang="en-US" sz="930" b="1" dirty="0">
                <a:solidFill>
                  <a:srgbClr val="0B1F3A"/>
                </a:solidFill>
              </a:rPr>
              <a:t>ACR + CI/CD</a:t>
            </a:r>
            <a:endParaRPr lang="en-US" sz="930" dirty="0"/>
          </a:p>
        </p:txBody>
      </p:sp>
      <p:sp>
        <p:nvSpPr>
          <p:cNvPr id="29" name="Shape 27"/>
          <p:cNvSpPr/>
          <p:nvPr/>
        </p:nvSpPr>
        <p:spPr>
          <a:xfrm>
            <a:off x="8823960" y="5120640"/>
            <a:ext cx="1874520" cy="502920"/>
          </a:xfrm>
          <a:prstGeom prst="roundRect">
            <a:avLst>
              <a:gd name="adj" fmla="val 10909"/>
            </a:avLst>
          </a:prstGeom>
          <a:solidFill>
            <a:srgbClr val="DFF4EA"/>
          </a:solidFill>
          <a:ln w="12700">
            <a:solidFill>
              <a:srgbClr val="43A472"/>
            </a:solidFill>
            <a:prstDash val="solid"/>
          </a:ln>
        </p:spPr>
      </p:sp>
      <p:sp>
        <p:nvSpPr>
          <p:cNvPr id="30" name="Text 28"/>
          <p:cNvSpPr/>
          <p:nvPr/>
        </p:nvSpPr>
        <p:spPr>
          <a:xfrm>
            <a:off x="8897112" y="5193792"/>
            <a:ext cx="1728216" cy="356616"/>
          </a:xfrm>
          <a:prstGeom prst="rect">
            <a:avLst/>
          </a:prstGeom>
          <a:noFill/>
          <a:ln/>
        </p:spPr>
        <p:txBody>
          <a:bodyPr wrap="square" lIns="0" tIns="0" rIns="0" bIns="0" rtlCol="0" anchor="ctr">
            <a:normAutofit/>
          </a:bodyPr>
          <a:lstStyle/>
          <a:p>
            <a:pPr algn="ctr" indent="0" marL="0">
              <a:buNone/>
            </a:pPr>
            <a:r>
              <a:rPr lang="en-US" sz="930" b="1" dirty="0">
                <a:solidFill>
                  <a:srgbClr val="0B1F3A"/>
                </a:solidFill>
              </a:rPr>
              <a:t>Audit logs + retention</a:t>
            </a:r>
            <a:endParaRPr lang="en-US" sz="930" dirty="0"/>
          </a:p>
        </p:txBody>
      </p:sp>
      <p:sp>
        <p:nvSpPr>
          <p:cNvPr id="31" name="Shape 29"/>
          <p:cNvSpPr/>
          <p:nvPr/>
        </p:nvSpPr>
        <p:spPr>
          <a:xfrm>
            <a:off x="2834640" y="2331720"/>
            <a:ext cx="530352" cy="-91440"/>
          </a:xfrm>
          <a:prstGeom prst="line">
            <a:avLst/>
          </a:prstGeom>
          <a:noFill/>
          <a:ln w="17780">
            <a:solidFill>
              <a:srgbClr val="2563EB"/>
            </a:solidFill>
            <a:prstDash val="solid"/>
            <a:headEnd type="none"/>
            <a:tailEnd type="triangle"/>
          </a:ln>
        </p:spPr>
      </p:sp>
      <p:sp>
        <p:nvSpPr>
          <p:cNvPr id="32" name="Shape 30"/>
          <p:cNvSpPr/>
          <p:nvPr/>
        </p:nvSpPr>
        <p:spPr>
          <a:xfrm>
            <a:off x="5257800" y="2240280"/>
            <a:ext cx="521208" cy="91440"/>
          </a:xfrm>
          <a:prstGeom prst="line">
            <a:avLst/>
          </a:prstGeom>
          <a:noFill/>
          <a:ln w="17780">
            <a:solidFill>
              <a:srgbClr val="2563EB"/>
            </a:solidFill>
            <a:prstDash val="solid"/>
            <a:headEnd type="none"/>
            <a:tailEnd type="triangle"/>
          </a:ln>
        </p:spPr>
      </p:sp>
      <p:sp>
        <p:nvSpPr>
          <p:cNvPr id="33" name="Shape 31"/>
          <p:cNvSpPr/>
          <p:nvPr/>
        </p:nvSpPr>
        <p:spPr>
          <a:xfrm>
            <a:off x="7178040" y="2331720"/>
            <a:ext cx="521208" cy="-91440"/>
          </a:xfrm>
          <a:prstGeom prst="line">
            <a:avLst/>
          </a:prstGeom>
          <a:noFill/>
          <a:ln w="17780">
            <a:solidFill>
              <a:srgbClr val="2563EB"/>
            </a:solidFill>
            <a:prstDash val="solid"/>
            <a:headEnd type="none"/>
            <a:tailEnd type="triangle"/>
          </a:ln>
        </p:spPr>
      </p:sp>
      <p:sp>
        <p:nvSpPr>
          <p:cNvPr id="34" name="Shape 32"/>
          <p:cNvSpPr/>
          <p:nvPr/>
        </p:nvSpPr>
        <p:spPr>
          <a:xfrm>
            <a:off x="2697480" y="2651760"/>
            <a:ext cx="0" cy="1097280"/>
          </a:xfrm>
          <a:prstGeom prst="line">
            <a:avLst/>
          </a:prstGeom>
          <a:noFill/>
          <a:ln w="17780">
            <a:solidFill>
              <a:srgbClr val="2563EB"/>
            </a:solidFill>
            <a:prstDash val="solid"/>
            <a:headEnd type="none"/>
            <a:tailEnd type="triangle"/>
          </a:ln>
        </p:spPr>
      </p:sp>
      <p:sp>
        <p:nvSpPr>
          <p:cNvPr id="35" name="Shape 33"/>
          <p:cNvSpPr/>
          <p:nvPr/>
        </p:nvSpPr>
        <p:spPr>
          <a:xfrm>
            <a:off x="5029200" y="2651760"/>
            <a:ext cx="0" cy="1097280"/>
          </a:xfrm>
          <a:prstGeom prst="line">
            <a:avLst/>
          </a:prstGeom>
          <a:noFill/>
          <a:ln w="17780">
            <a:solidFill>
              <a:srgbClr val="2563EB"/>
            </a:solidFill>
            <a:prstDash val="solid"/>
            <a:headEnd type="none"/>
            <a:tailEnd type="triangle"/>
          </a:ln>
        </p:spPr>
      </p:sp>
      <p:sp>
        <p:nvSpPr>
          <p:cNvPr id="36" name="Shape 34"/>
          <p:cNvSpPr/>
          <p:nvPr/>
        </p:nvSpPr>
        <p:spPr>
          <a:xfrm>
            <a:off x="7360920" y="2651760"/>
            <a:ext cx="0" cy="1097280"/>
          </a:xfrm>
          <a:prstGeom prst="line">
            <a:avLst/>
          </a:prstGeom>
          <a:noFill/>
          <a:ln w="17780">
            <a:solidFill>
              <a:srgbClr val="2563EB"/>
            </a:solidFill>
            <a:prstDash val="solid"/>
            <a:headEnd type="none"/>
            <a:tailEnd type="triangle"/>
          </a:ln>
        </p:spPr>
      </p:sp>
      <p:sp>
        <p:nvSpPr>
          <p:cNvPr id="37" name="Text 35"/>
          <p:cNvSpPr/>
          <p:nvPr/>
        </p:nvSpPr>
        <p:spPr>
          <a:xfrm>
            <a:off x="11448288" y="6492240"/>
            <a:ext cx="347472" cy="164592"/>
          </a:xfrm>
          <a:prstGeom prst="rect">
            <a:avLst/>
          </a:prstGeom>
          <a:noFill/>
          <a:ln/>
        </p:spPr>
        <p:txBody>
          <a:bodyPr wrap="square" lIns="0" tIns="0" rIns="0" bIns="0" rtlCol="0" anchor="ctr"/>
          <a:lstStyle/>
          <a:p>
            <a:pPr algn="r" indent="0" marL="0">
              <a:buNone/>
            </a:pPr>
            <a:r>
              <a:rPr lang="en-US" sz="800" dirty="0">
                <a:solidFill>
                  <a:srgbClr val="495466"/>
                </a:solidFill>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563EB"/>
          </a:solidFill>
          <a:ln w="12700">
            <a:solidFill>
              <a:srgbClr val="2563EB"/>
            </a:solidFill>
            <a:prstDash val="solid"/>
          </a:ln>
        </p:spPr>
      </p:sp>
      <p:sp>
        <p:nvSpPr>
          <p:cNvPr id="3" name="Text 1"/>
          <p:cNvSpPr/>
          <p:nvPr/>
        </p:nvSpPr>
        <p:spPr>
          <a:xfrm>
            <a:off x="502920" y="292608"/>
            <a:ext cx="3474720" cy="201168"/>
          </a:xfrm>
          <a:prstGeom prst="rect">
            <a:avLst/>
          </a:prstGeom>
          <a:noFill/>
          <a:ln/>
        </p:spPr>
        <p:txBody>
          <a:bodyPr wrap="square" lIns="0" tIns="0" rIns="0" bIns="0" rtlCol="0" anchor="ctr"/>
          <a:lstStyle/>
          <a:p>
            <a:pPr indent="0" marL="0">
              <a:buNone/>
            </a:pPr>
            <a:r>
              <a:rPr lang="en-US" sz="850" b="1" dirty="0">
                <a:solidFill>
                  <a:srgbClr val="2563EB"/>
                </a:solidFill>
              </a:rPr>
              <a:t>DEFENSIBLE SERVICE MAP</a:t>
            </a:r>
            <a:endParaRPr lang="en-US" sz="850" dirty="0"/>
          </a:p>
        </p:txBody>
      </p:sp>
      <p:sp>
        <p:nvSpPr>
          <p:cNvPr id="4" name="Text 2"/>
          <p:cNvSpPr/>
          <p:nvPr/>
        </p:nvSpPr>
        <p:spPr>
          <a:xfrm>
            <a:off x="502920" y="548640"/>
            <a:ext cx="7772400" cy="384048"/>
          </a:xfrm>
          <a:prstGeom prst="rect">
            <a:avLst/>
          </a:prstGeom>
          <a:noFill/>
          <a:ln/>
        </p:spPr>
        <p:txBody>
          <a:bodyPr wrap="square" lIns="0" tIns="0" rIns="0" bIns="0" rtlCol="0" anchor="ctr"/>
          <a:lstStyle/>
          <a:p>
            <a:pPr indent="0" marL="0">
              <a:buNone/>
            </a:pPr>
            <a:r>
              <a:rPr lang="en-US" sz="2400" b="1" dirty="0">
                <a:solidFill>
                  <a:srgbClr val="0B1F3A"/>
                </a:solidFill>
              </a:rPr>
              <a:t>Technology and Azure service selection</a:t>
            </a:r>
            <a:endParaRPr lang="en-US" sz="2400" dirty="0"/>
          </a:p>
        </p:txBody>
      </p:sp>
      <p:sp>
        <p:nvSpPr>
          <p:cNvPr id="5" name="Text 3"/>
          <p:cNvSpPr/>
          <p:nvPr/>
        </p:nvSpPr>
        <p:spPr>
          <a:xfrm>
            <a:off x="8503920" y="594360"/>
            <a:ext cx="3108960" cy="228600"/>
          </a:xfrm>
          <a:prstGeom prst="rect">
            <a:avLst/>
          </a:prstGeom>
          <a:noFill/>
          <a:ln/>
        </p:spPr>
        <p:txBody>
          <a:bodyPr wrap="square" lIns="0" tIns="0" rIns="0" bIns="0" rtlCol="0" anchor="ctr"/>
          <a:lstStyle/>
          <a:p>
            <a:pPr algn="r" indent="0" marL="0">
              <a:buNone/>
            </a:pPr>
            <a:r>
              <a:rPr lang="en-US" sz="900" dirty="0">
                <a:solidFill>
                  <a:srgbClr val="495466"/>
                </a:solidFill>
              </a:rPr>
              <a:t>Document-to-Approved-Video Platform</a:t>
            </a:r>
            <a:endParaRPr lang="en-US" sz="900" dirty="0"/>
          </a:p>
        </p:txBody>
      </p:sp>
      <p:sp>
        <p:nvSpPr>
          <p:cNvPr id="6" name="Shape 4"/>
          <p:cNvSpPr/>
          <p:nvPr/>
        </p:nvSpPr>
        <p:spPr>
          <a:xfrm>
            <a:off x="685800" y="1234440"/>
            <a:ext cx="10835640" cy="411480"/>
          </a:xfrm>
          <a:prstGeom prst="rect">
            <a:avLst/>
          </a:prstGeom>
          <a:solidFill>
            <a:srgbClr val="0B1F3A"/>
          </a:solidFill>
          <a:ln w="12700">
            <a:solidFill>
              <a:srgbClr val="0B1F3A"/>
            </a:solidFill>
            <a:prstDash val="solid"/>
          </a:ln>
        </p:spPr>
      </p:sp>
      <p:sp>
        <p:nvSpPr>
          <p:cNvPr id="7" name="Text 5"/>
          <p:cNvSpPr/>
          <p:nvPr/>
        </p:nvSpPr>
        <p:spPr>
          <a:xfrm>
            <a:off x="777240" y="1353312"/>
            <a:ext cx="2011680" cy="137160"/>
          </a:xfrm>
          <a:prstGeom prst="rect">
            <a:avLst/>
          </a:prstGeom>
          <a:noFill/>
          <a:ln/>
        </p:spPr>
        <p:txBody>
          <a:bodyPr wrap="square" lIns="0" tIns="0" rIns="0" bIns="0" rtlCol="0" anchor="ctr"/>
          <a:lstStyle/>
          <a:p>
            <a:pPr indent="0" marL="0">
              <a:buNone/>
            </a:pPr>
            <a:r>
              <a:rPr lang="en-US" sz="900" b="1" dirty="0">
                <a:solidFill>
                  <a:srgbClr val="FFFFFF"/>
                </a:solidFill>
              </a:rPr>
              <a:t>Layer</a:t>
            </a:r>
            <a:endParaRPr lang="en-US" sz="900" dirty="0"/>
          </a:p>
        </p:txBody>
      </p:sp>
      <p:sp>
        <p:nvSpPr>
          <p:cNvPr id="8" name="Text 6"/>
          <p:cNvSpPr/>
          <p:nvPr/>
        </p:nvSpPr>
        <p:spPr>
          <a:xfrm>
            <a:off x="3246120" y="1353312"/>
            <a:ext cx="2194560" cy="137160"/>
          </a:xfrm>
          <a:prstGeom prst="rect">
            <a:avLst/>
          </a:prstGeom>
          <a:noFill/>
          <a:ln/>
        </p:spPr>
        <p:txBody>
          <a:bodyPr wrap="square" lIns="0" tIns="0" rIns="0" bIns="0" rtlCol="0" anchor="ctr"/>
          <a:lstStyle/>
          <a:p>
            <a:pPr indent="0" marL="0">
              <a:buNone/>
            </a:pPr>
            <a:r>
              <a:rPr lang="en-US" sz="900" b="1" dirty="0">
                <a:solidFill>
                  <a:srgbClr val="FFFFFF"/>
                </a:solidFill>
              </a:rPr>
              <a:t>Service</a:t>
            </a:r>
            <a:endParaRPr lang="en-US" sz="900" dirty="0"/>
          </a:p>
        </p:txBody>
      </p:sp>
      <p:sp>
        <p:nvSpPr>
          <p:cNvPr id="9" name="Text 7"/>
          <p:cNvSpPr/>
          <p:nvPr/>
        </p:nvSpPr>
        <p:spPr>
          <a:xfrm>
            <a:off x="5806440" y="1353312"/>
            <a:ext cx="5029200" cy="137160"/>
          </a:xfrm>
          <a:prstGeom prst="rect">
            <a:avLst/>
          </a:prstGeom>
          <a:noFill/>
          <a:ln/>
        </p:spPr>
        <p:txBody>
          <a:bodyPr wrap="square" lIns="0" tIns="0" rIns="0" bIns="0" rtlCol="0" anchor="ctr"/>
          <a:lstStyle/>
          <a:p>
            <a:pPr indent="0" marL="0">
              <a:buNone/>
            </a:pPr>
            <a:r>
              <a:rPr lang="en-US" sz="900" b="1" dirty="0">
                <a:solidFill>
                  <a:srgbClr val="FFFFFF"/>
                </a:solidFill>
              </a:rPr>
              <a:t>Why it is selected</a:t>
            </a:r>
            <a:endParaRPr lang="en-US" sz="900" dirty="0"/>
          </a:p>
        </p:txBody>
      </p:sp>
      <p:sp>
        <p:nvSpPr>
          <p:cNvPr id="10" name="Shape 8"/>
          <p:cNvSpPr/>
          <p:nvPr/>
        </p:nvSpPr>
        <p:spPr>
          <a:xfrm>
            <a:off x="685800" y="1645920"/>
            <a:ext cx="10835640" cy="502920"/>
          </a:xfrm>
          <a:prstGeom prst="rect">
            <a:avLst/>
          </a:prstGeom>
          <a:solidFill>
            <a:srgbClr val="F8FAFC"/>
          </a:solidFill>
          <a:ln w="12700">
            <a:solidFill>
              <a:srgbClr val="E2E8F0"/>
            </a:solidFill>
            <a:prstDash val="solid"/>
          </a:ln>
        </p:spPr>
      </p:sp>
      <p:sp>
        <p:nvSpPr>
          <p:cNvPr id="11" name="Text 9"/>
          <p:cNvSpPr/>
          <p:nvPr/>
        </p:nvSpPr>
        <p:spPr>
          <a:xfrm>
            <a:off x="777240" y="1810512"/>
            <a:ext cx="2103120" cy="128016"/>
          </a:xfrm>
          <a:prstGeom prst="rect">
            <a:avLst/>
          </a:prstGeom>
          <a:noFill/>
          <a:ln/>
        </p:spPr>
        <p:txBody>
          <a:bodyPr wrap="square" lIns="0" tIns="0" rIns="0" bIns="0" rtlCol="0" anchor="ctr"/>
          <a:lstStyle/>
          <a:p>
            <a:pPr indent="0" marL="0">
              <a:buNone/>
            </a:pPr>
            <a:r>
              <a:rPr lang="en-US" sz="880" b="1" dirty="0">
                <a:solidFill>
                  <a:srgbClr val="0B1F3A"/>
                </a:solidFill>
              </a:rPr>
              <a:t>Orchestration</a:t>
            </a:r>
            <a:endParaRPr lang="en-US" sz="880" dirty="0"/>
          </a:p>
        </p:txBody>
      </p:sp>
      <p:sp>
        <p:nvSpPr>
          <p:cNvPr id="12" name="Text 10"/>
          <p:cNvSpPr/>
          <p:nvPr/>
        </p:nvSpPr>
        <p:spPr>
          <a:xfrm>
            <a:off x="3246120" y="1810512"/>
            <a:ext cx="2286000" cy="128016"/>
          </a:xfrm>
          <a:prstGeom prst="rect">
            <a:avLst/>
          </a:prstGeom>
          <a:noFill/>
          <a:ln/>
        </p:spPr>
        <p:txBody>
          <a:bodyPr wrap="square" lIns="0" tIns="0" rIns="0" bIns="0" rtlCol="0" anchor="ctr"/>
          <a:lstStyle/>
          <a:p>
            <a:pPr indent="0" marL="0">
              <a:buNone/>
            </a:pPr>
            <a:r>
              <a:rPr lang="en-US" sz="880" b="1" dirty="0">
                <a:solidFill>
                  <a:srgbClr val="2563EB"/>
                </a:solidFill>
              </a:rPr>
              <a:t>LangGraph</a:t>
            </a:r>
            <a:endParaRPr lang="en-US" sz="880" dirty="0"/>
          </a:p>
        </p:txBody>
      </p:sp>
      <p:sp>
        <p:nvSpPr>
          <p:cNvPr id="13" name="Text 11"/>
          <p:cNvSpPr/>
          <p:nvPr/>
        </p:nvSpPr>
        <p:spPr>
          <a:xfrm>
            <a:off x="5806440" y="1810512"/>
            <a:ext cx="5212080" cy="128016"/>
          </a:xfrm>
          <a:prstGeom prst="rect">
            <a:avLst/>
          </a:prstGeom>
          <a:noFill/>
          <a:ln/>
        </p:spPr>
        <p:txBody>
          <a:bodyPr wrap="square" lIns="0" tIns="0" rIns="0" bIns="0" rtlCol="0" anchor="ctr"/>
          <a:lstStyle/>
          <a:p>
            <a:pPr indent="0" marL="0">
              <a:buNone/>
            </a:pPr>
            <a:r>
              <a:rPr lang="en-US" sz="880" dirty="0">
                <a:solidFill>
                  <a:srgbClr val="111827"/>
                </a:solidFill>
              </a:rPr>
              <a:t>Durable graph, checkpoints, human-in-loop</a:t>
            </a:r>
            <a:endParaRPr lang="en-US" sz="880" dirty="0"/>
          </a:p>
        </p:txBody>
      </p:sp>
      <p:sp>
        <p:nvSpPr>
          <p:cNvPr id="14" name="Shape 12"/>
          <p:cNvSpPr/>
          <p:nvPr/>
        </p:nvSpPr>
        <p:spPr>
          <a:xfrm>
            <a:off x="685800" y="2148840"/>
            <a:ext cx="10835640" cy="502920"/>
          </a:xfrm>
          <a:prstGeom prst="rect">
            <a:avLst/>
          </a:prstGeom>
          <a:solidFill>
            <a:srgbClr val="FFFFFF"/>
          </a:solidFill>
          <a:ln w="12700">
            <a:solidFill>
              <a:srgbClr val="E2E8F0"/>
            </a:solidFill>
            <a:prstDash val="solid"/>
          </a:ln>
        </p:spPr>
      </p:sp>
      <p:sp>
        <p:nvSpPr>
          <p:cNvPr id="15" name="Text 13"/>
          <p:cNvSpPr/>
          <p:nvPr/>
        </p:nvSpPr>
        <p:spPr>
          <a:xfrm>
            <a:off x="777240" y="2313432"/>
            <a:ext cx="2103120" cy="128016"/>
          </a:xfrm>
          <a:prstGeom prst="rect">
            <a:avLst/>
          </a:prstGeom>
          <a:noFill/>
          <a:ln/>
        </p:spPr>
        <p:txBody>
          <a:bodyPr wrap="square" lIns="0" tIns="0" rIns="0" bIns="0" rtlCol="0" anchor="ctr"/>
          <a:lstStyle/>
          <a:p>
            <a:pPr indent="0" marL="0">
              <a:buNone/>
            </a:pPr>
            <a:r>
              <a:rPr lang="en-US" sz="880" b="1" dirty="0">
                <a:solidFill>
                  <a:srgbClr val="0B1F3A"/>
                </a:solidFill>
              </a:rPr>
              <a:t>AI platform</a:t>
            </a:r>
            <a:endParaRPr lang="en-US" sz="880" dirty="0"/>
          </a:p>
        </p:txBody>
      </p:sp>
      <p:sp>
        <p:nvSpPr>
          <p:cNvPr id="16" name="Text 14"/>
          <p:cNvSpPr/>
          <p:nvPr/>
        </p:nvSpPr>
        <p:spPr>
          <a:xfrm>
            <a:off x="3246120" y="2313432"/>
            <a:ext cx="2286000" cy="128016"/>
          </a:xfrm>
          <a:prstGeom prst="rect">
            <a:avLst/>
          </a:prstGeom>
          <a:noFill/>
          <a:ln/>
        </p:spPr>
        <p:txBody>
          <a:bodyPr wrap="square" lIns="0" tIns="0" rIns="0" bIns="0" rtlCol="0" anchor="ctr"/>
          <a:lstStyle/>
          <a:p>
            <a:pPr indent="0" marL="0">
              <a:buNone/>
            </a:pPr>
            <a:r>
              <a:rPr lang="en-US" sz="880" b="1" dirty="0">
                <a:solidFill>
                  <a:srgbClr val="2563EB"/>
                </a:solidFill>
              </a:rPr>
              <a:t>Microsoft Foundry</a:t>
            </a:r>
            <a:endParaRPr lang="en-US" sz="880" dirty="0"/>
          </a:p>
        </p:txBody>
      </p:sp>
      <p:sp>
        <p:nvSpPr>
          <p:cNvPr id="17" name="Text 15"/>
          <p:cNvSpPr/>
          <p:nvPr/>
        </p:nvSpPr>
        <p:spPr>
          <a:xfrm>
            <a:off x="5806440" y="2313432"/>
            <a:ext cx="5212080" cy="128016"/>
          </a:xfrm>
          <a:prstGeom prst="rect">
            <a:avLst/>
          </a:prstGeom>
          <a:noFill/>
          <a:ln/>
        </p:spPr>
        <p:txBody>
          <a:bodyPr wrap="square" lIns="0" tIns="0" rIns="0" bIns="0" rtlCol="0" anchor="ctr"/>
          <a:lstStyle/>
          <a:p>
            <a:pPr indent="0" marL="0">
              <a:buNone/>
            </a:pPr>
            <a:r>
              <a:rPr lang="en-US" sz="880" dirty="0">
                <a:solidFill>
                  <a:srgbClr val="111827"/>
                </a:solidFill>
              </a:rPr>
              <a:t>Models, tracing, evaluations, governance</a:t>
            </a:r>
            <a:endParaRPr lang="en-US" sz="880" dirty="0"/>
          </a:p>
        </p:txBody>
      </p:sp>
      <p:sp>
        <p:nvSpPr>
          <p:cNvPr id="18" name="Shape 16"/>
          <p:cNvSpPr/>
          <p:nvPr/>
        </p:nvSpPr>
        <p:spPr>
          <a:xfrm>
            <a:off x="685800" y="2651760"/>
            <a:ext cx="10835640" cy="502920"/>
          </a:xfrm>
          <a:prstGeom prst="rect">
            <a:avLst/>
          </a:prstGeom>
          <a:solidFill>
            <a:srgbClr val="F8FAFC"/>
          </a:solidFill>
          <a:ln w="12700">
            <a:solidFill>
              <a:srgbClr val="E2E8F0"/>
            </a:solidFill>
            <a:prstDash val="solid"/>
          </a:ln>
        </p:spPr>
      </p:sp>
      <p:sp>
        <p:nvSpPr>
          <p:cNvPr id="19" name="Text 17"/>
          <p:cNvSpPr/>
          <p:nvPr/>
        </p:nvSpPr>
        <p:spPr>
          <a:xfrm>
            <a:off x="777240" y="2816352"/>
            <a:ext cx="2103120" cy="128016"/>
          </a:xfrm>
          <a:prstGeom prst="rect">
            <a:avLst/>
          </a:prstGeom>
          <a:noFill/>
          <a:ln/>
        </p:spPr>
        <p:txBody>
          <a:bodyPr wrap="square" lIns="0" tIns="0" rIns="0" bIns="0" rtlCol="0" anchor="ctr"/>
          <a:lstStyle/>
          <a:p>
            <a:pPr indent="0" marL="0">
              <a:buNone/>
            </a:pPr>
            <a:r>
              <a:rPr lang="en-US" sz="880" b="1" dirty="0">
                <a:solidFill>
                  <a:srgbClr val="0B1F3A"/>
                </a:solidFill>
              </a:rPr>
              <a:t>Runtime</a:t>
            </a:r>
            <a:endParaRPr lang="en-US" sz="880" dirty="0"/>
          </a:p>
        </p:txBody>
      </p:sp>
      <p:sp>
        <p:nvSpPr>
          <p:cNvPr id="20" name="Text 18"/>
          <p:cNvSpPr/>
          <p:nvPr/>
        </p:nvSpPr>
        <p:spPr>
          <a:xfrm>
            <a:off x="3246120" y="2816352"/>
            <a:ext cx="2286000" cy="128016"/>
          </a:xfrm>
          <a:prstGeom prst="rect">
            <a:avLst/>
          </a:prstGeom>
          <a:noFill/>
          <a:ln/>
        </p:spPr>
        <p:txBody>
          <a:bodyPr wrap="square" lIns="0" tIns="0" rIns="0" bIns="0" rtlCol="0" anchor="ctr"/>
          <a:lstStyle/>
          <a:p>
            <a:pPr indent="0" marL="0">
              <a:buNone/>
            </a:pPr>
            <a:r>
              <a:rPr lang="en-US" sz="880" b="1" dirty="0">
                <a:solidFill>
                  <a:srgbClr val="2563EB"/>
                </a:solidFill>
              </a:rPr>
              <a:t>Azure Container Apps</a:t>
            </a:r>
            <a:endParaRPr lang="en-US" sz="880" dirty="0"/>
          </a:p>
        </p:txBody>
      </p:sp>
      <p:sp>
        <p:nvSpPr>
          <p:cNvPr id="21" name="Text 19"/>
          <p:cNvSpPr/>
          <p:nvPr/>
        </p:nvSpPr>
        <p:spPr>
          <a:xfrm>
            <a:off x="5806440" y="2816352"/>
            <a:ext cx="5212080" cy="128016"/>
          </a:xfrm>
          <a:prstGeom prst="rect">
            <a:avLst/>
          </a:prstGeom>
          <a:noFill/>
          <a:ln/>
        </p:spPr>
        <p:txBody>
          <a:bodyPr wrap="square" lIns="0" tIns="0" rIns="0" bIns="0" rtlCol="0" anchor="ctr"/>
          <a:lstStyle/>
          <a:p>
            <a:pPr indent="0" marL="0">
              <a:buNone/>
            </a:pPr>
            <a:r>
              <a:rPr lang="en-US" sz="880" dirty="0">
                <a:solidFill>
                  <a:srgbClr val="111827"/>
                </a:solidFill>
              </a:rPr>
              <a:t>Low-ops container hosting for API/workflow</a:t>
            </a:r>
            <a:endParaRPr lang="en-US" sz="880" dirty="0"/>
          </a:p>
        </p:txBody>
      </p:sp>
      <p:sp>
        <p:nvSpPr>
          <p:cNvPr id="22" name="Shape 20"/>
          <p:cNvSpPr/>
          <p:nvPr/>
        </p:nvSpPr>
        <p:spPr>
          <a:xfrm>
            <a:off x="685800" y="3154680"/>
            <a:ext cx="10835640" cy="502920"/>
          </a:xfrm>
          <a:prstGeom prst="rect">
            <a:avLst/>
          </a:prstGeom>
          <a:solidFill>
            <a:srgbClr val="FFFFFF"/>
          </a:solidFill>
          <a:ln w="12700">
            <a:solidFill>
              <a:srgbClr val="E2E8F0"/>
            </a:solidFill>
            <a:prstDash val="solid"/>
          </a:ln>
        </p:spPr>
      </p:sp>
      <p:sp>
        <p:nvSpPr>
          <p:cNvPr id="23" name="Text 21"/>
          <p:cNvSpPr/>
          <p:nvPr/>
        </p:nvSpPr>
        <p:spPr>
          <a:xfrm>
            <a:off x="777240" y="3319272"/>
            <a:ext cx="2103120" cy="128016"/>
          </a:xfrm>
          <a:prstGeom prst="rect">
            <a:avLst/>
          </a:prstGeom>
          <a:noFill/>
          <a:ln/>
        </p:spPr>
        <p:txBody>
          <a:bodyPr wrap="square" lIns="0" tIns="0" rIns="0" bIns="0" rtlCol="0" anchor="ctr"/>
          <a:lstStyle/>
          <a:p>
            <a:pPr indent="0" marL="0">
              <a:buNone/>
            </a:pPr>
            <a:r>
              <a:rPr lang="en-US" sz="880" b="1" dirty="0">
                <a:solidFill>
                  <a:srgbClr val="0B1F3A"/>
                </a:solidFill>
              </a:rPr>
              <a:t>Media jobs</a:t>
            </a:r>
            <a:endParaRPr lang="en-US" sz="880" dirty="0"/>
          </a:p>
        </p:txBody>
      </p:sp>
      <p:sp>
        <p:nvSpPr>
          <p:cNvPr id="24" name="Text 22"/>
          <p:cNvSpPr/>
          <p:nvPr/>
        </p:nvSpPr>
        <p:spPr>
          <a:xfrm>
            <a:off x="3246120" y="3319272"/>
            <a:ext cx="2286000" cy="128016"/>
          </a:xfrm>
          <a:prstGeom prst="rect">
            <a:avLst/>
          </a:prstGeom>
          <a:noFill/>
          <a:ln/>
        </p:spPr>
        <p:txBody>
          <a:bodyPr wrap="square" lIns="0" tIns="0" rIns="0" bIns="0" rtlCol="0" anchor="ctr"/>
          <a:lstStyle/>
          <a:p>
            <a:pPr indent="0" marL="0">
              <a:buNone/>
            </a:pPr>
            <a:r>
              <a:rPr lang="en-US" sz="880" b="1" dirty="0">
                <a:solidFill>
                  <a:srgbClr val="2563EB"/>
                </a:solidFill>
              </a:rPr>
              <a:t>Container Apps Jobs</a:t>
            </a:r>
            <a:endParaRPr lang="en-US" sz="880" dirty="0"/>
          </a:p>
        </p:txBody>
      </p:sp>
      <p:sp>
        <p:nvSpPr>
          <p:cNvPr id="25" name="Text 23"/>
          <p:cNvSpPr/>
          <p:nvPr/>
        </p:nvSpPr>
        <p:spPr>
          <a:xfrm>
            <a:off x="5806440" y="3319272"/>
            <a:ext cx="5212080" cy="128016"/>
          </a:xfrm>
          <a:prstGeom prst="rect">
            <a:avLst/>
          </a:prstGeom>
          <a:noFill/>
          <a:ln/>
        </p:spPr>
        <p:txBody>
          <a:bodyPr wrap="square" lIns="0" tIns="0" rIns="0" bIns="0" rtlCol="0" anchor="ctr"/>
          <a:lstStyle/>
          <a:p>
            <a:pPr indent="0" marL="0">
              <a:buNone/>
            </a:pPr>
            <a:r>
              <a:rPr lang="en-US" sz="880" dirty="0">
                <a:solidFill>
                  <a:srgbClr val="111827"/>
                </a:solidFill>
              </a:rPr>
              <a:t>Finite on-demand rendering and processing</a:t>
            </a:r>
            <a:endParaRPr lang="en-US" sz="880" dirty="0"/>
          </a:p>
        </p:txBody>
      </p:sp>
      <p:sp>
        <p:nvSpPr>
          <p:cNvPr id="26" name="Shape 24"/>
          <p:cNvSpPr/>
          <p:nvPr/>
        </p:nvSpPr>
        <p:spPr>
          <a:xfrm>
            <a:off x="685800" y="3657600"/>
            <a:ext cx="10835640" cy="502920"/>
          </a:xfrm>
          <a:prstGeom prst="rect">
            <a:avLst/>
          </a:prstGeom>
          <a:solidFill>
            <a:srgbClr val="F8FAFC"/>
          </a:solidFill>
          <a:ln w="12700">
            <a:solidFill>
              <a:srgbClr val="E2E8F0"/>
            </a:solidFill>
            <a:prstDash val="solid"/>
          </a:ln>
        </p:spPr>
      </p:sp>
      <p:sp>
        <p:nvSpPr>
          <p:cNvPr id="27" name="Text 25"/>
          <p:cNvSpPr/>
          <p:nvPr/>
        </p:nvSpPr>
        <p:spPr>
          <a:xfrm>
            <a:off x="777240" y="3822192"/>
            <a:ext cx="2103120" cy="128016"/>
          </a:xfrm>
          <a:prstGeom prst="rect">
            <a:avLst/>
          </a:prstGeom>
          <a:noFill/>
          <a:ln/>
        </p:spPr>
        <p:txBody>
          <a:bodyPr wrap="square" lIns="0" tIns="0" rIns="0" bIns="0" rtlCol="0" anchor="ctr"/>
          <a:lstStyle/>
          <a:p>
            <a:pPr indent="0" marL="0">
              <a:buNone/>
            </a:pPr>
            <a:r>
              <a:rPr lang="en-US" sz="880" b="1" dirty="0">
                <a:solidFill>
                  <a:srgbClr val="0B1F3A"/>
                </a:solidFill>
              </a:rPr>
              <a:t>Document extraction</a:t>
            </a:r>
            <a:endParaRPr lang="en-US" sz="880" dirty="0"/>
          </a:p>
        </p:txBody>
      </p:sp>
      <p:sp>
        <p:nvSpPr>
          <p:cNvPr id="28" name="Text 26"/>
          <p:cNvSpPr/>
          <p:nvPr/>
        </p:nvSpPr>
        <p:spPr>
          <a:xfrm>
            <a:off x="3246120" y="3822192"/>
            <a:ext cx="2286000" cy="128016"/>
          </a:xfrm>
          <a:prstGeom prst="rect">
            <a:avLst/>
          </a:prstGeom>
          <a:noFill/>
          <a:ln/>
        </p:spPr>
        <p:txBody>
          <a:bodyPr wrap="square" lIns="0" tIns="0" rIns="0" bIns="0" rtlCol="0" anchor="ctr"/>
          <a:lstStyle/>
          <a:p>
            <a:pPr indent="0" marL="0">
              <a:buNone/>
            </a:pPr>
            <a:r>
              <a:rPr lang="en-US" sz="880" b="1" dirty="0">
                <a:solidFill>
                  <a:srgbClr val="2563EB"/>
                </a:solidFill>
              </a:rPr>
              <a:t>Azure Content Understanding</a:t>
            </a:r>
            <a:endParaRPr lang="en-US" sz="880" dirty="0"/>
          </a:p>
        </p:txBody>
      </p:sp>
      <p:sp>
        <p:nvSpPr>
          <p:cNvPr id="29" name="Text 27"/>
          <p:cNvSpPr/>
          <p:nvPr/>
        </p:nvSpPr>
        <p:spPr>
          <a:xfrm>
            <a:off x="5806440" y="3822192"/>
            <a:ext cx="5212080" cy="128016"/>
          </a:xfrm>
          <a:prstGeom prst="rect">
            <a:avLst/>
          </a:prstGeom>
          <a:noFill/>
          <a:ln/>
        </p:spPr>
        <p:txBody>
          <a:bodyPr wrap="square" lIns="0" tIns="0" rIns="0" bIns="0" rtlCol="0" anchor="ctr"/>
          <a:lstStyle/>
          <a:p>
            <a:pPr indent="0" marL="0">
              <a:buNone/>
            </a:pPr>
            <a:r>
              <a:rPr lang="en-US" sz="880" dirty="0">
                <a:solidFill>
                  <a:srgbClr val="111827"/>
                </a:solidFill>
              </a:rPr>
              <a:t>Structured extraction into canonical schema</a:t>
            </a:r>
            <a:endParaRPr lang="en-US" sz="880" dirty="0"/>
          </a:p>
        </p:txBody>
      </p:sp>
      <p:sp>
        <p:nvSpPr>
          <p:cNvPr id="30" name="Shape 28"/>
          <p:cNvSpPr/>
          <p:nvPr/>
        </p:nvSpPr>
        <p:spPr>
          <a:xfrm>
            <a:off x="685800" y="4160520"/>
            <a:ext cx="10835640" cy="502920"/>
          </a:xfrm>
          <a:prstGeom prst="rect">
            <a:avLst/>
          </a:prstGeom>
          <a:solidFill>
            <a:srgbClr val="FFFFFF"/>
          </a:solidFill>
          <a:ln w="12700">
            <a:solidFill>
              <a:srgbClr val="E2E8F0"/>
            </a:solidFill>
            <a:prstDash val="solid"/>
          </a:ln>
        </p:spPr>
      </p:sp>
      <p:sp>
        <p:nvSpPr>
          <p:cNvPr id="31" name="Text 29"/>
          <p:cNvSpPr/>
          <p:nvPr/>
        </p:nvSpPr>
        <p:spPr>
          <a:xfrm>
            <a:off x="777240" y="4325112"/>
            <a:ext cx="2103120" cy="128016"/>
          </a:xfrm>
          <a:prstGeom prst="rect">
            <a:avLst/>
          </a:prstGeom>
          <a:noFill/>
          <a:ln/>
        </p:spPr>
        <p:txBody>
          <a:bodyPr wrap="square" lIns="0" tIns="0" rIns="0" bIns="0" rtlCol="0" anchor="ctr"/>
          <a:lstStyle/>
          <a:p>
            <a:pPr indent="0" marL="0">
              <a:buNone/>
            </a:pPr>
            <a:r>
              <a:rPr lang="en-US" sz="880" b="1" dirty="0">
                <a:solidFill>
                  <a:srgbClr val="0B1F3A"/>
                </a:solidFill>
              </a:rPr>
              <a:t>Grounding</a:t>
            </a:r>
            <a:endParaRPr lang="en-US" sz="880" dirty="0"/>
          </a:p>
        </p:txBody>
      </p:sp>
      <p:sp>
        <p:nvSpPr>
          <p:cNvPr id="32" name="Text 30"/>
          <p:cNvSpPr/>
          <p:nvPr/>
        </p:nvSpPr>
        <p:spPr>
          <a:xfrm>
            <a:off x="3246120" y="4325112"/>
            <a:ext cx="2286000" cy="128016"/>
          </a:xfrm>
          <a:prstGeom prst="rect">
            <a:avLst/>
          </a:prstGeom>
          <a:noFill/>
          <a:ln/>
        </p:spPr>
        <p:txBody>
          <a:bodyPr wrap="square" lIns="0" tIns="0" rIns="0" bIns="0" rtlCol="0" anchor="ctr"/>
          <a:lstStyle/>
          <a:p>
            <a:pPr indent="0" marL="0">
              <a:buNone/>
            </a:pPr>
            <a:r>
              <a:rPr lang="en-US" sz="880" b="1" dirty="0">
                <a:solidFill>
                  <a:srgbClr val="2563EB"/>
                </a:solidFill>
              </a:rPr>
              <a:t>Azure AI Search</a:t>
            </a:r>
            <a:endParaRPr lang="en-US" sz="880" dirty="0"/>
          </a:p>
        </p:txBody>
      </p:sp>
      <p:sp>
        <p:nvSpPr>
          <p:cNvPr id="33" name="Text 31"/>
          <p:cNvSpPr/>
          <p:nvPr/>
        </p:nvSpPr>
        <p:spPr>
          <a:xfrm>
            <a:off x="5806440" y="4325112"/>
            <a:ext cx="5212080" cy="128016"/>
          </a:xfrm>
          <a:prstGeom prst="rect">
            <a:avLst/>
          </a:prstGeom>
          <a:noFill/>
          <a:ln/>
        </p:spPr>
        <p:txBody>
          <a:bodyPr wrap="square" lIns="0" tIns="0" rIns="0" bIns="0" rtlCol="0" anchor="ctr"/>
          <a:lstStyle/>
          <a:p>
            <a:pPr indent="0" marL="0">
              <a:buNone/>
            </a:pPr>
            <a:r>
              <a:rPr lang="en-US" sz="880" dirty="0">
                <a:solidFill>
                  <a:srgbClr val="111827"/>
                </a:solidFill>
              </a:rPr>
              <a:t>Hybrid retrieval when corpus is large/reusable</a:t>
            </a:r>
            <a:endParaRPr lang="en-US" sz="880" dirty="0"/>
          </a:p>
        </p:txBody>
      </p:sp>
      <p:sp>
        <p:nvSpPr>
          <p:cNvPr id="34" name="Shape 32"/>
          <p:cNvSpPr/>
          <p:nvPr/>
        </p:nvSpPr>
        <p:spPr>
          <a:xfrm>
            <a:off x="685800" y="4663440"/>
            <a:ext cx="10835640" cy="502920"/>
          </a:xfrm>
          <a:prstGeom prst="rect">
            <a:avLst/>
          </a:prstGeom>
          <a:solidFill>
            <a:srgbClr val="F8FAFC"/>
          </a:solidFill>
          <a:ln w="12700">
            <a:solidFill>
              <a:srgbClr val="E2E8F0"/>
            </a:solidFill>
            <a:prstDash val="solid"/>
          </a:ln>
        </p:spPr>
      </p:sp>
      <p:sp>
        <p:nvSpPr>
          <p:cNvPr id="35" name="Text 33"/>
          <p:cNvSpPr/>
          <p:nvPr/>
        </p:nvSpPr>
        <p:spPr>
          <a:xfrm>
            <a:off x="777240" y="4828032"/>
            <a:ext cx="2103120" cy="128016"/>
          </a:xfrm>
          <a:prstGeom prst="rect">
            <a:avLst/>
          </a:prstGeom>
          <a:noFill/>
          <a:ln/>
        </p:spPr>
        <p:txBody>
          <a:bodyPr wrap="square" lIns="0" tIns="0" rIns="0" bIns="0" rtlCol="0" anchor="ctr"/>
          <a:lstStyle/>
          <a:p>
            <a:pPr indent="0" marL="0">
              <a:buNone/>
            </a:pPr>
            <a:r>
              <a:rPr lang="en-US" sz="880" b="1" dirty="0">
                <a:solidFill>
                  <a:srgbClr val="0B1F3A"/>
                </a:solidFill>
              </a:rPr>
              <a:t>Voice</a:t>
            </a:r>
            <a:endParaRPr lang="en-US" sz="880" dirty="0"/>
          </a:p>
        </p:txBody>
      </p:sp>
      <p:sp>
        <p:nvSpPr>
          <p:cNvPr id="36" name="Text 34"/>
          <p:cNvSpPr/>
          <p:nvPr/>
        </p:nvSpPr>
        <p:spPr>
          <a:xfrm>
            <a:off x="3246120" y="4828032"/>
            <a:ext cx="2286000" cy="128016"/>
          </a:xfrm>
          <a:prstGeom prst="rect">
            <a:avLst/>
          </a:prstGeom>
          <a:noFill/>
          <a:ln/>
        </p:spPr>
        <p:txBody>
          <a:bodyPr wrap="square" lIns="0" tIns="0" rIns="0" bIns="0" rtlCol="0" anchor="ctr"/>
          <a:lstStyle/>
          <a:p>
            <a:pPr indent="0" marL="0">
              <a:buNone/>
            </a:pPr>
            <a:r>
              <a:rPr lang="en-US" sz="880" b="1" dirty="0">
                <a:solidFill>
                  <a:srgbClr val="2563EB"/>
                </a:solidFill>
              </a:rPr>
              <a:t>Azure AI Speech</a:t>
            </a:r>
            <a:endParaRPr lang="en-US" sz="880" dirty="0"/>
          </a:p>
        </p:txBody>
      </p:sp>
      <p:sp>
        <p:nvSpPr>
          <p:cNvPr id="37" name="Text 35"/>
          <p:cNvSpPr/>
          <p:nvPr/>
        </p:nvSpPr>
        <p:spPr>
          <a:xfrm>
            <a:off x="5806440" y="4828032"/>
            <a:ext cx="5212080" cy="128016"/>
          </a:xfrm>
          <a:prstGeom prst="rect">
            <a:avLst/>
          </a:prstGeom>
          <a:noFill/>
          <a:ln/>
        </p:spPr>
        <p:txBody>
          <a:bodyPr wrap="square" lIns="0" tIns="0" rIns="0" bIns="0" rtlCol="0" anchor="ctr"/>
          <a:lstStyle/>
          <a:p>
            <a:pPr indent="0" marL="0">
              <a:buNone/>
            </a:pPr>
            <a:r>
              <a:rPr lang="en-US" sz="880" dirty="0">
                <a:solidFill>
                  <a:srgbClr val="111827"/>
                </a:solidFill>
              </a:rPr>
              <a:t>Multilingual neural narration</a:t>
            </a:r>
            <a:endParaRPr lang="en-US" sz="880" dirty="0"/>
          </a:p>
        </p:txBody>
      </p:sp>
      <p:sp>
        <p:nvSpPr>
          <p:cNvPr id="38" name="Shape 36"/>
          <p:cNvSpPr/>
          <p:nvPr/>
        </p:nvSpPr>
        <p:spPr>
          <a:xfrm>
            <a:off x="685800" y="5166360"/>
            <a:ext cx="10835640" cy="502920"/>
          </a:xfrm>
          <a:prstGeom prst="rect">
            <a:avLst/>
          </a:prstGeom>
          <a:solidFill>
            <a:srgbClr val="FFFFFF"/>
          </a:solidFill>
          <a:ln w="12700">
            <a:solidFill>
              <a:srgbClr val="E2E8F0"/>
            </a:solidFill>
            <a:prstDash val="solid"/>
          </a:ln>
        </p:spPr>
      </p:sp>
      <p:sp>
        <p:nvSpPr>
          <p:cNvPr id="39" name="Text 37"/>
          <p:cNvSpPr/>
          <p:nvPr/>
        </p:nvSpPr>
        <p:spPr>
          <a:xfrm>
            <a:off x="777240" y="5330952"/>
            <a:ext cx="2103120" cy="128016"/>
          </a:xfrm>
          <a:prstGeom prst="rect">
            <a:avLst/>
          </a:prstGeom>
          <a:noFill/>
          <a:ln/>
        </p:spPr>
        <p:txBody>
          <a:bodyPr wrap="square" lIns="0" tIns="0" rIns="0" bIns="0" rtlCol="0" anchor="ctr"/>
          <a:lstStyle/>
          <a:p>
            <a:pPr indent="0" marL="0">
              <a:buNone/>
            </a:pPr>
            <a:r>
              <a:rPr lang="en-US" sz="880" b="1" dirty="0">
                <a:solidFill>
                  <a:srgbClr val="0B1F3A"/>
                </a:solidFill>
              </a:rPr>
              <a:t>Rendering</a:t>
            </a:r>
            <a:endParaRPr lang="en-US" sz="880" dirty="0"/>
          </a:p>
        </p:txBody>
      </p:sp>
      <p:sp>
        <p:nvSpPr>
          <p:cNvPr id="40" name="Text 38"/>
          <p:cNvSpPr/>
          <p:nvPr/>
        </p:nvSpPr>
        <p:spPr>
          <a:xfrm>
            <a:off x="3246120" y="5330952"/>
            <a:ext cx="2286000" cy="128016"/>
          </a:xfrm>
          <a:prstGeom prst="rect">
            <a:avLst/>
          </a:prstGeom>
          <a:noFill/>
          <a:ln/>
        </p:spPr>
        <p:txBody>
          <a:bodyPr wrap="square" lIns="0" tIns="0" rIns="0" bIns="0" rtlCol="0" anchor="ctr"/>
          <a:lstStyle/>
          <a:p>
            <a:pPr indent="0" marL="0">
              <a:buNone/>
            </a:pPr>
            <a:r>
              <a:rPr lang="en-US" sz="880" b="1" dirty="0">
                <a:solidFill>
                  <a:srgbClr val="2563EB"/>
                </a:solidFill>
              </a:rPr>
              <a:t>Remotion + FFmpeg</a:t>
            </a:r>
            <a:endParaRPr lang="en-US" sz="880" dirty="0"/>
          </a:p>
        </p:txBody>
      </p:sp>
      <p:sp>
        <p:nvSpPr>
          <p:cNvPr id="41" name="Text 39"/>
          <p:cNvSpPr/>
          <p:nvPr/>
        </p:nvSpPr>
        <p:spPr>
          <a:xfrm>
            <a:off x="5806440" y="5330952"/>
            <a:ext cx="5212080" cy="128016"/>
          </a:xfrm>
          <a:prstGeom prst="rect">
            <a:avLst/>
          </a:prstGeom>
          <a:noFill/>
          <a:ln/>
        </p:spPr>
        <p:txBody>
          <a:bodyPr wrap="square" lIns="0" tIns="0" rIns="0" bIns="0" rtlCol="0" anchor="ctr"/>
          <a:lstStyle/>
          <a:p>
            <a:pPr indent="0" marL="0">
              <a:buNone/>
            </a:pPr>
            <a:r>
              <a:rPr lang="en-US" sz="880" dirty="0">
                <a:solidFill>
                  <a:srgbClr val="111827"/>
                </a:solidFill>
              </a:rPr>
              <a:t>Deterministic branded video generation</a:t>
            </a:r>
            <a:endParaRPr lang="en-US" sz="880" dirty="0"/>
          </a:p>
        </p:txBody>
      </p:sp>
      <p:sp>
        <p:nvSpPr>
          <p:cNvPr id="42" name="Text 40"/>
          <p:cNvSpPr/>
          <p:nvPr/>
        </p:nvSpPr>
        <p:spPr>
          <a:xfrm>
            <a:off x="11448288" y="6492240"/>
            <a:ext cx="347472" cy="164592"/>
          </a:xfrm>
          <a:prstGeom prst="rect">
            <a:avLst/>
          </a:prstGeom>
          <a:noFill/>
          <a:ln/>
        </p:spPr>
        <p:txBody>
          <a:bodyPr wrap="square" lIns="0" tIns="0" rIns="0" bIns="0" rtlCol="0" anchor="ctr"/>
          <a:lstStyle/>
          <a:p>
            <a:pPr algn="r" indent="0" marL="0">
              <a:buNone/>
            </a:pPr>
            <a:r>
              <a:rPr lang="en-US" sz="800" dirty="0">
                <a:solidFill>
                  <a:srgbClr val="495466"/>
                </a:solidFill>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563EB"/>
          </a:solidFill>
          <a:ln w="12700">
            <a:solidFill>
              <a:srgbClr val="2563EB"/>
            </a:solidFill>
            <a:prstDash val="solid"/>
          </a:ln>
        </p:spPr>
      </p:sp>
      <p:sp>
        <p:nvSpPr>
          <p:cNvPr id="3" name="Text 1"/>
          <p:cNvSpPr/>
          <p:nvPr/>
        </p:nvSpPr>
        <p:spPr>
          <a:xfrm>
            <a:off x="502920" y="292608"/>
            <a:ext cx="3474720" cy="201168"/>
          </a:xfrm>
          <a:prstGeom prst="rect">
            <a:avLst/>
          </a:prstGeom>
          <a:noFill/>
          <a:ln/>
        </p:spPr>
        <p:txBody>
          <a:bodyPr wrap="square" lIns="0" tIns="0" rIns="0" bIns="0" rtlCol="0" anchor="ctr"/>
          <a:lstStyle/>
          <a:p>
            <a:pPr indent="0" marL="0">
              <a:buNone/>
            </a:pPr>
            <a:r>
              <a:rPr lang="en-US" sz="850" b="1" dirty="0">
                <a:solidFill>
                  <a:srgbClr val="2563EB"/>
                </a:solidFill>
              </a:rPr>
              <a:t>IMPLEMENTATION PATH</a:t>
            </a:r>
            <a:endParaRPr lang="en-US" sz="850" dirty="0"/>
          </a:p>
        </p:txBody>
      </p:sp>
      <p:sp>
        <p:nvSpPr>
          <p:cNvPr id="4" name="Text 2"/>
          <p:cNvSpPr/>
          <p:nvPr/>
        </p:nvSpPr>
        <p:spPr>
          <a:xfrm>
            <a:off x="502920" y="548640"/>
            <a:ext cx="7772400" cy="384048"/>
          </a:xfrm>
          <a:prstGeom prst="rect">
            <a:avLst/>
          </a:prstGeom>
          <a:noFill/>
          <a:ln/>
        </p:spPr>
        <p:txBody>
          <a:bodyPr wrap="square" lIns="0" tIns="0" rIns="0" bIns="0" rtlCol="0" anchor="ctr"/>
          <a:lstStyle/>
          <a:p>
            <a:pPr indent="0" marL="0">
              <a:buNone/>
            </a:pPr>
            <a:r>
              <a:rPr lang="en-US" sz="2400" b="1" dirty="0">
                <a:solidFill>
                  <a:srgbClr val="0B1F3A"/>
                </a:solidFill>
              </a:rPr>
              <a:t>MVP to target-state roadmap</a:t>
            </a:r>
            <a:endParaRPr lang="en-US" sz="2400" dirty="0"/>
          </a:p>
        </p:txBody>
      </p:sp>
      <p:sp>
        <p:nvSpPr>
          <p:cNvPr id="5" name="Text 3"/>
          <p:cNvSpPr/>
          <p:nvPr/>
        </p:nvSpPr>
        <p:spPr>
          <a:xfrm>
            <a:off x="8503920" y="594360"/>
            <a:ext cx="3108960" cy="228600"/>
          </a:xfrm>
          <a:prstGeom prst="rect">
            <a:avLst/>
          </a:prstGeom>
          <a:noFill/>
          <a:ln/>
        </p:spPr>
        <p:txBody>
          <a:bodyPr wrap="square" lIns="0" tIns="0" rIns="0" bIns="0" rtlCol="0" anchor="ctr"/>
          <a:lstStyle/>
          <a:p>
            <a:pPr algn="r" indent="0" marL="0">
              <a:buNone/>
            </a:pPr>
            <a:r>
              <a:rPr lang="en-US" sz="900" dirty="0">
                <a:solidFill>
                  <a:srgbClr val="495466"/>
                </a:solidFill>
              </a:rPr>
              <a:t>Document-to-Approved-Video Platform</a:t>
            </a:r>
            <a:endParaRPr lang="en-US" sz="900" dirty="0"/>
          </a:p>
        </p:txBody>
      </p:sp>
      <p:sp>
        <p:nvSpPr>
          <p:cNvPr id="6" name="Shape 4"/>
          <p:cNvSpPr/>
          <p:nvPr/>
        </p:nvSpPr>
        <p:spPr>
          <a:xfrm>
            <a:off x="685800" y="1554480"/>
            <a:ext cx="1874520" cy="502920"/>
          </a:xfrm>
          <a:prstGeom prst="roundRect">
            <a:avLst>
              <a:gd name="adj" fmla="val 10909"/>
            </a:avLst>
          </a:prstGeom>
          <a:solidFill>
            <a:srgbClr val="F3F5F8"/>
          </a:solidFill>
          <a:ln w="12700">
            <a:solidFill>
              <a:srgbClr val="B7C2D0"/>
            </a:solidFill>
            <a:prstDash val="solid"/>
          </a:ln>
        </p:spPr>
      </p:sp>
      <p:sp>
        <p:nvSpPr>
          <p:cNvPr id="7" name="Text 5"/>
          <p:cNvSpPr/>
          <p:nvPr/>
        </p:nvSpPr>
        <p:spPr>
          <a:xfrm>
            <a:off x="758952" y="1627632"/>
            <a:ext cx="1728216" cy="356616"/>
          </a:xfrm>
          <a:prstGeom prst="rect">
            <a:avLst/>
          </a:prstGeom>
          <a:noFill/>
          <a:ln/>
        </p:spPr>
        <p:txBody>
          <a:bodyPr wrap="square" lIns="0" tIns="0" rIns="0" bIns="0" rtlCol="0" anchor="ctr">
            <a:normAutofit/>
          </a:bodyPr>
          <a:lstStyle/>
          <a:p>
            <a:pPr algn="ctr" indent="0" marL="0">
              <a:buNone/>
            </a:pPr>
            <a:r>
              <a:rPr lang="en-US" sz="1050" b="1" dirty="0">
                <a:solidFill>
                  <a:srgbClr val="0B1F3A"/>
                </a:solidFill>
              </a:rPr>
              <a:t>1. Foundation</a:t>
            </a:r>
            <a:endParaRPr lang="en-US" sz="1050" dirty="0"/>
          </a:p>
        </p:txBody>
      </p:sp>
      <p:sp>
        <p:nvSpPr>
          <p:cNvPr id="8" name="Text 6"/>
          <p:cNvSpPr/>
          <p:nvPr/>
        </p:nvSpPr>
        <p:spPr>
          <a:xfrm>
            <a:off x="749808" y="2240280"/>
            <a:ext cx="1737360" cy="1234440"/>
          </a:xfrm>
          <a:prstGeom prst="rect">
            <a:avLst/>
          </a:prstGeom>
          <a:noFill/>
          <a:ln/>
        </p:spPr>
        <p:txBody>
          <a:bodyPr wrap="square" lIns="635" tIns="635" rIns="635" bIns="635" rtlCol="0" anchor="ctr">
            <a:normAutofit/>
          </a:bodyPr>
          <a:lstStyle/>
          <a:p>
            <a:pPr indent="0" marL="0">
              <a:buNone/>
            </a:pPr>
            <a:r>
              <a:rPr lang="en-US" sz="880" dirty="0">
                <a:solidFill>
                  <a:srgbClr val="495466"/>
                </a:solidFill>
              </a:rPr>
              <a:t>Login · project UI · upload · Blob · PostgreSQL · LangGraph skeleton · approval resume</a:t>
            </a:r>
            <a:endParaRPr lang="en-US" sz="880" dirty="0"/>
          </a:p>
        </p:txBody>
      </p:sp>
      <p:sp>
        <p:nvSpPr>
          <p:cNvPr id="9" name="Shape 7"/>
          <p:cNvSpPr/>
          <p:nvPr/>
        </p:nvSpPr>
        <p:spPr>
          <a:xfrm>
            <a:off x="2587752" y="1810512"/>
            <a:ext cx="246888" cy="0"/>
          </a:xfrm>
          <a:prstGeom prst="line">
            <a:avLst/>
          </a:prstGeom>
          <a:noFill/>
          <a:ln w="17780">
            <a:solidFill>
              <a:srgbClr val="2563EB"/>
            </a:solidFill>
            <a:prstDash val="solid"/>
            <a:headEnd type="none"/>
            <a:tailEnd type="triangle"/>
          </a:ln>
        </p:spPr>
      </p:sp>
      <p:sp>
        <p:nvSpPr>
          <p:cNvPr id="10" name="Shape 8"/>
          <p:cNvSpPr/>
          <p:nvPr/>
        </p:nvSpPr>
        <p:spPr>
          <a:xfrm>
            <a:off x="2926080" y="1554480"/>
            <a:ext cx="1874520" cy="502920"/>
          </a:xfrm>
          <a:prstGeom prst="roundRect">
            <a:avLst>
              <a:gd name="adj" fmla="val 10909"/>
            </a:avLst>
          </a:prstGeom>
          <a:solidFill>
            <a:srgbClr val="EAF2FF"/>
          </a:solidFill>
          <a:ln w="12700">
            <a:solidFill>
              <a:srgbClr val="B7C2D0"/>
            </a:solidFill>
            <a:prstDash val="solid"/>
          </a:ln>
        </p:spPr>
      </p:sp>
      <p:sp>
        <p:nvSpPr>
          <p:cNvPr id="11" name="Text 9"/>
          <p:cNvSpPr/>
          <p:nvPr/>
        </p:nvSpPr>
        <p:spPr>
          <a:xfrm>
            <a:off x="2999232" y="1627632"/>
            <a:ext cx="1728216" cy="356616"/>
          </a:xfrm>
          <a:prstGeom prst="rect">
            <a:avLst/>
          </a:prstGeom>
          <a:noFill/>
          <a:ln/>
        </p:spPr>
        <p:txBody>
          <a:bodyPr wrap="square" lIns="0" tIns="0" rIns="0" bIns="0" rtlCol="0" anchor="ctr">
            <a:normAutofit/>
          </a:bodyPr>
          <a:lstStyle/>
          <a:p>
            <a:pPr algn="ctr" indent="0" marL="0">
              <a:buNone/>
            </a:pPr>
            <a:r>
              <a:rPr lang="en-US" sz="1050" b="1" dirty="0">
                <a:solidFill>
                  <a:srgbClr val="0B1F3A"/>
                </a:solidFill>
              </a:rPr>
              <a:t>2. Intelligent content</a:t>
            </a:r>
            <a:endParaRPr lang="en-US" sz="1050" dirty="0"/>
          </a:p>
        </p:txBody>
      </p:sp>
      <p:sp>
        <p:nvSpPr>
          <p:cNvPr id="12" name="Text 10"/>
          <p:cNvSpPr/>
          <p:nvPr/>
        </p:nvSpPr>
        <p:spPr>
          <a:xfrm>
            <a:off x="2990088" y="2240280"/>
            <a:ext cx="1737360" cy="1234440"/>
          </a:xfrm>
          <a:prstGeom prst="rect">
            <a:avLst/>
          </a:prstGeom>
          <a:noFill/>
          <a:ln/>
        </p:spPr>
        <p:txBody>
          <a:bodyPr wrap="square" lIns="635" tIns="635" rIns="635" bIns="635" rtlCol="0" anchor="ctr">
            <a:normAutofit/>
          </a:bodyPr>
          <a:lstStyle/>
          <a:p>
            <a:pPr indent="0" marL="0">
              <a:buNone/>
            </a:pPr>
            <a:r>
              <a:rPr lang="en-US" sz="880" dirty="0">
                <a:solidFill>
                  <a:srgbClr val="495466"/>
                </a:solidFill>
              </a:rPr>
              <a:t>Content Understanding · canonical schema · script generation · grounding · transcript editor</a:t>
            </a:r>
            <a:endParaRPr lang="en-US" sz="880" dirty="0"/>
          </a:p>
        </p:txBody>
      </p:sp>
      <p:sp>
        <p:nvSpPr>
          <p:cNvPr id="13" name="Shape 11"/>
          <p:cNvSpPr/>
          <p:nvPr/>
        </p:nvSpPr>
        <p:spPr>
          <a:xfrm>
            <a:off x="4828032" y="1810512"/>
            <a:ext cx="246888" cy="0"/>
          </a:xfrm>
          <a:prstGeom prst="line">
            <a:avLst/>
          </a:prstGeom>
          <a:noFill/>
          <a:ln w="17780">
            <a:solidFill>
              <a:srgbClr val="2563EB"/>
            </a:solidFill>
            <a:prstDash val="solid"/>
            <a:headEnd type="none"/>
            <a:tailEnd type="triangle"/>
          </a:ln>
        </p:spPr>
      </p:sp>
      <p:sp>
        <p:nvSpPr>
          <p:cNvPr id="14" name="Shape 12"/>
          <p:cNvSpPr/>
          <p:nvPr/>
        </p:nvSpPr>
        <p:spPr>
          <a:xfrm>
            <a:off x="5166360" y="1554480"/>
            <a:ext cx="1874520" cy="502920"/>
          </a:xfrm>
          <a:prstGeom prst="roundRect">
            <a:avLst>
              <a:gd name="adj" fmla="val 10909"/>
            </a:avLst>
          </a:prstGeom>
          <a:solidFill>
            <a:srgbClr val="EFE7FF"/>
          </a:solidFill>
          <a:ln w="12700">
            <a:solidFill>
              <a:srgbClr val="B7C2D0"/>
            </a:solidFill>
            <a:prstDash val="solid"/>
          </a:ln>
        </p:spPr>
      </p:sp>
      <p:sp>
        <p:nvSpPr>
          <p:cNvPr id="15" name="Text 13"/>
          <p:cNvSpPr/>
          <p:nvPr/>
        </p:nvSpPr>
        <p:spPr>
          <a:xfrm>
            <a:off x="5239512" y="1627632"/>
            <a:ext cx="1728216" cy="356616"/>
          </a:xfrm>
          <a:prstGeom prst="rect">
            <a:avLst/>
          </a:prstGeom>
          <a:noFill/>
          <a:ln/>
        </p:spPr>
        <p:txBody>
          <a:bodyPr wrap="square" lIns="0" tIns="0" rIns="0" bIns="0" rtlCol="0" anchor="ctr">
            <a:normAutofit/>
          </a:bodyPr>
          <a:lstStyle/>
          <a:p>
            <a:pPr algn="ctr" indent="0" marL="0">
              <a:buNone/>
            </a:pPr>
            <a:r>
              <a:rPr lang="en-US" sz="1050" b="1" dirty="0">
                <a:solidFill>
                  <a:srgbClr val="0B1F3A"/>
                </a:solidFill>
              </a:rPr>
              <a:t>3. Storyboard + feedback</a:t>
            </a:r>
            <a:endParaRPr lang="en-US" sz="1050" dirty="0"/>
          </a:p>
        </p:txBody>
      </p:sp>
      <p:sp>
        <p:nvSpPr>
          <p:cNvPr id="16" name="Text 14"/>
          <p:cNvSpPr/>
          <p:nvPr/>
        </p:nvSpPr>
        <p:spPr>
          <a:xfrm>
            <a:off x="5230368" y="2240280"/>
            <a:ext cx="1737360" cy="1234440"/>
          </a:xfrm>
          <a:prstGeom prst="rect">
            <a:avLst/>
          </a:prstGeom>
          <a:noFill/>
          <a:ln/>
        </p:spPr>
        <p:txBody>
          <a:bodyPr wrap="square" lIns="635" tIns="635" rIns="635" bIns="635" rtlCol="0" anchor="ctr">
            <a:normAutofit/>
          </a:bodyPr>
          <a:lstStyle/>
          <a:p>
            <a:pPr indent="0" marL="0">
              <a:buNone/>
            </a:pPr>
            <a:r>
              <a:rPr lang="en-US" sz="880" dirty="0">
                <a:solidFill>
                  <a:srgbClr val="495466"/>
                </a:solidFill>
              </a:rPr>
              <a:t>Storyboard schema · animatic · feedback interpretation · dependency graph · selective regeneration</a:t>
            </a:r>
            <a:endParaRPr lang="en-US" sz="880" dirty="0"/>
          </a:p>
        </p:txBody>
      </p:sp>
      <p:sp>
        <p:nvSpPr>
          <p:cNvPr id="17" name="Shape 15"/>
          <p:cNvSpPr/>
          <p:nvPr/>
        </p:nvSpPr>
        <p:spPr>
          <a:xfrm>
            <a:off x="7068312" y="1810512"/>
            <a:ext cx="246888" cy="0"/>
          </a:xfrm>
          <a:prstGeom prst="line">
            <a:avLst/>
          </a:prstGeom>
          <a:noFill/>
          <a:ln w="17780">
            <a:solidFill>
              <a:srgbClr val="2563EB"/>
            </a:solidFill>
            <a:prstDash val="solid"/>
            <a:headEnd type="none"/>
            <a:tailEnd type="triangle"/>
          </a:ln>
        </p:spPr>
      </p:sp>
      <p:sp>
        <p:nvSpPr>
          <p:cNvPr id="18" name="Shape 16"/>
          <p:cNvSpPr/>
          <p:nvPr/>
        </p:nvSpPr>
        <p:spPr>
          <a:xfrm>
            <a:off x="7406640" y="1554480"/>
            <a:ext cx="1874520" cy="502920"/>
          </a:xfrm>
          <a:prstGeom prst="roundRect">
            <a:avLst>
              <a:gd name="adj" fmla="val 10909"/>
            </a:avLst>
          </a:prstGeom>
          <a:solidFill>
            <a:srgbClr val="DFF7FF"/>
          </a:solidFill>
          <a:ln w="12700">
            <a:solidFill>
              <a:srgbClr val="B7C2D0"/>
            </a:solidFill>
            <a:prstDash val="solid"/>
          </a:ln>
        </p:spPr>
      </p:sp>
      <p:sp>
        <p:nvSpPr>
          <p:cNvPr id="19" name="Text 17"/>
          <p:cNvSpPr/>
          <p:nvPr/>
        </p:nvSpPr>
        <p:spPr>
          <a:xfrm>
            <a:off x="7479792" y="1627632"/>
            <a:ext cx="1728216" cy="356616"/>
          </a:xfrm>
          <a:prstGeom prst="rect">
            <a:avLst/>
          </a:prstGeom>
          <a:noFill/>
          <a:ln/>
        </p:spPr>
        <p:txBody>
          <a:bodyPr wrap="square" lIns="0" tIns="0" rIns="0" bIns="0" rtlCol="0" anchor="ctr">
            <a:normAutofit/>
          </a:bodyPr>
          <a:lstStyle/>
          <a:p>
            <a:pPr algn="ctr" indent="0" marL="0">
              <a:buNone/>
            </a:pPr>
            <a:r>
              <a:rPr lang="en-US" sz="1050" b="1" dirty="0">
                <a:solidFill>
                  <a:srgbClr val="0B1F3A"/>
                </a:solidFill>
              </a:rPr>
              <a:t>4. Media pipeline</a:t>
            </a:r>
            <a:endParaRPr lang="en-US" sz="1050" dirty="0"/>
          </a:p>
        </p:txBody>
      </p:sp>
      <p:sp>
        <p:nvSpPr>
          <p:cNvPr id="20" name="Text 18"/>
          <p:cNvSpPr/>
          <p:nvPr/>
        </p:nvSpPr>
        <p:spPr>
          <a:xfrm>
            <a:off x="7470648" y="2240280"/>
            <a:ext cx="1737360" cy="1234440"/>
          </a:xfrm>
          <a:prstGeom prst="rect">
            <a:avLst/>
          </a:prstGeom>
          <a:noFill/>
          <a:ln/>
        </p:spPr>
        <p:txBody>
          <a:bodyPr wrap="square" lIns="635" tIns="635" rIns="635" bIns="635" rtlCol="0" anchor="ctr">
            <a:normAutofit/>
          </a:bodyPr>
          <a:lstStyle/>
          <a:p>
            <a:pPr indent="0" marL="0">
              <a:buNone/>
            </a:pPr>
            <a:r>
              <a:rPr lang="en-US" sz="880" dirty="0">
                <a:solidFill>
                  <a:srgbClr val="495466"/>
                </a:solidFill>
              </a:rPr>
              <a:t>Speech · subtitles · Remotion templates · FFmpeg · scene/final rendering</a:t>
            </a:r>
            <a:endParaRPr lang="en-US" sz="880" dirty="0"/>
          </a:p>
        </p:txBody>
      </p:sp>
      <p:sp>
        <p:nvSpPr>
          <p:cNvPr id="21" name="Shape 19"/>
          <p:cNvSpPr/>
          <p:nvPr/>
        </p:nvSpPr>
        <p:spPr>
          <a:xfrm>
            <a:off x="9308592" y="1810512"/>
            <a:ext cx="246888" cy="0"/>
          </a:xfrm>
          <a:prstGeom prst="line">
            <a:avLst/>
          </a:prstGeom>
          <a:noFill/>
          <a:ln w="17780">
            <a:solidFill>
              <a:srgbClr val="2563EB"/>
            </a:solidFill>
            <a:prstDash val="solid"/>
            <a:headEnd type="none"/>
            <a:tailEnd type="triangle"/>
          </a:ln>
        </p:spPr>
      </p:sp>
      <p:sp>
        <p:nvSpPr>
          <p:cNvPr id="22" name="Shape 20"/>
          <p:cNvSpPr/>
          <p:nvPr/>
        </p:nvSpPr>
        <p:spPr>
          <a:xfrm>
            <a:off x="9646920" y="1554480"/>
            <a:ext cx="1874520" cy="502920"/>
          </a:xfrm>
          <a:prstGeom prst="roundRect">
            <a:avLst>
              <a:gd name="adj" fmla="val 10909"/>
            </a:avLst>
          </a:prstGeom>
          <a:solidFill>
            <a:srgbClr val="DFF4EA"/>
          </a:solidFill>
          <a:ln w="12700">
            <a:solidFill>
              <a:srgbClr val="B7C2D0"/>
            </a:solidFill>
            <a:prstDash val="solid"/>
          </a:ln>
        </p:spPr>
      </p:sp>
      <p:sp>
        <p:nvSpPr>
          <p:cNvPr id="23" name="Text 21"/>
          <p:cNvSpPr/>
          <p:nvPr/>
        </p:nvSpPr>
        <p:spPr>
          <a:xfrm>
            <a:off x="9720072" y="1627632"/>
            <a:ext cx="1728216" cy="356616"/>
          </a:xfrm>
          <a:prstGeom prst="rect">
            <a:avLst/>
          </a:prstGeom>
          <a:noFill/>
          <a:ln/>
        </p:spPr>
        <p:txBody>
          <a:bodyPr wrap="square" lIns="0" tIns="0" rIns="0" bIns="0" rtlCol="0" anchor="ctr">
            <a:normAutofit/>
          </a:bodyPr>
          <a:lstStyle/>
          <a:p>
            <a:pPr algn="ctr" indent="0" marL="0">
              <a:buNone/>
            </a:pPr>
            <a:r>
              <a:rPr lang="en-US" sz="1050" b="1" dirty="0">
                <a:solidFill>
                  <a:srgbClr val="0B1F3A"/>
                </a:solidFill>
              </a:rPr>
              <a:t>5. Enterprise hardening</a:t>
            </a:r>
            <a:endParaRPr lang="en-US" sz="1050" dirty="0"/>
          </a:p>
        </p:txBody>
      </p:sp>
      <p:sp>
        <p:nvSpPr>
          <p:cNvPr id="24" name="Text 22"/>
          <p:cNvSpPr/>
          <p:nvPr/>
        </p:nvSpPr>
        <p:spPr>
          <a:xfrm>
            <a:off x="9710928" y="2240280"/>
            <a:ext cx="1737360" cy="1234440"/>
          </a:xfrm>
          <a:prstGeom prst="rect">
            <a:avLst/>
          </a:prstGeom>
          <a:noFill/>
          <a:ln/>
        </p:spPr>
        <p:txBody>
          <a:bodyPr wrap="square" lIns="635" tIns="635" rIns="635" bIns="635" rtlCol="0" anchor="ctr">
            <a:normAutofit/>
          </a:bodyPr>
          <a:lstStyle/>
          <a:p>
            <a:pPr indent="0" marL="0">
              <a:buNone/>
            </a:pPr>
            <a:r>
              <a:rPr lang="en-US" sz="880" dirty="0">
                <a:solidFill>
                  <a:srgbClr val="495466"/>
                </a:solidFill>
              </a:rPr>
              <a:t>Foundry tracing · evaluations · RBAC · private networking · CI/CD · audit logs</a:t>
            </a:r>
            <a:endParaRPr lang="en-US" sz="880" dirty="0"/>
          </a:p>
        </p:txBody>
      </p:sp>
      <p:sp>
        <p:nvSpPr>
          <p:cNvPr id="25" name="Text 23"/>
          <p:cNvSpPr/>
          <p:nvPr/>
        </p:nvSpPr>
        <p:spPr>
          <a:xfrm>
            <a:off x="960120" y="4892040"/>
            <a:ext cx="10241280" cy="320040"/>
          </a:xfrm>
          <a:prstGeom prst="rect">
            <a:avLst/>
          </a:prstGeom>
          <a:noFill/>
          <a:ln/>
        </p:spPr>
        <p:txBody>
          <a:bodyPr wrap="square" lIns="0" tIns="0" rIns="0" bIns="0" rtlCol="0" anchor="ctr"/>
          <a:lstStyle/>
          <a:p>
            <a:pPr algn="ctr" indent="0" marL="0">
              <a:buNone/>
            </a:pPr>
            <a:r>
              <a:rPr lang="en-US" sz="1400" b="1" dirty="0">
                <a:solidFill>
                  <a:srgbClr val="0B1F3A"/>
                </a:solidFill>
              </a:rPr>
              <a:t>MVP should prove: durable approvals, grounded script, scene-level versioning, deterministic rendering and targeted regeneration.</a:t>
            </a:r>
            <a:endParaRPr lang="en-US" sz="1400" dirty="0"/>
          </a:p>
        </p:txBody>
      </p:sp>
      <p:sp>
        <p:nvSpPr>
          <p:cNvPr id="26" name="Text 24"/>
          <p:cNvSpPr/>
          <p:nvPr/>
        </p:nvSpPr>
        <p:spPr>
          <a:xfrm>
            <a:off x="960120" y="5394960"/>
            <a:ext cx="10241280" cy="228600"/>
          </a:xfrm>
          <a:prstGeom prst="rect">
            <a:avLst/>
          </a:prstGeom>
          <a:noFill/>
          <a:ln/>
        </p:spPr>
        <p:txBody>
          <a:bodyPr wrap="square" lIns="0" tIns="0" rIns="0" bIns="0" rtlCol="0" anchor="ctr"/>
          <a:lstStyle/>
          <a:p>
            <a:pPr algn="ctr" indent="0" marL="0">
              <a:buNone/>
            </a:pPr>
            <a:r>
              <a:rPr lang="en-US" sz="1200" dirty="0">
                <a:solidFill>
                  <a:srgbClr val="495466"/>
                </a:solidFill>
              </a:rPr>
              <a:t>Do not start with full generative video, cross-cloud providers or a complex autonomous agent swarm.</a:t>
            </a:r>
            <a:endParaRPr lang="en-US" sz="1200" dirty="0"/>
          </a:p>
        </p:txBody>
      </p:sp>
      <p:sp>
        <p:nvSpPr>
          <p:cNvPr id="27" name="Text 25"/>
          <p:cNvSpPr/>
          <p:nvPr/>
        </p:nvSpPr>
        <p:spPr>
          <a:xfrm>
            <a:off x="11448288" y="6492240"/>
            <a:ext cx="347472" cy="164592"/>
          </a:xfrm>
          <a:prstGeom prst="rect">
            <a:avLst/>
          </a:prstGeom>
          <a:noFill/>
          <a:ln/>
        </p:spPr>
        <p:txBody>
          <a:bodyPr wrap="square" lIns="0" tIns="0" rIns="0" bIns="0" rtlCol="0" anchor="ctr"/>
          <a:lstStyle/>
          <a:p>
            <a:pPr algn="r" indent="0" marL="0">
              <a:buNone/>
            </a:pPr>
            <a:r>
              <a:rPr lang="en-US" sz="800" dirty="0">
                <a:solidFill>
                  <a:srgbClr val="495466"/>
                </a:solidFill>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563EB"/>
          </a:solidFill>
          <a:ln w="12700">
            <a:solidFill>
              <a:srgbClr val="2563EB"/>
            </a:solidFill>
            <a:prstDash val="solid"/>
          </a:ln>
        </p:spPr>
      </p:sp>
      <p:sp>
        <p:nvSpPr>
          <p:cNvPr id="3" name="Text 1"/>
          <p:cNvSpPr/>
          <p:nvPr/>
        </p:nvSpPr>
        <p:spPr>
          <a:xfrm>
            <a:off x="502920" y="292608"/>
            <a:ext cx="3474720" cy="201168"/>
          </a:xfrm>
          <a:prstGeom prst="rect">
            <a:avLst/>
          </a:prstGeom>
          <a:noFill/>
          <a:ln/>
        </p:spPr>
        <p:txBody>
          <a:bodyPr wrap="square" lIns="0" tIns="0" rIns="0" bIns="0" rtlCol="0" anchor="ctr"/>
          <a:lstStyle/>
          <a:p>
            <a:pPr indent="0" marL="0">
              <a:buNone/>
            </a:pPr>
            <a:r>
              <a:rPr lang="en-US" sz="850" b="1" dirty="0">
                <a:solidFill>
                  <a:srgbClr val="2563EB"/>
                </a:solidFill>
              </a:rPr>
              <a:t>ARCHITECTURE DIAGRAM INPUT</a:t>
            </a:r>
            <a:endParaRPr lang="en-US" sz="850" dirty="0"/>
          </a:p>
        </p:txBody>
      </p:sp>
      <p:sp>
        <p:nvSpPr>
          <p:cNvPr id="4" name="Text 2"/>
          <p:cNvSpPr/>
          <p:nvPr/>
        </p:nvSpPr>
        <p:spPr>
          <a:xfrm>
            <a:off x="502920" y="548640"/>
            <a:ext cx="7772400" cy="384048"/>
          </a:xfrm>
          <a:prstGeom prst="rect">
            <a:avLst/>
          </a:prstGeom>
          <a:noFill/>
          <a:ln/>
        </p:spPr>
        <p:txBody>
          <a:bodyPr wrap="square" lIns="0" tIns="0" rIns="0" bIns="0" rtlCol="0" anchor="ctr"/>
          <a:lstStyle/>
          <a:p>
            <a:pPr indent="0" marL="0">
              <a:buNone/>
            </a:pPr>
            <a:r>
              <a:rPr lang="en-US" sz="2400" b="1" dirty="0">
                <a:solidFill>
                  <a:srgbClr val="0B1F3A"/>
                </a:solidFill>
              </a:rPr>
              <a:t>Appendix: Eraser prompt</a:t>
            </a:r>
            <a:endParaRPr lang="en-US" sz="2400" dirty="0"/>
          </a:p>
        </p:txBody>
      </p:sp>
      <p:sp>
        <p:nvSpPr>
          <p:cNvPr id="5" name="Text 3"/>
          <p:cNvSpPr/>
          <p:nvPr/>
        </p:nvSpPr>
        <p:spPr>
          <a:xfrm>
            <a:off x="8503920" y="594360"/>
            <a:ext cx="3108960" cy="228600"/>
          </a:xfrm>
          <a:prstGeom prst="rect">
            <a:avLst/>
          </a:prstGeom>
          <a:noFill/>
          <a:ln/>
        </p:spPr>
        <p:txBody>
          <a:bodyPr wrap="square" lIns="0" tIns="0" rIns="0" bIns="0" rtlCol="0" anchor="ctr"/>
          <a:lstStyle/>
          <a:p>
            <a:pPr algn="r" indent="0" marL="0">
              <a:buNone/>
            </a:pPr>
            <a:r>
              <a:rPr lang="en-US" sz="900" dirty="0">
                <a:solidFill>
                  <a:srgbClr val="495466"/>
                </a:solidFill>
              </a:rPr>
              <a:t>Document-to-Approved-Video Platform</a:t>
            </a:r>
            <a:endParaRPr lang="en-US" sz="900" dirty="0"/>
          </a:p>
        </p:txBody>
      </p:sp>
      <p:sp>
        <p:nvSpPr>
          <p:cNvPr id="6" name="Text 4"/>
          <p:cNvSpPr/>
          <p:nvPr/>
        </p:nvSpPr>
        <p:spPr>
          <a:xfrm>
            <a:off x="685800" y="1115568"/>
            <a:ext cx="8961120" cy="228600"/>
          </a:xfrm>
          <a:prstGeom prst="rect">
            <a:avLst/>
          </a:prstGeom>
          <a:noFill/>
          <a:ln/>
        </p:spPr>
        <p:txBody>
          <a:bodyPr wrap="square" lIns="0" tIns="0" rIns="0" bIns="0" rtlCol="0" anchor="ctr"/>
          <a:lstStyle/>
          <a:p>
            <a:pPr indent="0" marL="0">
              <a:buNone/>
            </a:pPr>
            <a:r>
              <a:rPr lang="en-US" sz="1200" dirty="0">
                <a:solidFill>
                  <a:srgbClr val="495466"/>
                </a:solidFill>
              </a:rPr>
              <a:t>Paste this into Eraser to generate the high-level Azure architecture diagram.</a:t>
            </a:r>
            <a:endParaRPr lang="en-US" sz="1200" dirty="0"/>
          </a:p>
        </p:txBody>
      </p:sp>
      <p:sp>
        <p:nvSpPr>
          <p:cNvPr id="7" name="Shape 5"/>
          <p:cNvSpPr/>
          <p:nvPr/>
        </p:nvSpPr>
        <p:spPr>
          <a:xfrm>
            <a:off x="685800" y="1508760"/>
            <a:ext cx="10835640" cy="4526280"/>
          </a:xfrm>
          <a:prstGeom prst="roundRect">
            <a:avLst>
              <a:gd name="adj" fmla="val 1212"/>
            </a:avLst>
          </a:prstGeom>
          <a:solidFill>
            <a:srgbClr val="F8FAFC"/>
          </a:solidFill>
          <a:ln w="12700">
            <a:solidFill>
              <a:srgbClr val="CBD5E1"/>
            </a:solidFill>
            <a:prstDash val="solid"/>
          </a:ln>
        </p:spPr>
      </p:sp>
      <p:sp>
        <p:nvSpPr>
          <p:cNvPr id="8" name="Text 6"/>
          <p:cNvSpPr/>
          <p:nvPr/>
        </p:nvSpPr>
        <p:spPr>
          <a:xfrm>
            <a:off x="914400" y="1737360"/>
            <a:ext cx="10378440" cy="3886200"/>
          </a:xfrm>
          <a:prstGeom prst="rect">
            <a:avLst/>
          </a:prstGeom>
          <a:noFill/>
          <a:ln/>
        </p:spPr>
        <p:txBody>
          <a:bodyPr wrap="square" lIns="635" tIns="635" rIns="635" bIns="635" rtlCol="0" anchor="ctr">
            <a:normAutofit/>
          </a:bodyPr>
          <a:lstStyle/>
          <a:p>
            <a:pPr indent="0" marL="0">
              <a:buNone/>
            </a:pPr>
            <a:r>
              <a:rPr lang="en-US" sz="1000" dirty="0">
                <a:solidFill>
                  <a:srgbClr val="111827"/>
                </a:solidFill>
                <a:latin typeface="Aptos" pitchFamily="34" charset="0"/>
                <a:ea typeface="Aptos" pitchFamily="34" charset="-122"/>
                <a:cs typeface="Aptos" pitchFamily="34" charset="-120"/>
              </a:rPr>
              <a:t>Create a professional left-to-right Azure enterprise architecture diagram for a secure document-to-video generation platform.</a:t>
            </a:r>
            <a:endParaRPr lang="en-US" sz="1000" dirty="0"/>
          </a:p>
          <a:p>
            <a:pPr indent="0" marL="0">
              <a:buNone/>
            </a:pPr>
            <a:endParaRPr lang="en-US" sz="1000" dirty="0"/>
          </a:p>
          <a:p>
            <a:pPr indent="0" marL="0">
              <a:buNone/>
            </a:pPr>
            <a:r>
              <a:rPr lang="en-US" sz="1000" dirty="0">
                <a:solidFill>
                  <a:srgbClr val="111827"/>
                </a:solidFill>
                <a:latin typeface="Aptos" pitchFamily="34" charset="0"/>
                <a:ea typeface="Aptos" pitchFamily="34" charset="-122"/>
                <a:cs typeface="Aptos" pitchFamily="34" charset="-120"/>
              </a:rPr>
              <a:t>Layers: Users; Azure Front Door Premium + WAF; Next.js review and authoring portal with Microsoft Entra ID; FastAPI on Azure Container Apps; controlled LangGraph workflow; Media Job Control and Dependency Service; Microsoft Foundry models; Azure Content Understanding; Azure AI Search; Azure Translator; Azure AI Speech; Approved Brand Asset Library; Azure Service Bus; Azure Container Apps Jobs for speech, subtitles, Remotion rendering, FFmpeg composition and video quality validation; Azure Database for PostgreSQL; Azure Blob Storage or ADLS Gen2.</a:t>
            </a:r>
            <a:endParaRPr lang="en-US" sz="1000" dirty="0"/>
          </a:p>
          <a:p>
            <a:pPr indent="0" marL="0">
              <a:buNone/>
            </a:pPr>
            <a:endParaRPr lang="en-US" sz="1000" dirty="0"/>
          </a:p>
          <a:p>
            <a:pPr indent="0" marL="0">
              <a:buNone/>
            </a:pPr>
            <a:r>
              <a:rPr lang="en-US" sz="1000" dirty="0">
                <a:solidFill>
                  <a:srgbClr val="111827"/>
                </a:solidFill>
                <a:latin typeface="Aptos" pitchFamily="34" charset="0"/>
                <a:ea typeface="Aptos" pitchFamily="34" charset="-122"/>
                <a:cs typeface="Aptos" pitchFamily="34" charset="-120"/>
              </a:rPr>
              <a:t>Show supporting services on the right: Azure Key Vault, Application Insights, Foundry tracing and evaluations, Azure Container Registry, Private Endpoints and Managed Identities. Use solid arrows for the primary processing flow and dotted arrows for security, governance and observability. Use Azure icons where available. Keep the diagram clean and presentation-friendly.</a:t>
            </a:r>
            <a:endParaRPr lang="en-US" sz="1000" dirty="0"/>
          </a:p>
        </p:txBody>
      </p:sp>
      <p:sp>
        <p:nvSpPr>
          <p:cNvPr id="9" name="Text 7"/>
          <p:cNvSpPr/>
          <p:nvPr/>
        </p:nvSpPr>
        <p:spPr>
          <a:xfrm>
            <a:off x="11448288" y="6492240"/>
            <a:ext cx="347472" cy="164592"/>
          </a:xfrm>
          <a:prstGeom prst="rect">
            <a:avLst/>
          </a:prstGeom>
          <a:noFill/>
          <a:ln/>
        </p:spPr>
        <p:txBody>
          <a:bodyPr wrap="square" lIns="0" tIns="0" rIns="0" bIns="0" rtlCol="0" anchor="ctr"/>
          <a:lstStyle/>
          <a:p>
            <a:pPr algn="r" indent="0" marL="0">
              <a:buNone/>
            </a:pPr>
            <a:r>
              <a:rPr lang="en-US" sz="800" dirty="0">
                <a:solidFill>
                  <a:srgbClr val="495466"/>
                </a:solidFill>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2563EB"/>
          </a:solidFill>
          <a:ln w="12700">
            <a:solidFill>
              <a:srgbClr val="2563EB"/>
            </a:solidFill>
            <a:prstDash val="solid"/>
          </a:ln>
        </p:spPr>
      </p:sp>
      <p:sp>
        <p:nvSpPr>
          <p:cNvPr id="3" name="Text 1"/>
          <p:cNvSpPr/>
          <p:nvPr/>
        </p:nvSpPr>
        <p:spPr>
          <a:xfrm>
            <a:off x="502920" y="292608"/>
            <a:ext cx="3474720" cy="201168"/>
          </a:xfrm>
          <a:prstGeom prst="rect">
            <a:avLst/>
          </a:prstGeom>
          <a:noFill/>
          <a:ln/>
        </p:spPr>
        <p:txBody>
          <a:bodyPr wrap="square" lIns="0" tIns="0" rIns="0" bIns="0" rtlCol="0" anchor="ctr"/>
          <a:lstStyle/>
          <a:p>
            <a:pPr indent="0" marL="0">
              <a:buNone/>
            </a:pPr>
            <a:r>
              <a:rPr lang="en-US" sz="850" b="1" dirty="0">
                <a:solidFill>
                  <a:srgbClr val="2563EB"/>
                </a:solidFill>
              </a:rPr>
              <a:t>WORKFLOW AND APPROVAL FLOW INPUT</a:t>
            </a:r>
            <a:endParaRPr lang="en-US" sz="850" dirty="0"/>
          </a:p>
        </p:txBody>
      </p:sp>
      <p:sp>
        <p:nvSpPr>
          <p:cNvPr id="4" name="Text 2"/>
          <p:cNvSpPr/>
          <p:nvPr/>
        </p:nvSpPr>
        <p:spPr>
          <a:xfrm>
            <a:off x="502920" y="548640"/>
            <a:ext cx="7772400" cy="384048"/>
          </a:xfrm>
          <a:prstGeom prst="rect">
            <a:avLst/>
          </a:prstGeom>
          <a:noFill/>
          <a:ln/>
        </p:spPr>
        <p:txBody>
          <a:bodyPr wrap="square" lIns="0" tIns="0" rIns="0" bIns="0" rtlCol="0" anchor="ctr"/>
          <a:lstStyle/>
          <a:p>
            <a:pPr indent="0" marL="0">
              <a:buNone/>
            </a:pPr>
            <a:r>
              <a:rPr lang="en-US" sz="2400" b="1" dirty="0">
                <a:solidFill>
                  <a:srgbClr val="0B1F3A"/>
                </a:solidFill>
              </a:rPr>
              <a:t>Appendix: Lucidchart prompt</a:t>
            </a:r>
            <a:endParaRPr lang="en-US" sz="2400" dirty="0"/>
          </a:p>
        </p:txBody>
      </p:sp>
      <p:sp>
        <p:nvSpPr>
          <p:cNvPr id="5" name="Text 3"/>
          <p:cNvSpPr/>
          <p:nvPr/>
        </p:nvSpPr>
        <p:spPr>
          <a:xfrm>
            <a:off x="8503920" y="594360"/>
            <a:ext cx="3108960" cy="228600"/>
          </a:xfrm>
          <a:prstGeom prst="rect">
            <a:avLst/>
          </a:prstGeom>
          <a:noFill/>
          <a:ln/>
        </p:spPr>
        <p:txBody>
          <a:bodyPr wrap="square" lIns="0" tIns="0" rIns="0" bIns="0" rtlCol="0" anchor="ctr"/>
          <a:lstStyle/>
          <a:p>
            <a:pPr algn="r" indent="0" marL="0">
              <a:buNone/>
            </a:pPr>
            <a:r>
              <a:rPr lang="en-US" sz="900" dirty="0">
                <a:solidFill>
                  <a:srgbClr val="495466"/>
                </a:solidFill>
              </a:rPr>
              <a:t>Document-to-Approved-Video Platform</a:t>
            </a:r>
            <a:endParaRPr lang="en-US" sz="900" dirty="0"/>
          </a:p>
        </p:txBody>
      </p:sp>
      <p:sp>
        <p:nvSpPr>
          <p:cNvPr id="6" name="Text 4"/>
          <p:cNvSpPr/>
          <p:nvPr/>
        </p:nvSpPr>
        <p:spPr>
          <a:xfrm>
            <a:off x="685800" y="1115568"/>
            <a:ext cx="8961120" cy="228600"/>
          </a:xfrm>
          <a:prstGeom prst="rect">
            <a:avLst/>
          </a:prstGeom>
          <a:noFill/>
          <a:ln/>
        </p:spPr>
        <p:txBody>
          <a:bodyPr wrap="square" lIns="0" tIns="0" rIns="0" bIns="0" rtlCol="0" anchor="ctr"/>
          <a:lstStyle/>
          <a:p>
            <a:pPr indent="0" marL="0">
              <a:buNone/>
            </a:pPr>
            <a:r>
              <a:rPr lang="en-US" sz="1200" dirty="0">
                <a:solidFill>
                  <a:srgbClr val="495466"/>
                </a:solidFill>
              </a:rPr>
              <a:t>Paste this into Lucidchart AI to generate the workflow with swimlanes.</a:t>
            </a:r>
            <a:endParaRPr lang="en-US" sz="1200" dirty="0"/>
          </a:p>
        </p:txBody>
      </p:sp>
      <p:sp>
        <p:nvSpPr>
          <p:cNvPr id="7" name="Shape 5"/>
          <p:cNvSpPr/>
          <p:nvPr/>
        </p:nvSpPr>
        <p:spPr>
          <a:xfrm>
            <a:off x="685800" y="1508760"/>
            <a:ext cx="10835640" cy="4526280"/>
          </a:xfrm>
          <a:prstGeom prst="roundRect">
            <a:avLst>
              <a:gd name="adj" fmla="val 1212"/>
            </a:avLst>
          </a:prstGeom>
          <a:solidFill>
            <a:srgbClr val="F8FAFC"/>
          </a:solidFill>
          <a:ln w="12700">
            <a:solidFill>
              <a:srgbClr val="CBD5E1"/>
            </a:solidFill>
            <a:prstDash val="solid"/>
          </a:ln>
        </p:spPr>
      </p:sp>
      <p:sp>
        <p:nvSpPr>
          <p:cNvPr id="8" name="Text 6"/>
          <p:cNvSpPr/>
          <p:nvPr/>
        </p:nvSpPr>
        <p:spPr>
          <a:xfrm>
            <a:off x="914400" y="1737360"/>
            <a:ext cx="10378440" cy="3886200"/>
          </a:xfrm>
          <a:prstGeom prst="rect">
            <a:avLst/>
          </a:prstGeom>
          <a:noFill/>
          <a:ln/>
        </p:spPr>
        <p:txBody>
          <a:bodyPr wrap="square" lIns="635" tIns="635" rIns="635" bIns="635" rtlCol="0" anchor="ctr">
            <a:normAutofit/>
          </a:bodyPr>
          <a:lstStyle/>
          <a:p>
            <a:pPr indent="0" marL="0">
              <a:buNone/>
            </a:pPr>
            <a:r>
              <a:rPr lang="en-US" sz="1000" dirty="0">
                <a:solidFill>
                  <a:srgbClr val="111827"/>
                </a:solidFill>
                <a:latin typeface="Aptos" pitchFamily="34" charset="0"/>
                <a:ea typeface="Aptos" pitchFamily="34" charset="-122"/>
                <a:cs typeface="Aptos" pitchFamily="34" charset="-120"/>
              </a:rPr>
              <a:t>Create a swimlane process flow for a human-in-the-loop document-to-video production workflow.</a:t>
            </a:r>
            <a:endParaRPr lang="en-US" sz="1000" dirty="0"/>
          </a:p>
          <a:p>
            <a:pPr indent="0" marL="0">
              <a:buNone/>
            </a:pPr>
            <a:endParaRPr lang="en-US" sz="1000" dirty="0"/>
          </a:p>
          <a:p>
            <a:pPr indent="0" marL="0">
              <a:buNone/>
            </a:pPr>
            <a:r>
              <a:rPr lang="en-US" sz="1000" dirty="0">
                <a:solidFill>
                  <a:srgbClr val="111827"/>
                </a:solidFill>
                <a:latin typeface="Aptos" pitchFamily="34" charset="0"/>
                <a:ea typeface="Aptos" pitchFamily="34" charset="-122"/>
                <a:cs typeface="Aptos" pitchFamily="34" charset="-120"/>
              </a:rPr>
              <a:t>Swimlanes: User/Reviewer, Application and LangGraph, AI Services, Media Workers.</a:t>
            </a:r>
            <a:endParaRPr lang="en-US" sz="1000" dirty="0"/>
          </a:p>
          <a:p>
            <a:pPr indent="0" marL="0">
              <a:buNone/>
            </a:pPr>
            <a:endParaRPr lang="en-US" sz="1000" dirty="0"/>
          </a:p>
          <a:p>
            <a:pPr indent="0" marL="0">
              <a:buNone/>
            </a:pPr>
            <a:r>
              <a:rPr lang="en-US" sz="1000" dirty="0">
                <a:solidFill>
                  <a:srgbClr val="111827"/>
                </a:solidFill>
                <a:latin typeface="Aptos" pitchFamily="34" charset="0"/>
                <a:ea typeface="Aptos" pitchFamily="34" charset="-122"/>
                <a:cs typeface="Aptos" pitchFamily="34" charset="-120"/>
              </a:rPr>
              <a:t>Flow: Project Creation → Upload and Validate Documents → Document Understanding → Create Video Brief → Generate Grounded Transcript → Automated Transcript Evaluation → Transcript Human Review. If rejected, route to Feedback Interpretation and Update Affected Sections, then return to review. If approved, Generate Storyboard → Map Transcript to Scenes → Generate Animatic → Storyboard Human Review. If rejected, route to Feedback Interpretation and Update Affected Scenes, then return to review. If approved, Lock Master Content → Translate and Localize → Voice Sample Approval → Generate Assets, Audio and Subtitles → Render Scenes in Parallel → Compose Final Video → Automated Quality Validation → Final Human Review. If changes are requested, route to Selective Regeneration. If approved, Publish / Download.</a:t>
            </a:r>
            <a:endParaRPr lang="en-US" sz="1000" dirty="0"/>
          </a:p>
          <a:p>
            <a:pPr indent="0" marL="0">
              <a:buNone/>
            </a:pPr>
            <a:endParaRPr lang="en-US" sz="1000" dirty="0"/>
          </a:p>
          <a:p>
            <a:pPr indent="0" marL="0">
              <a:buNone/>
            </a:pPr>
            <a:r>
              <a:rPr lang="en-US" sz="1000" dirty="0">
                <a:solidFill>
                  <a:srgbClr val="111827"/>
                </a:solidFill>
                <a:latin typeface="Aptos" pitchFamily="34" charset="0"/>
                <a:ea typeface="Aptos" pitchFamily="34" charset="-122"/>
                <a:cs typeface="Aptos" pitchFamily="34" charset="-120"/>
              </a:rPr>
              <a:t>Use rounded rectangles for AI-assisted steps, normal rectangles for deterministic application steps, diamonds for approval decisions, document shapes for generated artifacts, and color-coded branches for approved/rejected paths. Keep it clean enough for a stakeholder presentation.</a:t>
            </a:r>
            <a:endParaRPr lang="en-US" sz="1000" dirty="0"/>
          </a:p>
        </p:txBody>
      </p:sp>
      <p:sp>
        <p:nvSpPr>
          <p:cNvPr id="9" name="Text 7"/>
          <p:cNvSpPr/>
          <p:nvPr/>
        </p:nvSpPr>
        <p:spPr>
          <a:xfrm>
            <a:off x="11448288" y="6492240"/>
            <a:ext cx="347472" cy="164592"/>
          </a:xfrm>
          <a:prstGeom prst="rect">
            <a:avLst/>
          </a:prstGeom>
          <a:noFill/>
          <a:ln/>
        </p:spPr>
        <p:txBody>
          <a:bodyPr wrap="square" lIns="0" tIns="0" rIns="0" bIns="0" rtlCol="0" anchor="ctr"/>
          <a:lstStyle/>
          <a:p>
            <a:pPr algn="r" indent="0" marL="0">
              <a:buNone/>
            </a:pPr>
            <a:r>
              <a:rPr lang="en-US" sz="800" dirty="0">
                <a:solidFill>
                  <a:srgbClr val="495466"/>
                </a:solidFill>
              </a:rPr>
              <a:t>14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AI-Assisted Document-to-Video Platform</dc:title>
  <dc:subject>AI-assisted document-to-video architecture</dc:subject>
  <dc:creator>OpenAI</dc:creator>
  <cp:lastModifiedBy>OpenAI</cp:lastModifiedBy>
  <cp:revision>1</cp:revision>
  <dcterms:created xsi:type="dcterms:W3CDTF">2026-06-14T11:15:51Z</dcterms:created>
  <dcterms:modified xsi:type="dcterms:W3CDTF">2026-06-14T11:15:51Z</dcterms:modified>
</cp:coreProperties>
</file>